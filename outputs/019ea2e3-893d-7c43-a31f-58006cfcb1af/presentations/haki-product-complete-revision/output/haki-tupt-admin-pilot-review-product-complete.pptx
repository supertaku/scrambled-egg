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a650aed520410a" /><Relationship Type="http://schemas.openxmlformats.org/officeDocument/2006/relationships/extended-properties" Target="/docProps/app.xml" Id="Rcaa6982cf9e24e58" /><Relationship Type="http://schemas.openxmlformats.org/officeDocument/2006/relationships/officeDocument" Target="/ppt/presentation.xml" Id="Rb8ce748d0fb7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fb75f8cc1845d9"/>
  </p:sldMasterIdLst>
  <p:notesMasterIdLst>
    <p:notesMasterId xmlns:r="http://schemas.openxmlformats.org/officeDocument/2006/relationships" r:id="R195830acbaa2481a"/>
  </p:notesMasterIdLst>
  <p:sldIdLst>
    <p:sldId xmlns:r="http://schemas.openxmlformats.org/officeDocument/2006/relationships" id="256" r:id="R363598f334e4400d"/>
    <p:sldId xmlns:r="http://schemas.openxmlformats.org/officeDocument/2006/relationships" id="257" r:id="Rcfc2436b9106456a"/>
    <p:sldId xmlns:r="http://schemas.openxmlformats.org/officeDocument/2006/relationships" id="258" r:id="Rf54376c2c1434353"/>
    <p:sldId xmlns:r="http://schemas.openxmlformats.org/officeDocument/2006/relationships" id="259" r:id="R9ab6d6d6db374f01"/>
    <p:sldId xmlns:r="http://schemas.openxmlformats.org/officeDocument/2006/relationships" id="260" r:id="R65635e4e2fd24c0a"/>
    <p:sldId xmlns:r="http://schemas.openxmlformats.org/officeDocument/2006/relationships" id="261" r:id="Rdfb729102b544486"/>
    <p:sldId xmlns:r="http://schemas.openxmlformats.org/officeDocument/2006/relationships" id="262" r:id="R545e2082156b47a6"/>
    <p:sldId xmlns:r="http://schemas.openxmlformats.org/officeDocument/2006/relationships" id="263" r:id="Rc038d39bbad645a6"/>
    <p:sldId xmlns:r="http://schemas.openxmlformats.org/officeDocument/2006/relationships" id="264" r:id="Re9b52be346984927"/>
    <p:sldId xmlns:r="http://schemas.openxmlformats.org/officeDocument/2006/relationships" id="265" r:id="R4fd89f3b2ed64d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0b7e16ddf5452b" /><Relationship Type="http://schemas.openxmlformats.org/officeDocument/2006/relationships/slideMaster" Target="/ppt/slideMasters/slideMaster1.xml" Id="R01fb75f8cc1845d9" /><Relationship Type="http://schemas.openxmlformats.org/officeDocument/2006/relationships/notesMaster" Target="/ppt/notesMasters/notesMaster1.xml" Id="R195830acbaa2481a" /><Relationship Type="http://schemas.openxmlformats.org/officeDocument/2006/relationships/presProps" Target="/ppt/presProps.xml" Id="Rda82be79f0cf41d0" /><Relationship Type="http://schemas.openxmlformats.org/officeDocument/2006/relationships/viewProps" Target="/ppt/viewProps.xml" Id="R7a45595a29f9451c" /><Relationship Type="http://schemas.openxmlformats.org/officeDocument/2006/relationships/tableStyles" Target="/ppt/tableStyles.xml" Id="Rb947221ec42e4932" /><Relationship Type="http://schemas.openxmlformats.org/officeDocument/2006/relationships/slide" Target="/ppt/slides/slide1.xml" Id="R363598f334e4400d" /><Relationship Type="http://schemas.openxmlformats.org/officeDocument/2006/relationships/slide" Target="/ppt/slides/slide2.xml" Id="Rcfc2436b9106456a" /><Relationship Type="http://schemas.openxmlformats.org/officeDocument/2006/relationships/slide" Target="/ppt/slides/slide3.xml" Id="Rf54376c2c1434353" /><Relationship Type="http://schemas.openxmlformats.org/officeDocument/2006/relationships/slide" Target="/ppt/slides/slide4.xml" Id="R9ab6d6d6db374f01" /><Relationship Type="http://schemas.openxmlformats.org/officeDocument/2006/relationships/slide" Target="/ppt/slides/slide5.xml" Id="R65635e4e2fd24c0a" /><Relationship Type="http://schemas.openxmlformats.org/officeDocument/2006/relationships/slide" Target="/ppt/slides/slide6.xml" Id="Rdfb729102b544486" /><Relationship Type="http://schemas.openxmlformats.org/officeDocument/2006/relationships/slide" Target="/ppt/slides/slide7.xml" Id="R545e2082156b47a6" /><Relationship Type="http://schemas.openxmlformats.org/officeDocument/2006/relationships/slide" Target="/ppt/slides/slide8.xml" Id="Rc038d39bbad645a6" /><Relationship Type="http://schemas.openxmlformats.org/officeDocument/2006/relationships/slide" Target="/ppt/slides/slide9.xml" Id="Re9b52be346984927" /><Relationship Type="http://schemas.openxmlformats.org/officeDocument/2006/relationships/slide" Target="/ppt/slides/slide10.xml" Id="R4fd89f3b2ed64d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2ed615d794d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6798a620e744c9" /><Relationship Type="http://schemas.openxmlformats.org/officeDocument/2006/relationships/notesMaster" Target="/ppt/notesMasters/notesMaster1.xml" Id="R7b46a78e4e32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6e87cf6c24a61" /><Relationship Type="http://schemas.openxmlformats.org/officeDocument/2006/relationships/notesMaster" Target="/ppt/notesMasters/notesMaster1.xml" Id="R5c633fc1fb174c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dddc7dc0e04c0d" /><Relationship Type="http://schemas.openxmlformats.org/officeDocument/2006/relationships/notesMaster" Target="/ppt/notesMasters/notesMaster1.xml" Id="R1485b6d527ca4d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5aa5d24b414a8a" /><Relationship Type="http://schemas.openxmlformats.org/officeDocument/2006/relationships/notesMaster" Target="/ppt/notesMasters/notesMaster1.xml" Id="Rcda0c6b5041147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5eb40579d74fec" /><Relationship Type="http://schemas.openxmlformats.org/officeDocument/2006/relationships/notesMaster" Target="/ppt/notesMasters/notesMaster1.xml" Id="R09daac47e5104c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8a9ecc9db3461a" /><Relationship Type="http://schemas.openxmlformats.org/officeDocument/2006/relationships/notesMaster" Target="/ppt/notesMasters/notesMaster1.xml" Id="Rcd4668f252e842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a4b94a86654eb5" /><Relationship Type="http://schemas.openxmlformats.org/officeDocument/2006/relationships/notesMaster" Target="/ppt/notesMasters/notesMaster1.xml" Id="R9a3c471930df43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c2628424204e20" /><Relationship Type="http://schemas.openxmlformats.org/officeDocument/2006/relationships/notesMaster" Target="/ppt/notesMasters/notesMaster1.xml" Id="R5b60739dd4e54c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29be775ef24c01" /><Relationship Type="http://schemas.openxmlformats.org/officeDocument/2006/relationships/notesMaster" Target="/ppt/notesMasters/notesMaster1.xml" Id="R6c55d7a03b43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df53afda8b4795" /><Relationship Type="http://schemas.openxmlformats.org/officeDocument/2006/relationships/notesMaster" Target="/ppt/notesMasters/notesMaster1.xml" Id="R3f2f0079f0ed44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70d5304114d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84a3100694bec" /><Relationship Type="http://schemas.openxmlformats.org/officeDocument/2006/relationships/slideLayout" Target="/ppt/slideLayouts/slideLayout1.xml" Id="Rd4907326428e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07326428e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3989a16064773" /><Relationship Type="http://schemas.openxmlformats.org/officeDocument/2006/relationships/image" Target="/ppt/media/image.png" Id="R10eb56f1b1064634" /><Relationship Type="http://schemas.openxmlformats.org/officeDocument/2006/relationships/notesSlide" Target="/ppt/notesSlides/notesSlide1.xml" Id="R170c6702cd4d4f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4eee3b417461f" /><Relationship Type="http://schemas.openxmlformats.org/officeDocument/2006/relationships/image" Target="/ppt/media/image2.png" Id="R915563c62d4b439d" /><Relationship Type="http://schemas.openxmlformats.org/officeDocument/2006/relationships/image" Target="/ppt/media/image.svg" Id="R8be13a6184a84883" /><Relationship Type="http://schemas.openxmlformats.org/officeDocument/2006/relationships/image" Target="/ppt/media/image3.png" Id="R9910760bcc3e414e" /><Relationship Type="http://schemas.openxmlformats.org/officeDocument/2006/relationships/image" Target="/ppt/media/image2.svg" Id="Rc459f1627d314d4d" /><Relationship Type="http://schemas.openxmlformats.org/officeDocument/2006/relationships/image" Target="/ppt/media/image4.png" Id="Rbe21b21f72bb4226" /><Relationship Type="http://schemas.openxmlformats.org/officeDocument/2006/relationships/image" Target="/ppt/media/image3.svg" Id="Ref38a724ad9845ad" /><Relationship Type="http://schemas.openxmlformats.org/officeDocument/2006/relationships/notesSlide" Target="/ppt/notesSlides/notesSlide2.xml" Id="Rb61274958f8c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4d52d14ce4578" /><Relationship Type="http://schemas.openxmlformats.org/officeDocument/2006/relationships/image" Target="/ppt/media/image5.png" Id="R86edaa391ad2451a" /><Relationship Type="http://schemas.openxmlformats.org/officeDocument/2006/relationships/image" Target="/ppt/media/image4.svg" Id="Rdeaf07753df64b1b" /><Relationship Type="http://schemas.openxmlformats.org/officeDocument/2006/relationships/image" Target="/ppt/media/image6.png" Id="R4e77a69fa1de4573" /><Relationship Type="http://schemas.openxmlformats.org/officeDocument/2006/relationships/image" Target="/ppt/media/image5.svg" Id="R758e837bd82d40de" /><Relationship Type="http://schemas.openxmlformats.org/officeDocument/2006/relationships/image" Target="/ppt/media/image7.png" Id="R8450896b93924a0a" /><Relationship Type="http://schemas.openxmlformats.org/officeDocument/2006/relationships/image" Target="/ppt/media/image6.svg" Id="Rbf4ad5e62a374752" /><Relationship Type="http://schemas.openxmlformats.org/officeDocument/2006/relationships/image" Target="/ppt/media/image8.png" Id="R0c7bd4bd50e2484d" /><Relationship Type="http://schemas.openxmlformats.org/officeDocument/2006/relationships/image" Target="/ppt/media/image7.svg" Id="R7b073187b1614b34" /><Relationship Type="http://schemas.openxmlformats.org/officeDocument/2006/relationships/image" Target="/ppt/media/image9.png" Id="Ra0090a2296ae4ba7" /><Relationship Type="http://schemas.openxmlformats.org/officeDocument/2006/relationships/image" Target="/ppt/media/image8.svg" Id="Rdcf01c8078ee41f6" /><Relationship Type="http://schemas.openxmlformats.org/officeDocument/2006/relationships/image" Target="/ppt/media/image10.png" Id="R39c8de0fd4f448f9" /><Relationship Type="http://schemas.openxmlformats.org/officeDocument/2006/relationships/image" Target="/ppt/media/image9.svg" Id="Re5c9695973794a06" /><Relationship Type="http://schemas.openxmlformats.org/officeDocument/2006/relationships/notesSlide" Target="/ppt/notesSlides/notesSlide3.xml" Id="R3085a5a7544a42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2327163a4578" /><Relationship Type="http://schemas.openxmlformats.org/officeDocument/2006/relationships/image" Target="/ppt/media/image11.png" Id="R4d354e21dff14ac7" /><Relationship Type="http://schemas.openxmlformats.org/officeDocument/2006/relationships/image" Target="/ppt/media/image10.svg" Id="R040dc52eb23945fb" /><Relationship Type="http://schemas.openxmlformats.org/officeDocument/2006/relationships/image" Target="/ppt/media/image12.png" Id="R3210dbf9b0324dbf" /><Relationship Type="http://schemas.openxmlformats.org/officeDocument/2006/relationships/image" Target="/ppt/media/image11.svg" Id="R34fc98413d2f430a" /><Relationship Type="http://schemas.openxmlformats.org/officeDocument/2006/relationships/image" Target="/ppt/media/image13.png" Id="R0d49cb3442c0473a" /><Relationship Type="http://schemas.openxmlformats.org/officeDocument/2006/relationships/image" Target="/ppt/media/image12.svg" Id="R4ee4b82900c14f11" /><Relationship Type="http://schemas.openxmlformats.org/officeDocument/2006/relationships/image" Target="/ppt/media/image14.png" Id="R810181d5f0e5488d" /><Relationship Type="http://schemas.openxmlformats.org/officeDocument/2006/relationships/image" Target="/ppt/media/image13.svg" Id="R75eb2acb20604b6c" /><Relationship Type="http://schemas.openxmlformats.org/officeDocument/2006/relationships/image" Target="/ppt/media/image15.png" Id="R8bd8b7479d784764" /><Relationship Type="http://schemas.openxmlformats.org/officeDocument/2006/relationships/image" Target="/ppt/media/image14.svg" Id="R0fbb62f7b1124cdb" /><Relationship Type="http://schemas.openxmlformats.org/officeDocument/2006/relationships/notesSlide" Target="/ppt/notesSlides/notesSlide4.xml" Id="R9d7cdcb6baef48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3d5773bb6476d" /><Relationship Type="http://schemas.openxmlformats.org/officeDocument/2006/relationships/image" Target="/ppt/media/image16.png" Id="R09523e1158f04ee6" /><Relationship Type="http://schemas.openxmlformats.org/officeDocument/2006/relationships/image" Target="/ppt/media/image15.svg" Id="R5b7e8ca150624d0c" /><Relationship Type="http://schemas.openxmlformats.org/officeDocument/2006/relationships/image" Target="/ppt/media/image17.png" Id="R4f4665f2b51948fd" /><Relationship Type="http://schemas.openxmlformats.org/officeDocument/2006/relationships/image" Target="/ppt/media/image16.svg" Id="R7e33c2c68b1440d2" /><Relationship Type="http://schemas.openxmlformats.org/officeDocument/2006/relationships/image" Target="/ppt/media/image18.png" Id="Rf9dc8686047a4dcf" /><Relationship Type="http://schemas.openxmlformats.org/officeDocument/2006/relationships/image" Target="/ppt/media/image17.svg" Id="Rd3f318bbd611431d" /><Relationship Type="http://schemas.openxmlformats.org/officeDocument/2006/relationships/image" Target="/ppt/media/image19.png" Id="R2b41822a28b64991" /><Relationship Type="http://schemas.openxmlformats.org/officeDocument/2006/relationships/image" Target="/ppt/media/image18.svg" Id="R47b00ef19b874967" /><Relationship Type="http://schemas.openxmlformats.org/officeDocument/2006/relationships/image" Target="/ppt/media/image20.png" Id="R1603934233f94365" /><Relationship Type="http://schemas.openxmlformats.org/officeDocument/2006/relationships/image" Target="/ppt/media/image19.svg" Id="R68243aafff5d4473" /><Relationship Type="http://schemas.openxmlformats.org/officeDocument/2006/relationships/notesSlide" Target="/ppt/notesSlides/notesSlide5.xml" Id="Rb1d13b55a7be4b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446e2d84746a1" /><Relationship Type="http://schemas.openxmlformats.org/officeDocument/2006/relationships/image" Target="/ppt/media/image21.png" Id="R280a99208414404a" /><Relationship Type="http://schemas.openxmlformats.org/officeDocument/2006/relationships/image" Target="/ppt/media/image20.svg" Id="Re1bb1377489a4eb6" /><Relationship Type="http://schemas.openxmlformats.org/officeDocument/2006/relationships/image" Target="/ppt/media/image22.png" Id="Re61efb0e4156455d" /><Relationship Type="http://schemas.openxmlformats.org/officeDocument/2006/relationships/notesSlide" Target="/ppt/notesSlides/notesSlide6.xml" Id="Ra92b2e2bdccb47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47f0db6694cc4" /><Relationship Type="http://schemas.openxmlformats.org/officeDocument/2006/relationships/image" Target="/ppt/media/image23.png" Id="Re2720e05d3144200" /><Relationship Type="http://schemas.openxmlformats.org/officeDocument/2006/relationships/image" Target="/ppt/media/image21.svg" Id="R6e4cf17775654c13" /><Relationship Type="http://schemas.openxmlformats.org/officeDocument/2006/relationships/image" Target="/ppt/media/image24.png" Id="Rbb132c1bddde477c" /><Relationship Type="http://schemas.openxmlformats.org/officeDocument/2006/relationships/image" Target="/ppt/media/image22.svg" Id="Re19b85e18a91428e" /><Relationship Type="http://schemas.openxmlformats.org/officeDocument/2006/relationships/image" Target="/ppt/media/image25.png" Id="R848b935771e14dfc" /><Relationship Type="http://schemas.openxmlformats.org/officeDocument/2006/relationships/image" Target="/ppt/media/image23.svg" Id="R0b9c95e9182c4bd4" /><Relationship Type="http://schemas.openxmlformats.org/officeDocument/2006/relationships/image" Target="/ppt/media/image26.png" Id="R961d979fd3f24880" /><Relationship Type="http://schemas.openxmlformats.org/officeDocument/2006/relationships/image" Target="/ppt/media/image24.svg" Id="Rbdbc0eb0ffbc4a7c" /><Relationship Type="http://schemas.openxmlformats.org/officeDocument/2006/relationships/image" Target="/ppt/media/image27.png" Id="R0efc49b8daaa4ea6" /><Relationship Type="http://schemas.openxmlformats.org/officeDocument/2006/relationships/image" Target="/ppt/media/image25.svg" Id="Rf35b61207c064f51" /><Relationship Type="http://schemas.openxmlformats.org/officeDocument/2006/relationships/image" Target="/ppt/media/image28.png" Id="R493d45bf5bfa42bd" /><Relationship Type="http://schemas.openxmlformats.org/officeDocument/2006/relationships/image" Target="/ppt/media/image26.svg" Id="R27df703d83644d67" /><Relationship Type="http://schemas.openxmlformats.org/officeDocument/2006/relationships/notesSlide" Target="/ppt/notesSlides/notesSlide7.xml" Id="Ra41d75ac8c2d4e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c3e9287334cc8" /><Relationship Type="http://schemas.openxmlformats.org/officeDocument/2006/relationships/notesSlide" Target="/ppt/notesSlides/notesSlide8.xml" Id="Rd72dd26eac304b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7344d6bcd44d3" /><Relationship Type="http://schemas.openxmlformats.org/officeDocument/2006/relationships/image" Target="/ppt/media/image29.png" Id="R3ae4d5b837384ccb" /><Relationship Type="http://schemas.openxmlformats.org/officeDocument/2006/relationships/image" Target="/ppt/media/image27.svg" Id="R24bcf33034c44efa" /><Relationship Type="http://schemas.openxmlformats.org/officeDocument/2006/relationships/image" Target="/ppt/media/image30.png" Id="R46725745f35a4fcd" /><Relationship Type="http://schemas.openxmlformats.org/officeDocument/2006/relationships/image" Target="/ppt/media/image28.svg" Id="R7fafaf92b4c5401d" /><Relationship Type="http://schemas.openxmlformats.org/officeDocument/2006/relationships/image" Target="/ppt/media/image31.png" Id="R3e18c5bf24e340d2" /><Relationship Type="http://schemas.openxmlformats.org/officeDocument/2006/relationships/image" Target="/ppt/media/image29.svg" Id="R0a977fb4e5c949ca" /><Relationship Type="http://schemas.openxmlformats.org/officeDocument/2006/relationships/image" Target="/ppt/media/image32.png" Id="Rea0d9dcf4bf84d5d" /><Relationship Type="http://schemas.openxmlformats.org/officeDocument/2006/relationships/image" Target="/ppt/media/image30.svg" Id="R6fc4ed52a25d4e20" /><Relationship Type="http://schemas.openxmlformats.org/officeDocument/2006/relationships/image" Target="/ppt/media/image33.png" Id="Rceb6a954f5da4a6a" /><Relationship Type="http://schemas.openxmlformats.org/officeDocument/2006/relationships/image" Target="/ppt/media/image31.svg" Id="R6a6a0cfd05994d06" /><Relationship Type="http://schemas.openxmlformats.org/officeDocument/2006/relationships/notesSlide" Target="/ppt/notesSlides/notesSlide9.xml" Id="R0557fcae23f940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abc981e934998" /><Relationship Type="http://schemas.openxmlformats.org/officeDocument/2006/relationships/notesSlide" Target="/ppt/notesSlides/notesSlide10.xml" Id="R9b4a5c0d9ad542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6486F-026C-41AA-B3A1-D3702D86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34FB2-1302-48D3-B916-699B8389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849D7-A7E9-4C0B-930C-55C6ABC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D5985-2A4F-4490-A7D1-689CBAE0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2B454-2E2B-428D-89A1-B56D14B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07254-A070-4AE5-83AA-792AF28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2800350" cy="2800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E1D6C-451B-40FD-9F27-356FAB60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24375"/>
            <a:ext cx="25908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b56f1b1064634"/>
          <a:stretch xmlns:a="http://schemas.openxmlformats.org/drawingml/2006/main"/>
        </p:blipFill>
        <p:spPr>
          <a:xfrm xmlns:a="http://schemas.openxmlformats.org/drawingml/2006/main">
            <a:off x="7423150" y="704850"/>
            <a:ext cx="3365500" cy="5048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4D305-8057-4596-B1FD-D1285EFA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9CD4C-266E-4ECB-A16E-0FFF2B4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PROPOSAL FOR PILOT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A0AAD-1E8A-436B-822D-C74DB441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rPr>
              <a:t>Haki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7E0C0-E629-43C0-A841-7ECF6F6B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Offline student information assistant for TUP Taguig.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D06A4-8FE9-4622-9128-1A3081D9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5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A source-referenced, admin-governed campus guide for supervised university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C950A-D092-44DC-8133-9DBC4AF0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7CA55-ACCB-4180-A59F-0946AFB6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Offline-first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D448D-70F8-4EC2-900B-4E2CFF8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243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0F4A6-5998-47CD-910C-F3768E4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624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Source-referenced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72C3C-37D8-4D8C-B5B6-EA4801B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24300"/>
            <a:ext cx="1562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23CE6-416F-45D7-9C1A-980E7553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Admin-governed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138D4-B43C-4CC9-8711-671D3D7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CF82D-EAC8-45C7-880B-52F27EDA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Prepared for TUPT administrative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79F77-115A-4E07-BEBC-4870C255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Joshua Retrita | BSIT 2025-2026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AFD6E-E71C-4495-B7C8-59D90A87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245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D6262"/>
                </a:solidFill>
                <a:latin typeface="Aptos"/>
                <a:ea typeface="Aptos"/>
                <a:cs typeface="Aptos"/>
              </a:rPr>
              <a:t>App-matched Haki mascot artwork</a:t>
            </a:r>
          </a:p>
        </p:txBody>
      </p:sp>
    </p:spTree>
    <p:extLst>
      <p:ext uri="{BB962C8B-B14F-4D97-AF65-F5344CB8AC3E}">
        <p14:creationId xmlns:p14="http://schemas.microsoft.com/office/powerpoint/2010/main" val="18150463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90C61-3FB4-4001-B639-D9A72918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7C633-B1B7-4267-B1D7-FDB50C8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C0092-3315-467B-815B-62CA3DFD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DB013-58D1-423E-A212-7D33FAB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2E830-C46D-42DD-8DC3-748E825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7E060-91E9-4DBC-AE1D-950D7728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31E4C-145F-44FC-BA72-B54A7F0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THE CAMPUS SERVICE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AD80-E8BF-468A-8476-9683E5F7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friction is access, not the absence of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EF7B4-B5A6-4502-A01B-4E8711C6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Students often need simple guidance, but the answer can be scattered across offices, files, posts, and informal advice.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2421B-10AC-44AC-A037-F2EE7332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124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71160-4576-441C-BBED-A5DF1881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563c62d4b439d">
            <a:extLst>
              <a:ext uri="{96DAC541-7B7A-43D3-8B79-37D633B846F1}">
                <asvg:svgBlip xmlns:asvg="http://schemas.microsoft.com/office/drawing/2016/SVG/main" r:embed="R8be13a6184a848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2819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D3FEF-051A-4E87-960C-445D0A5C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Scattered guidance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447BD-A55E-4CDF-92F2-13D0842C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Handbooks, office posts, room directions, and student advice are not experienced as one searchable service.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A7685-4D82-4153-9E34-8D025142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24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FA9A4-B277-4903-BD0A-6A707059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0760bcc3e414e">
            <a:extLst>
              <a:ext uri="{96DAC541-7B7A-43D3-8B79-37D633B846F1}">
                <asvg:svgBlip xmlns:asvg="http://schemas.microsoft.com/office/drawing/2016/SVG/main" r:embed="Rc459f1627d314d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4400" y="2819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E09EF-ABE3-466C-9593-466C22A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Repeated questions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8F06C-CECB-4C71-BAC1-7E4420A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242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Routine concerns still move through counters, classmates, group chats, and sometimes the wrong office.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9E0FA-58FD-40F9-89D3-21DB4DE4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124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0DDAB-028D-4C37-AB30-FAF4A00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47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1b21f72bb4226">
            <a:extLst>
              <a:ext uri="{96DAC541-7B7A-43D3-8B79-37D633B846F1}">
                <asvg:svgBlip xmlns:asvg="http://schemas.microsoft.com/office/drawing/2016/SVG/main" r:embed="Ref38a724ad9845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20100" y="28194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D2CAF-9B6E-4940-A199-63BD9D74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Office 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A02C1-2FE8-4747-93E2-239AA00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2420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Staff become the last-mile explanation layer for questions that could be prepared before the visit.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1ABFC-545C-4909-8B1B-CF17FE5A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948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82BC5-B757-448F-95D5-A0EAE190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887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Haki addresses this as a student service layer: source-backed answers, campus navigation, procedure tickets, peer tips, and governed updates in one offline-first app.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F6554-0CA4-4654-A5F3-5E104A8D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578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A"/>
          </a:solidFill>
          <a:ln xmlns:a="http://schemas.openxmlformats.org/drawingml/2006/main" w="9525">
            <a:solidFill>
              <a:srgbClr val="EA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02FEF-DF2B-4B18-9DFB-DE32D8F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2452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4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6474"/>
                </a:solidFill>
                <a:latin typeface="Aptos"/>
                <a:ea typeface="Aptos"/>
                <a:cs typeface="Aptos"/>
              </a:rPr>
              <a:t>Presenter note: Frame this as a service-access problem, not as a criticism of students or offices.</a:t>
            </a:r>
          </a:p>
        </p:txBody>
      </p:sp>
    </p:spTree>
    <p:extLst>
      <p:ext uri="{BB962C8B-B14F-4D97-AF65-F5344CB8AC3E}">
        <p14:creationId xmlns:p14="http://schemas.microsoft.com/office/powerpoint/2010/main" val="15761512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64BC7-E55B-4795-B2A6-2E8496FF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8E977-590D-4BE8-BF54-04CA4CAB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BE9FA-A8D4-48F6-B6FB-8120C4CE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8B2B5-6B0B-4F45-AD78-871DC9C0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41872-F14F-406F-9DE1-507B3A61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39D01-19E1-4C4F-864D-FC9FD7B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DF279-2A3F-4721-9A94-4299A5AC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PRODUCT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1867B-F834-4FA1-9043-C7641E94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Haki is a campus assistant, not only a chatbot.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8011F-5530-491F-A9C3-5626E5F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app combines verified campus answers with navigation, service routing, student tips, and admin-controlled content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051BB-4BC8-4980-9F2E-FD436E14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36FD5-682F-456C-A726-416BC651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daa391ad2451a">
            <a:extLst>
              <a:ext uri="{96DAC541-7B7A-43D3-8B79-37D633B846F1}">
                <asvg:svgBlip xmlns:asvg="http://schemas.microsoft.com/office/drawing/2016/SVG/main" r:embed="Rdeaf07753df64b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2838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45207-EDB9-4EF5-920D-8FA56439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003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05C3F-5B42-4DA9-AD63-80F9E039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Daily entry point, reminders, quick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60991-9982-4BF2-8DD3-E1E40246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22F87-650E-4B57-86DA-8A392CED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7a69fa1de4573">
            <a:extLst>
              <a:ext uri="{96DAC541-7B7A-43D3-8B79-37D633B846F1}">
                <asvg:svgBlip xmlns:asvg="http://schemas.microsoft.com/office/drawing/2016/SVG/main" r:embed="R758e837bd82d40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2838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195BA-16C2-4009-B8C4-027B5BE9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003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CCDD2-3652-4434-BE95-AE5A9A2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432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Source-backed campus questions and optional safe chat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F5134-8F0E-4182-84FD-2AA396F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F7E54-EA08-4B85-AC8F-2461BD2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0896b93924a0a">
            <a:extLst>
              <a:ext uri="{96DAC541-7B7A-43D3-8B79-37D633B846F1}">
                <asvg:svgBlip xmlns:asvg="http://schemas.microsoft.com/office/drawing/2016/SVG/main" r:embed="Rbf4ad5e62a3747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2838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78CAE-9E3F-4E71-95A9-500EF2CC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Service Desk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37185-5BB0-4E23-A28F-2138591D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Procedure tickets by topic, office, and 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BF679-959D-4FFF-A5D1-32B88CA3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290A83-C45D-4DB8-A7B1-25E73CF9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bd4bd50e2484d">
            <a:extLst>
              <a:ext uri="{96DAC541-7B7A-43D3-8B79-37D633B846F1}">
                <asvg:svgBlip xmlns:asvg="http://schemas.microsoft.com/office/drawing/2016/SVG/main" r:embed="R7b073187b1614b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42672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5E37F-AF84-4B9E-BB3F-1540BCF3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291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03719-E770-4A56-88B8-CFB3A41C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Playable campus map with building lookup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A146A-9370-478A-B071-872ACFEC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429C0-2843-43DE-80B1-4C5DC896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90a2296ae4ba7">
            <a:extLst>
              <a:ext uri="{96DAC541-7B7A-43D3-8B79-37D633B846F1}">
                <asvg:svgBlip xmlns:asvg="http://schemas.microsoft.com/office/drawing/2016/SVG/main" r:embed="Rdcf01c8078ee41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43450" y="42672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67CF1-278C-4D89-93C7-5C40F491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291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FBCEF0-27BB-4E7E-8158-BC1605D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720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 bulletin board with review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E322E5-D431-472B-BF21-AA516001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81050C-5F27-421A-98D7-F993641A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F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8de0fd4f448f9">
            <a:extLst>
              <a:ext uri="{96DAC541-7B7A-43D3-8B79-37D633B846F1}">
                <asvg:svgBlip xmlns:asvg="http://schemas.microsoft.com/office/drawing/2016/SVG/main" r:embed="Re5c9695973794a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42672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4DAF56-963E-45A6-86FD-8A208B65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29100"/>
            <a:ext cx="215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Org / Org Chart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5F8DEA-25C2-4E53-AE21-682E8EF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7200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Concern routing and official-data safeguards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882AF1-9365-4461-80DB-8C5340C2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Supporting screens: Documents import, AI Models, Settings, Profile, Food/Canteen, and topic detail pages.</a:t>
            </a:r>
          </a:p>
        </p:txBody>
      </p:sp>
    </p:spTree>
    <p:extLst>
      <p:ext uri="{BB962C8B-B14F-4D97-AF65-F5344CB8AC3E}">
        <p14:creationId xmlns:p14="http://schemas.microsoft.com/office/powerpoint/2010/main" val="10946708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B32F2-0F34-4E4B-9AE1-2482786E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B15B5-C750-4483-9828-5CC622EA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BCE2-79D6-46BF-A1DF-A1AC1752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090C4-E156-41D4-B390-95B41390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A22F6-C719-4E90-B1FF-90C04CC1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82211-FF0E-4C6D-B6CF-1DA51181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25015-BC09-49FC-A90A-9EBD33A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HOW HAKI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7AD86-50AB-4D19-A013-B8EB7105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Approved campus content becomes a local, searchable student guide.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9181A-6887-44AD-B24A-86F51F0B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main logic is not to let AI guess. Haki starts from saved sources, ranks relevant chunks, and exposes the guidance through app modules.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533E1-1D3F-4602-AAC4-EAB4B2B0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33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57A84-7C3D-42D1-97BD-583A7B17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19B34-5C3D-4A6B-9605-961FB7FA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54e21dff14ac7">
            <a:extLst>
              <a:ext uri="{96DAC541-7B7A-43D3-8B79-37D633B846F1}">
                <asvg:svgBlip xmlns:asvg="http://schemas.microsoft.com/office/drawing/2016/SVG/main" r:embed="R040dc52eb23945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95450" y="31432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AA55D-3365-442B-A7E4-4F4D8A0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Approved source 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C4381-896A-4473-A0FE-C75CC491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Campus documents, office guidance, allowed topics, exclusions, citations, and update dates selected for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0C52C-91BF-46DE-900D-58EE76C4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576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0dbf9b0324dbf">
            <a:extLst>
              <a:ext uri="{96DAC541-7B7A-43D3-8B79-37D633B846F1}">
                <asvg:svgBlip xmlns:asvg="http://schemas.microsoft.com/office/drawing/2016/SVG/main" r:embed="R34fc98413d2f43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29100" y="3552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A2EAF-4E77-4773-8B61-24428AF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33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C7E48-4AD1-4A6F-A4C8-BA5CB97D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DBF15-8180-40EE-A414-9CF1A98F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813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9cb3442c0473a">
            <a:extLst>
              <a:ext uri="{96DAC541-7B7A-43D3-8B79-37D633B846F1}">
                <asvg:svgBlip xmlns:asvg="http://schemas.microsoft.com/office/drawing/2016/SVG/main" r:embed="R4ee4b82900c14f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31432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3D07D-34F4-4D11-9597-9329C432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957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Local retrieval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45EE3-94BE-4417-92EB-462C1DD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7670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SQLite + FTS5 search is the required baseline. Optional embeddings or summarization can enhance it when safe.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589B1-8977-476D-858B-D44EE8C1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576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181d5f0e5488d">
            <a:extLst>
              <a:ext uri="{96DAC541-7B7A-43D3-8B79-37D633B846F1}">
                <asvg:svgBlip xmlns:asvg="http://schemas.microsoft.com/office/drawing/2016/SVG/main" r:embed="R75eb2acb20604b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24800" y="3552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1C668-CE70-4D6B-B75C-A5D1F831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933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E871D-72DB-457B-AC33-CA7CA940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9DCC4-5C67-4B0C-89FC-8C54E7AB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8b7479d784764">
            <a:extLst>
              <a:ext uri="{96DAC541-7B7A-43D3-8B79-37D633B846F1}">
                <asvg:svgBlip xmlns:asvg="http://schemas.microsoft.com/office/drawing/2016/SVG/main" r:embed="R0fbb62f7b1124c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86850" y="31432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173A4-DBDF-4393-AB20-147477A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Student product surfaces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A85A7E-28BE-48D5-8AA4-5012B6AE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Chat, Service Desk, Map, Tips, Org, Documents, and other screens use the same governed content approach.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7D1BDC-F722-489C-9D09-AF3C08C7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8648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E8"/>
          </a:solidFill>
          <a:ln xmlns:a="http://schemas.openxmlformats.org/drawingml/2006/main" w="9525">
            <a:solidFill>
              <a:srgbClr val="E9C9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15F50E-EFF7-4743-8951-D4493144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67325"/>
            <a:ext cx="811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University control point: content can be approved, corrected, excluded, or retired without changing Haki's core student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1329700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90985-DAEB-4220-93E7-BC47CFC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F8AF7-0159-4D53-9625-0F1C518A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10E5B-91EE-4829-A6C0-DF575DA8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B144-49DC-4A2E-8F30-A4D56815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9E37B-E602-4C0F-B7B2-A1B9AA3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C6C7C-2B32-43A8-A20E-78AB33F0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50857-42A9-4F50-8DEF-9B6610A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STUDENT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D7FB9-A1BC-4DF7-A236-548F54F4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Haki turns a question into a prepared campus 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3E1C6-FF83-4D83-9379-CFDF5785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modules work together so a student can ask, verify, locate, and prepare before approaching an office.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41E0E-BF67-4FF8-B019-5B9609A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733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42994-2E63-45E3-B1A4-30C462F6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733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23e1158f04ee6">
            <a:extLst>
              <a:ext uri="{96DAC541-7B7A-43D3-8B79-37D633B846F1}">
                <asvg:svgBlip xmlns:asvg="http://schemas.microsoft.com/office/drawing/2016/SVG/main" r:embed="R5b7e8ca150624d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1242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38870-637A-4A53-9432-F92ABD75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18574-70FF-4B42-B02A-54BA4752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5A907-C7FB-41C9-B83E-A0D5A6B4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 starts from Haki Assistant and common reminders.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2F81B-15DF-4C9B-89FB-50C86648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03D67-DA41-4C6E-A9C9-020B5C59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733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77C80-E9C4-4AA3-8DDE-75EDF1A3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733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665f2b51948fd">
            <a:extLst>
              <a:ext uri="{96DAC541-7B7A-43D3-8B79-37D633B846F1}">
                <asvg:svgBlip xmlns:asvg="http://schemas.microsoft.com/office/drawing/2016/SVG/main" r:embed="R7e33c2c68b1440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38500" y="31242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31840-15C9-4ECE-91B0-BD5D04B1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86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D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26800-7911-4EAD-80FB-34F58349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364A5-19AE-4006-A414-9FD8E7EA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They ask a campus question and see source-backed answers.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EFF80-3EB6-4E53-8A3F-DF644BD8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A7239-5EE0-4E16-B3C9-E84534B7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733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E5B152-9C35-48BF-9595-8589042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1733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c8686047a4dcf">
            <a:extLst>
              <a:ext uri="{96DAC541-7B7A-43D3-8B79-37D633B846F1}">
                <asvg:svgBlip xmlns:asvg="http://schemas.microsoft.com/office/drawing/2016/SVG/main" r:embed="Rd3f318bbd61143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29250" y="31242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600B1-7023-44C2-B072-4F24E9CC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C37C5C-DBCA-4D5D-8D40-D58FEB12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Service Desk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BDD34-C996-42E7-897D-B08872C0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They browse the task as a procedure ticket if they need steps.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78645-72F8-439C-8AD0-FE5BFC2E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B9FE5-58EA-4D3E-8D71-6DD70C90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1733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5060E4-DA68-443F-A4AD-18EA3D63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1733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1822a28b64991">
            <a:extLst>
              <a:ext uri="{96DAC541-7B7A-43D3-8B79-37D633B846F1}">
                <asvg:svgBlip xmlns:asvg="http://schemas.microsoft.com/office/drawing/2016/SVG/main" r:embed="R47b00ef19b8749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0" y="31242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E1C555-64CC-473F-B578-24DF5A7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86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A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45A1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FEA1C-D531-41D9-ADEA-75710D22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8937A2-F75D-4DB3-8324-4FECE21B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They locate a building or related campus destination.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DB78A1-FEC7-41B8-AE9A-F672F0FF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A05396-C41C-406D-A9E4-86764C61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38450"/>
            <a:ext cx="1733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27AF33-1CDD-400E-A45D-6780239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38450"/>
            <a:ext cx="1733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3934233f94365">
            <a:extLst>
              <a:ext uri="{96DAC541-7B7A-43D3-8B79-37D633B846F1}">
                <asvg:svgBlip xmlns:asvg="http://schemas.microsoft.com/office/drawing/2016/SVG/main" r:embed="R68243aafff5d44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31242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58BDE9-A37D-4FFB-B354-EDC5B12F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86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A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52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136A70-F771-4E02-9AEE-35D2D4E2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814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Tips / Org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2F7906-0EFB-4088-B9F6-82397F7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They check peer tips or routing context when useful.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CF571B-136B-4482-A7CA-C3755DCB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181600"/>
            <a:ext cx="842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A"/>
          </a:solidFill>
          <a:ln xmlns:a="http://schemas.openxmlformats.org/drawingml/2006/main" w="9525">
            <a:solidFill>
              <a:srgbClr val="EAD89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EA0FC2-96F3-42FA-8A97-23409E7A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14950"/>
            <a:ext cx="788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Result: fewer blind visits, clearer office routing, and better-prepared students before staff time is needed.</a:t>
            </a:r>
          </a:p>
        </p:txBody>
      </p:sp>
    </p:spTree>
    <p:extLst>
      <p:ext uri="{BB962C8B-B14F-4D97-AF65-F5344CB8AC3E}">
        <p14:creationId xmlns:p14="http://schemas.microsoft.com/office/powerpoint/2010/main" val="10577648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6051F-1D6E-48BC-97C8-B6F93827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14764-FE05-4445-9085-6C4DEBBB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DB898-4842-4FBC-B92C-C69D5FDA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68E0A-24B0-4138-A802-083A56B7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0A383-0C84-4D6B-93BE-100348EB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B6DD4-0A4F-40D1-991C-B942871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BB3BB-E201-4F6B-8313-FBA99E4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SERVICE DESK AND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8C3A3-97C9-40D4-9612-A99F9D3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Haki handles the two most practical student needs: what to do and where to 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58E11-3FD1-47F3-8DEA-374D5865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These modules make the app useful even before a student opens chat.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D886B-AA78-4DBD-A3F1-56452E2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7625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a99208414404a">
            <a:extLst>
              <a:ext uri="{96DAC541-7B7A-43D3-8B79-37D633B846F1}">
                <asvg:svgBlip xmlns:asvg="http://schemas.microsoft.com/office/drawing/2016/SVG/main" r:embed="Re1bb1377489a4e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2952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E2FA8-9C27-43E0-8A2C-858B42A0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14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Service Desk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95026-CDC3-47B3-BAF0-5C99CC8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575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Search a task, office, or document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8A9A5-13F4-4FA9-A550-9C9F506D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D0646-8A5A-4A0A-8798-8719B18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7214E-AEA7-47D6-AAB6-D0FD82B5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Student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4F3D7-E0E8-4C69-AC23-9918039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Procedure tickets with step counts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3AEF2-A35B-4EA2-BA43-31769D99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975F4-A66D-46B2-860B-5B1B677F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02213-0482-4574-9530-581E0D2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Campus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14291-F2DC-4EE9-9282-D1944838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Campus help topics and routing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CB77E-96D6-4991-A400-22308FF3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46F7D-7033-44E0-A85B-F5089146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06785-FC15-4986-B564-E7842FC3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148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Student Welfare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51574-A8B2-41ED-BAC5-295FA40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Clinic, guidance, and support concerns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3C5B2-E3A7-4889-9FED-40EF64A5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396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B6B0B-B5BA-40EB-9465-162422F8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F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B70FE-46F9-4488-9A89-0713E35B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149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Offices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DFFFF-E15A-48F5-8676-A4F36E7C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14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Pending items are visibly marked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5D999-98A1-4418-8AA3-F0FE77D3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4762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1B23"/>
          </a:solidFill>
          <a:ln xmlns:a="http://schemas.openxmlformats.org/drawingml/2006/main" w="28575">
            <a:solidFill>
              <a:srgbClr val="D6A528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efb0e4156455d"/>
          <a:srcRect xmlns:a="http://schemas.openxmlformats.org/drawingml/2006/main" l="0" t="36124" r="0" b="36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838450"/>
            <a:ext cx="4419600" cy="20383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A7D9F4-90BE-47BA-B323-7769C86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4419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DBA919-DC74-4404-8B06-78B073D1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0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Campus 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D454C5-F66E-422E-968F-02E9C70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768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E8D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7E8D0"/>
                </a:solidFill>
                <a:latin typeface="Aptos"/>
                <a:ea typeface="Aptos"/>
                <a:cs typeface="Aptos"/>
              </a:rPr>
              <a:t>Walk around campus, search destinations, tap buildings, and open local shortcuts such as canteen or service topics.</a:t>
            </a:r>
          </a:p>
        </p:txBody>
      </p:sp>
    </p:spTree>
    <p:extLst>
      <p:ext uri="{BB962C8B-B14F-4D97-AF65-F5344CB8AC3E}">
        <p14:creationId xmlns:p14="http://schemas.microsoft.com/office/powerpoint/2010/main" val="14222560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C582DC-6B69-42ED-9137-2737FF9C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DC016-69B9-4377-A991-171C7362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A14C1-D720-45FB-92C2-A8C1C06E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34004-FA30-47BB-B679-10260730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AC369-FEFB-475D-BFB2-32A3271F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25094-9DD5-42AD-8E50-395454A9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B839D-8724-4863-B2EB-FA1C889E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OTHER HAKI 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28149-BE5A-4259-A66D-22372399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supporting screens turn Haki into a wider student utility.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56242-9400-4493-BBC7-5EFEFDE6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These parts matter because they reduce repeat questions and create governed places for informal or changing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ABBA4-689A-46A1-930B-95E08B0A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F3992-C9F9-431C-9232-56E85CDA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20e05d3144200">
            <a:extLst>
              <a:ext uri="{96DAC541-7B7A-43D3-8B79-37D633B846F1}">
                <asvg:svgBlip xmlns:asvg="http://schemas.microsoft.com/office/drawing/2016/SVG/main" r:embed="R6e4cf17775654c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2743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DA895-9782-49DB-A81B-B7E9C859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87AB5-5B48-4E8C-8141-A9B2E4C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400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 bulletin board for peer advice, with a review/correction email path before tips are pinned.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34A42-0108-4DD7-A5BD-0CF3BB47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74C32-B65A-40AE-BE0F-A4BC62E0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F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32c1bddde477c">
            <a:extLst>
              <a:ext uri="{96DAC541-7B7A-43D3-8B79-37D633B846F1}">
                <asvg:svgBlip xmlns:asvg="http://schemas.microsoft.com/office/drawing/2016/SVG/main" r:embed="Re19b85e18a9142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4400" y="2743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2A583-93B7-40FF-BD40-53C11D36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Organization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B03A3-53B2-46B8-91D7-69B5F349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2400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Browse common offices and academic groups for concern routing, with reminders to verify official directions.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8BA0F-8F7C-4748-AC16-7B11A41D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3644F-BE90-44A5-A4A2-8AD5892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b935771e14dfc">
            <a:extLst>
              <a:ext uri="{96DAC541-7B7A-43D3-8B79-37D633B846F1}">
                <asvg:svgBlip xmlns:asvg="http://schemas.microsoft.com/office/drawing/2016/SVG/main" r:embed="R0b9c95e9182c4b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20100" y="27432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03CC3-9FB6-41A7-8012-8423DF1A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051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Org Chart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75E33-D207-4115-AB53-A82F1A1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48000"/>
            <a:ext cx="2400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Designed for official structure browsing; production mode avoids showing sample names as official data.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45D91-4127-465E-9A61-3744166A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CEA75-3741-4A81-9611-6F95128F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d979fd3f24880">
            <a:extLst>
              <a:ext uri="{96DAC541-7B7A-43D3-8B79-37D633B846F1}">
                <asvg:svgBlip xmlns:asvg="http://schemas.microsoft.com/office/drawing/2016/SVG/main" r:embed="Rbdbc0eb0ffbc4a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440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F838E-33EC-4B97-960E-0F749A3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Food / Canteen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6CFB0-4F77-4775-BCC0-494C829B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400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Searchable canteen/store path connected from the home quick actions and map shortcuts.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970D0D-829B-42AC-ACCB-286B629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61D7E0-0F97-4F4B-97B4-FB9B585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00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c49b8daaa4ea6">
            <a:extLst>
              <a:ext uri="{96DAC541-7B7A-43D3-8B79-37D633B846F1}">
                <asvg:svgBlip xmlns:asvg="http://schemas.microsoft.com/office/drawing/2016/SVG/main" r:embed="Rf35b61207c064f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4400" y="440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BE514-557F-4E25-95AF-2B8996E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0145C-10E9-49EB-B0CF-D65F7342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05350"/>
            <a:ext cx="2400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Admin import screen validates JSON, previews records, writes to SQLite, and updates source search.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420857-012C-40FF-A5C5-9856DB3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7F799A-4D03-4F56-BE0E-BBE6D4B1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d45bf5bfa42bd">
            <a:extLst>
              <a:ext uri="{96DAC541-7B7A-43D3-8B79-37D633B846F1}">
                <asvg:svgBlip xmlns:asvg="http://schemas.microsoft.com/office/drawing/2016/SVG/main" r:embed="R27df703d83644d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20100" y="440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A232EA-EA67-40CD-9AB0-D5223B26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624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AI Models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87E925-0158-4925-A986-D282BAEC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05350"/>
            <a:ext cx="2400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Optional local model downloads are device-aware; source search remains available without them.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20AB85-131F-484B-8368-F269BCC9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Main point for Admin: these modules are useful only when content ownership is clear, so the pilot should define what is approved, provisional, or excluded.</a:t>
            </a:r>
          </a:p>
        </p:txBody>
      </p:sp>
    </p:spTree>
    <p:extLst>
      <p:ext uri="{BB962C8B-B14F-4D97-AF65-F5344CB8AC3E}">
        <p14:creationId xmlns:p14="http://schemas.microsoft.com/office/powerpoint/2010/main" val="7158938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6FCEFB-71E1-4638-A31C-8E728E4D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89884-7B2F-48E7-A3D1-667EC96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CB3B3-A70A-4E99-A0D6-CF4763FC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C9B73-5CCA-4067-8A47-3A1702FB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9DCA9-F206-4B99-A754-655981B2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D67D3-40A0-49D3-909B-FAC6B2D4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4156C-FD4C-4D63-8C7F-0E210E8C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TRUST AND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E38C3-CF2B-47ED-A32C-A566E7E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Haki is designed to show uncertainty instead of pretending to know.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C3DDF-B09B-4361-9D54-083A1F2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product needs a university review because the strongest version depends on approved data, update rules, and clear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CE1D1-4674-427B-AC2C-FDE5B64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100584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0E76C-AEA3-4794-8400-AFC36AB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D5C0C-991F-44E3-AFB0-841CDEC2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34E3E-F6A9-4A6E-BFC6-D355CBB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Campus answers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AFB52-166A-494F-8C9D-D0B2A67E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Use saved source chunks, citations, confidence checks, and no reliable answer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22512-3D50-4491-8E04-82118855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6712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03471-D05A-4C21-B757-4DC6A7C3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C5AEC-DF8F-4E93-97D3-8F1CDFFF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Service Desk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FB7AC-496D-4F12-B1CB-044D48DE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28975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Shows procedure tickets; pending items are marked and not used as verified Haki answers.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EFA93-1B24-4C84-B175-87204730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2A2D6-0FA0-4BE4-B1E2-370C9116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5F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C3763-0AE2-4443-A336-378176EF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Org Chart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1208D-5F21-40E3-B5D6-0752803A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43325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Does not publish sample officer names as official campus information in production mode.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11D02-67A0-4573-8682-8D9B4E14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9582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0D7FF-ECC8-4423-8EEF-943C5B7A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20E6D-ECDC-444D-87FC-9B23BEEC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4EE9D-34AB-4FE9-9386-1F2D233C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57675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Separates peer advice from official policy and provides a review/correction submission path.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60717-8532-4802-B1AF-3F3D268F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8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9D509-2475-4B51-8B7C-7FCC3CFB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01B27E-85A2-4BFA-9D7C-6EDAD51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720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35E31-5092-4F30-A91A-E3ECEB8A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Admin import validates schema, avoids duplicate IDs, and updates the local search index.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455BB5-DE89-4635-AD0F-3A1305F5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57850"/>
            <a:ext cx="868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E8"/>
          </a:solidFill>
          <a:ln xmlns:a="http://schemas.openxmlformats.org/drawingml/2006/main" w="9525">
            <a:solidFill>
              <a:srgbClr val="E9C9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3795AF-5B1A-41EA-9D72-9A5517ED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53100"/>
            <a:ext cx="815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Administrative value: Haki can make information gaps visible, but the university decides what content becomes official.</a:t>
            </a:r>
          </a:p>
        </p:txBody>
      </p:sp>
    </p:spTree>
    <p:extLst>
      <p:ext uri="{BB962C8B-B14F-4D97-AF65-F5344CB8AC3E}">
        <p14:creationId xmlns:p14="http://schemas.microsoft.com/office/powerpoint/2010/main" val="20718579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F4CD1-E930-47AB-98B6-3E881825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154F3-AC09-47CF-90BA-C7250AC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4273E-E933-4C5E-91EB-835ABEEC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20B1C-D6AA-409D-A627-38A3999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CD04E-6225-46E2-82A6-013C7726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F994C-E40A-4BA4-936E-8EF0DE6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0DF1B-A2CA-4B77-A1EC-44612626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PRIVACY AND INFRASTRUCTURE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920E6-434D-40CC-A546-3F7F5700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baseline app works without a backend or cloud AI service.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B0381-C52E-49E9-A1B2-85C23DDB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is client-only: local documents are the source of truth, SQLite + FTS5 is the required fallback, and optional AI runs only when a compatible device supports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5D66E-AFF9-4590-8EB8-C17DE8A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85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4d5b837384ccb">
            <a:extLst>
              <a:ext uri="{96DAC541-7B7A-43D3-8B79-37D633B846F1}">
                <asvg:svgBlip xmlns:asvg="http://schemas.microsoft.com/office/drawing/2016/SVG/main" r:embed="R24bcf33034c44e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27051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5E018-01B9-4BEE-A03C-6E42565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9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Student device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EA8F4-2ADA-477F-8406-A7DB0EC7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394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App screens, profile/history controls, local settings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7FCFB-7951-4503-8D73-4163C2A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85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25745f35a4fcd">
            <a:extLst>
              <a:ext uri="{96DAC541-7B7A-43D3-8B79-37D633B846F1}">
                <asvg:svgBlip xmlns:asvg="http://schemas.microsoft.com/office/drawing/2016/SVG/main" r:embed="R7fafaf92b4c540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32956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9510A-73CD-4F37-84D4-398DBE58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004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Local campus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08D7C-913B-4083-84E8-B39A386A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394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Documents, chunks, citations, search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4F5CD-015B-49FF-A296-76C41E4F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485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8c5bf24e340d2">
            <a:extLst>
              <a:ext uri="{96DAC541-7B7A-43D3-8B79-37D633B846F1}">
                <asvg:svgBlip xmlns:asvg="http://schemas.microsoft.com/office/drawing/2016/SVG/main" r:embed="R0a977fb4e5c949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3886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8C035-CA31-42DB-81C7-98B61A1F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Required search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0D517-D4E9-442D-81F7-046D6FF9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38600"/>
            <a:ext cx="394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SQLite + FTS5 retrieval remains available offline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DCB8E-890A-4603-8134-A778C5A6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485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d9dcf4bf84d5d">
            <a:extLst>
              <a:ext uri="{96DAC541-7B7A-43D3-8B79-37D633B846F1}">
                <asvg:svgBlip xmlns:asvg="http://schemas.microsoft.com/office/drawing/2016/SVG/main" r:embed="R6fc4ed52a25d4e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44767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B8087-187D-4F01-AC7D-625991FA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Optional local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D466E-CDDA-4230-9F33-7B6320E4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394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Downloaded or native model only when device capability is safe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060B8-E5E8-4C77-8885-0610D1CC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485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6a954f5da4a6a">
            <a:extLst>
              <a:ext uri="{96DAC541-7B7A-43D3-8B79-37D633B846F1}">
                <asvg:svgBlip xmlns:asvg="http://schemas.microsoft.com/office/drawing/2016/SVG/main" r:embed="R6a6a0cfd05994d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50673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BE061-D7EF-44FA-9B9B-1A60E700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72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Fallback 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9FFCF8-49E4-42E9-BC96-BC89DFA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394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If optional AI fails, Haki returns to source search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D6C5DD-D8E5-44AA-83F5-0181973C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37338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9525">
            <a:solidFill>
              <a:srgbClr val="8A00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7E51A1-27B6-4049-AA7A-5D2ADF2B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086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cloud dependency for campus source search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B3935E-89FB-492E-B06A-641FAA9E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48100"/>
            <a:ext cx="3086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E8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E8EA"/>
                </a:solidFill>
                <a:latin typeface="Aptos"/>
                <a:ea typeface="Aptos"/>
                <a:cs typeface="Aptos"/>
              </a:rPr>
              <a:t>This lowers infrastructure cost and privacy exposure during a pilot. Official pages still remain the source for real-time announcements.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3F49A2-5DC4-4C6A-82ED-4719CD4C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A"/>
          </a:solidFill>
          <a:ln xmlns:a="http://schemas.openxmlformats.org/drawingml/2006/main" w="9525">
            <a:solidFill>
              <a:srgbClr val="EAD89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7BECBB-57C7-444F-9AC3-2A1B714A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863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4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6474"/>
                </a:solidFill>
                <a:latin typeface="Aptos"/>
                <a:ea typeface="Aptos"/>
                <a:cs typeface="Aptos"/>
              </a:rPr>
              <a:t>Presenter note: Mention that optional AI is not required for the pilot to be useful.</a:t>
            </a:r>
          </a:p>
        </p:txBody>
      </p:sp>
    </p:spTree>
    <p:extLst>
      <p:ext uri="{BB962C8B-B14F-4D97-AF65-F5344CB8AC3E}">
        <p14:creationId xmlns:p14="http://schemas.microsoft.com/office/powerpoint/2010/main" val="15166190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67919-0DE4-42B7-BBFF-5D4E1F1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588D1-35FB-469E-936E-73A0AF47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BFC99-7812-412E-9C3D-3EE56A0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88990-0FEA-4BD6-99D1-84B1314E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93234-4CBB-452A-8D79-EED9A051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05D1C-C7A6-4D05-8E7C-009EAF6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61DE8-9BA3-4A30-A926-6DD5410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REQUESTED ADMINISTRATIVE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6FA07-647E-4AD9-B4F9-EC96703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Approve a supervised pilot review, not a blind launch.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6F9A6-117C-44EB-9712-AB6F9CA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goal is to evaluate whether Haki can become a TUPT-controlled student service candidate.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EFED8-B6C8-4AA5-84E5-A6E2EBED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9525">
            <a:solidFill>
              <a:srgbClr val="8A00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E6113-E671-4784-92AA-91D974AB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292DE-D76C-4413-B3C8-DD8061D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Assign evaluator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928A2-54A7-411D-80A9-FF8A6D3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Name the reviewing office or owner for pilot assessment.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F02D8-5F5F-4B73-9DAF-1A1D72A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EDFA1-2FFD-466A-8522-5D4EE7A1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E773C-55AF-4D24-8D7A-FAFF8B5D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62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Validate 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AAF94-CFE8-4149-9B52-095C80FC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480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Approve included documents, excluded topics, citations, and update rules.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BECEE-9FC0-4369-BAB2-78B7C991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E884C-A175-49D2-B81C-D46DE2B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E98BE-9378-4D05-BFEE-AE7AAF48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Internal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3916F-6FA8-4D49-A5A3-B2DD4AB4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Check source answers, service desk tickets, map flow, tips, and org data behavior.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0D3F3-751E-4190-BDDD-8D148FEE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005E4-067F-483B-87F6-87DEDB90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97FE8-2CD8-4572-B66C-E4A833F2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43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Student pilot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F2DF6-F5E4-401D-BDF4-633D3949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Let a small group test common tasks and report unclear or missing information.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B3728-CF68-4CC0-8E29-33AFC22E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51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D84A0-D511-4C66-9663-EDCB2210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FEB56-C2B4-4D60-A6F7-C190766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Deployment 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1870D-B8FA-40C5-81EC-4AD16AAC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Decide release scope, maintenance owner, and attribution if adopted.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AFFDD-1CC5-4601-8070-E35650F0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2514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A"/>
          </a:solidFill>
          <a:ln xmlns:a="http://schemas.openxmlformats.org/drawingml/2006/main" w="9525">
            <a:solidFill>
              <a:srgbClr val="EA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C4E224-9019-4D7E-95D3-C5CD7CB2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1981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0D46B9-86B0-4774-B2F1-76C1C78C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Continue, revise, limit scope, or stop after evidence from each phase.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8D6CBD-91BC-434C-AC61-A14A126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6262"/>
                </a:solidFill>
                <a:latin typeface="Aptos"/>
                <a:ea typeface="Aptos"/>
                <a:cs typeface="Aptos"/>
              </a:rPr>
              <a:t>TUPT keeps ownership of approval and release.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F29666-7272-4009-979D-E20BBA94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578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EA"/>
          </a:solidFill>
          <a:ln xmlns:a="http://schemas.openxmlformats.org/drawingml/2006/main" w="9525">
            <a:solidFill>
              <a:srgbClr val="EA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57CB46-18BC-47AC-A420-10D3D26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64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6474"/>
                </a:solidFill>
                <a:latin typeface="Aptos"/>
                <a:ea typeface="Aptos"/>
                <a:cs typeface="Aptos"/>
              </a:rPr>
              <a:t>Presenter note: Close by asking for permission to evaluate, not immediate university-wide deployment.</a:t>
            </a:r>
          </a:p>
        </p:txBody>
      </p:sp>
    </p:spTree>
    <p:extLst>
      <p:ext uri="{BB962C8B-B14F-4D97-AF65-F5344CB8AC3E}">
        <p14:creationId xmlns:p14="http://schemas.microsoft.com/office/powerpoint/2010/main" val="1995240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2026-06-07T17:48:18.5860000Z</dcterms:created>
  <dcterms:modified xsi:type="dcterms:W3CDTF">2026-06-07T17:48:18.5860000Z</dcterms:modified>
</coreProperties>
</file>