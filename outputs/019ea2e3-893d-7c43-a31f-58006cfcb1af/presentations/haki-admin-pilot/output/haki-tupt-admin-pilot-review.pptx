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0d77c74b44dae" /><Relationship Type="http://schemas.openxmlformats.org/officeDocument/2006/relationships/extended-properties" Target="/docProps/app.xml" Id="R5956b3306ed14e83" /><Relationship Type="http://schemas.openxmlformats.org/officeDocument/2006/relationships/officeDocument" Target="/ppt/presentation.xml" Id="R28305102c293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c2fd8808f4b3c"/>
  </p:sldMasterIdLst>
  <p:notesMasterIdLst>
    <p:notesMasterId xmlns:r="http://schemas.openxmlformats.org/officeDocument/2006/relationships" r:id="R4718aa35f6494639"/>
  </p:notesMasterIdLst>
  <p:sldIdLst>
    <p:sldId xmlns:r="http://schemas.openxmlformats.org/officeDocument/2006/relationships" id="256" r:id="R80bae5a1e7d646eb"/>
    <p:sldId xmlns:r="http://schemas.openxmlformats.org/officeDocument/2006/relationships" id="257" r:id="Rcb81930df10a42d1"/>
    <p:sldId xmlns:r="http://schemas.openxmlformats.org/officeDocument/2006/relationships" id="258" r:id="Rad18a128532c4fe0"/>
    <p:sldId xmlns:r="http://schemas.openxmlformats.org/officeDocument/2006/relationships" id="259" r:id="R2db77481b69549d1"/>
    <p:sldId xmlns:r="http://schemas.openxmlformats.org/officeDocument/2006/relationships" id="260" r:id="Ra3b3df6901f644bc"/>
    <p:sldId xmlns:r="http://schemas.openxmlformats.org/officeDocument/2006/relationships" id="261" r:id="R8745bd3951b249ee"/>
    <p:sldId xmlns:r="http://schemas.openxmlformats.org/officeDocument/2006/relationships" id="262" r:id="R280356bdd24e4dc7"/>
    <p:sldId xmlns:r="http://schemas.openxmlformats.org/officeDocument/2006/relationships" id="263" r:id="Rd9556d6a40974136"/>
    <p:sldId xmlns:r="http://schemas.openxmlformats.org/officeDocument/2006/relationships" id="264" r:id="R6568c815b9314d79"/>
    <p:sldId xmlns:r="http://schemas.openxmlformats.org/officeDocument/2006/relationships" id="265" r:id="R4d1541654dc045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c1258fddd4f7b" /><Relationship Type="http://schemas.openxmlformats.org/officeDocument/2006/relationships/slideMaster" Target="/ppt/slideMasters/slideMaster1.xml" Id="R848c2fd8808f4b3c" /><Relationship Type="http://schemas.openxmlformats.org/officeDocument/2006/relationships/notesMaster" Target="/ppt/notesMasters/notesMaster1.xml" Id="R4718aa35f6494639" /><Relationship Type="http://schemas.openxmlformats.org/officeDocument/2006/relationships/presProps" Target="/ppt/presProps.xml" Id="Ra815f44df4bf4598" /><Relationship Type="http://schemas.openxmlformats.org/officeDocument/2006/relationships/viewProps" Target="/ppt/viewProps.xml" Id="Rb374678ab92e4766" /><Relationship Type="http://schemas.openxmlformats.org/officeDocument/2006/relationships/tableStyles" Target="/ppt/tableStyles.xml" Id="Rda0c556786c843f4" /><Relationship Type="http://schemas.openxmlformats.org/officeDocument/2006/relationships/slide" Target="/ppt/slides/slide1.xml" Id="R80bae5a1e7d646eb" /><Relationship Type="http://schemas.openxmlformats.org/officeDocument/2006/relationships/slide" Target="/ppt/slides/slide2.xml" Id="Rcb81930df10a42d1" /><Relationship Type="http://schemas.openxmlformats.org/officeDocument/2006/relationships/slide" Target="/ppt/slides/slide3.xml" Id="Rad18a128532c4fe0" /><Relationship Type="http://schemas.openxmlformats.org/officeDocument/2006/relationships/slide" Target="/ppt/slides/slide4.xml" Id="R2db77481b69549d1" /><Relationship Type="http://schemas.openxmlformats.org/officeDocument/2006/relationships/slide" Target="/ppt/slides/slide5.xml" Id="Ra3b3df6901f644bc" /><Relationship Type="http://schemas.openxmlformats.org/officeDocument/2006/relationships/slide" Target="/ppt/slides/slide6.xml" Id="R8745bd3951b249ee" /><Relationship Type="http://schemas.openxmlformats.org/officeDocument/2006/relationships/slide" Target="/ppt/slides/slide7.xml" Id="R280356bdd24e4dc7" /><Relationship Type="http://schemas.openxmlformats.org/officeDocument/2006/relationships/slide" Target="/ppt/slides/slide8.xml" Id="Rd9556d6a40974136" /><Relationship Type="http://schemas.openxmlformats.org/officeDocument/2006/relationships/slide" Target="/ppt/slides/slide9.xml" Id="R6568c815b9314d79" /><Relationship Type="http://schemas.openxmlformats.org/officeDocument/2006/relationships/slide" Target="/ppt/slides/slide10.xml" Id="R4d1541654dc0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c8f9f91ed64f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d41546192f46e7" /><Relationship Type="http://schemas.openxmlformats.org/officeDocument/2006/relationships/notesMaster" Target="/ppt/notesMasters/notesMaster1.xml" Id="R838a400a0cb74d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b60c796fdb42b4" /><Relationship Type="http://schemas.openxmlformats.org/officeDocument/2006/relationships/notesMaster" Target="/ppt/notesMasters/notesMaster1.xml" Id="Rc396490d992246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df184d4e904203" /><Relationship Type="http://schemas.openxmlformats.org/officeDocument/2006/relationships/notesMaster" Target="/ppt/notesMasters/notesMaster1.xml" Id="R3eb809a7f5484c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9342a6627c4b29" /><Relationship Type="http://schemas.openxmlformats.org/officeDocument/2006/relationships/notesMaster" Target="/ppt/notesMasters/notesMaster1.xml" Id="R804c5a9b1b3846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49f0df55714b49" /><Relationship Type="http://schemas.openxmlformats.org/officeDocument/2006/relationships/notesMaster" Target="/ppt/notesMasters/notesMaster1.xml" Id="Rded6af6f1941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a359a033c444f" /><Relationship Type="http://schemas.openxmlformats.org/officeDocument/2006/relationships/notesMaster" Target="/ppt/notesMasters/notesMaster1.xml" Id="R2724091d93ac41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ffd886c22748a5" /><Relationship Type="http://schemas.openxmlformats.org/officeDocument/2006/relationships/notesMaster" Target="/ppt/notesMasters/notesMaster1.xml" Id="Rb82ab12c8cf848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438811a17b4b20" /><Relationship Type="http://schemas.openxmlformats.org/officeDocument/2006/relationships/notesMaster" Target="/ppt/notesMasters/notesMaster1.xml" Id="R16c9a78526df49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3c3f3bea3f4b8a" /><Relationship Type="http://schemas.openxmlformats.org/officeDocument/2006/relationships/notesMaster" Target="/ppt/notesMasters/notesMaster1.xml" Id="R83e664d16c914b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08d5c5017d4420" /><Relationship Type="http://schemas.openxmlformats.org/officeDocument/2006/relationships/notesMaster" Target="/ppt/notesMasters/notesMaster1.xml" Id="R8f95b7cf9060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f3fbcf62a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0e05b977fa4153" /><Relationship Type="http://schemas.openxmlformats.org/officeDocument/2006/relationships/slideLayout" Target="/ppt/slideLayouts/slideLayout1.xml" Id="R033e83ea7ed6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3e83ea7ed6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d592ae3bd4f0d" /><Relationship Type="http://schemas.openxmlformats.org/officeDocument/2006/relationships/image" Target="/ppt/media/image.jpeg" Id="R4180ef9dc2f846ec" /><Relationship Type="http://schemas.openxmlformats.org/officeDocument/2006/relationships/image" Target="/ppt/media/image2.jpeg" Id="R887afe844b0a4d8d" /><Relationship Type="http://schemas.openxmlformats.org/officeDocument/2006/relationships/image" Target="/ppt/media/image3.jpeg" Id="R08d873528acf4328" /><Relationship Type="http://schemas.openxmlformats.org/officeDocument/2006/relationships/notesSlide" Target="/ppt/notesSlides/notesSlide1.xml" Id="R4cd7893d678848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0df7dac7b405b" /><Relationship Type="http://schemas.openxmlformats.org/officeDocument/2006/relationships/notesSlide" Target="/ppt/notesSlides/notesSlide2.xml" Id="Rf6b7ff23bee946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a705d3357490b" /><Relationship Type="http://schemas.openxmlformats.org/officeDocument/2006/relationships/notesSlide" Target="/ppt/notesSlides/notesSlide3.xml" Id="R7b94b2f2ef704b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a162397514e40" /><Relationship Type="http://schemas.openxmlformats.org/officeDocument/2006/relationships/image" Target="/ppt/media/image4.jpeg" Id="Rae976ce6d9a7423a" /><Relationship Type="http://schemas.openxmlformats.org/officeDocument/2006/relationships/image" Target="/ppt/media/image5.jpeg" Id="R862675f88f9e4c49" /><Relationship Type="http://schemas.openxmlformats.org/officeDocument/2006/relationships/image" Target="/ppt/media/image6.jpeg" Id="Rc952f5baed80467a" /><Relationship Type="http://schemas.openxmlformats.org/officeDocument/2006/relationships/notesSlide" Target="/ppt/notesSlides/notesSlide4.xml" Id="Rd3cf740eab6d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a71bdde2045e9" /><Relationship Type="http://schemas.openxmlformats.org/officeDocument/2006/relationships/image" Target="/ppt/media/image7.jpeg" Id="R03a7ce41cef24769" /><Relationship Type="http://schemas.openxmlformats.org/officeDocument/2006/relationships/notesSlide" Target="/ppt/notesSlides/notesSlide5.xml" Id="R87bd80dcc71f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b170d379e4897" /><Relationship Type="http://schemas.openxmlformats.org/officeDocument/2006/relationships/image" Target="/ppt/media/image.png" Id="R074520fbf65f4395" /><Relationship Type="http://schemas.openxmlformats.org/officeDocument/2006/relationships/notesSlide" Target="/ppt/notesSlides/notesSlide6.xml" Id="Rfd8144147cb0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86af66dba4151" /><Relationship Type="http://schemas.openxmlformats.org/officeDocument/2006/relationships/notesSlide" Target="/ppt/notesSlides/notesSlide7.xml" Id="R9f340fbaf790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3b9c41e144142" /><Relationship Type="http://schemas.openxmlformats.org/officeDocument/2006/relationships/notesSlide" Target="/ppt/notesSlides/notesSlide8.xml" Id="R78fc72f7e2e74d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7258cfb9a4da2" /><Relationship Type="http://schemas.openxmlformats.org/officeDocument/2006/relationships/notesSlide" Target="/ppt/notesSlides/notesSlide9.xml" Id="Rc5553bdd57bd43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0fc855300498b" /><Relationship Type="http://schemas.openxmlformats.org/officeDocument/2006/relationships/image" Target="/ppt/media/image8.jpeg" Id="R9bd24e89f5664d36" /><Relationship Type="http://schemas.openxmlformats.org/officeDocument/2006/relationships/notesSlide" Target="/ppt/notesSlides/notesSlide10.xml" Id="Ra2f27e9fdcc147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920F1-C946-4EB3-83B9-721A7D4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298CF-5F06-4ADC-9B88-AC6A3269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2950B-F304-4710-8890-BDC7A37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FD9F419E-E785-46EB-A1BC-2FD2B58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2C0556E9-10D4-4083-81E6-FDFDDF93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394AF-15CE-4A0E-ACE5-41386B3E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762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Haki turns campus guidance into an admin-governed 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A1C66-C25A-4B55-8E49-A11B8D2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Offline-first, source-referenced, admin-governed assistant for TUP Taguig.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B6D9C-AA09-4BF1-9618-4043F1B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C3DB1-1ED1-40A5-9EA2-6E246C84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104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982D8-56E8-4856-B89A-48C269BA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1480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F4879-43A1-4646-B488-AD9DD518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81475"/>
            <a:ext cx="1466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CAB73-7803-4725-9FF3-B1CF9A9A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B32D7-2C20-4033-804B-EDA18E6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8147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72E79-8F6F-4DBE-9704-322F713B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D6D32-6B08-471A-BBDE-130C47CC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BCA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BCAD3"/>
                </a:solidFill>
                <a:latin typeface="Aptos"/>
                <a:ea typeface="Aptos"/>
                <a:cs typeface="Aptos"/>
              </a:rPr>
              <a:t>Joshua Retrita | BSIT 2025-2026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2D6A8-1AB9-4CBC-905C-C61CBD58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8650"/>
            <a:ext cx="2266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0ef9dc2f846ec"/>
          <a:stretch xmlns:a="http://schemas.openxmlformats.org/drawingml/2006/main"/>
        </p:blipFill>
        <p:spPr>
          <a:xfrm xmlns:a="http://schemas.openxmlformats.org/drawingml/2006/main">
            <a:off x="6648450" y="801597"/>
            <a:ext cx="2114550" cy="470235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B8255-4723-4379-8FC5-9E73F13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23950"/>
            <a:ext cx="1924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afe844b0a4d8d"/>
          <a:stretch xmlns:a="http://schemas.openxmlformats.org/drawingml/2006/main"/>
        </p:blipFill>
        <p:spPr>
          <a:xfrm xmlns:a="http://schemas.openxmlformats.org/drawingml/2006/main">
            <a:off x="8839200" y="1296785"/>
            <a:ext cx="1771650" cy="3940579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91250-ECC4-47E0-AA6E-34772EBE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543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873528acf4328"/>
          <a:stretch xmlns:a="http://schemas.openxmlformats.org/drawingml/2006/main"/>
        </p:blipFill>
        <p:spPr>
          <a:xfrm xmlns:a="http://schemas.openxmlformats.org/drawingml/2006/main">
            <a:off x="10172700" y="2168804"/>
            <a:ext cx="1390650" cy="309189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353BF-F73B-403D-A719-1D61B3F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055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2D94A-A297-4B0C-A967-E4BB215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7695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Screenshots from the submitted proposal annex; replaceable with fresh captures.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3A09A-A83C-4258-B273-DBC7CA4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A54DB-6968-4F5A-8988-34DAE3A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4443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90658-0184-476C-B299-DD9E6B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2CBAE98-0910-4A17-8F55-DAA7529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4819C39-8271-4D34-A410-C9B0F4E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A1975-0837-411B-8590-19E204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The friction is not a lack of information. It is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7ED53-6A71-46BA-AF35-1359CB7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Students often need simple guidance, but the answer may live across office posts, pages, documents, and informal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51D4-A3EF-4B8B-8151-29B3A41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E161-B691-4D28-9FF5-DCCE95B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2BC2-BBF3-470E-B51C-028FB3C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292F6-DF77-4313-8C27-2473968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Information is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750B-E2DE-4350-892A-A3145CF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Office posts, pages, handbooks, room lists, and student hearsay are not one searchable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9737-F1F7-48FB-A06E-98BC665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2C2F7-D579-49F2-9307-6396DF48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D240D-39F3-42D5-858E-1C8ECC3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CF4E-BD90-4E58-9CE2-DC738767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Students ask repeatedly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723EA-B463-4755-90DF-44DC482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Basic questions reach front desks, classmates, group chats, or the wrong office.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EDD0D-C295-4351-95C7-26C7BBA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62045-0FC6-4B10-9969-CACCD38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F851-254C-4182-8DD5-348EBA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FD45D-F510-46A0-85B4-CBD0E35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Offices absorb avoidable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703A6-5F7C-4F60-AC6D-924F158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Staff still become the last-mile explanation layer for routine campus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80546-F54E-4E59-9B6E-0831229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F3AB-01D4-42C6-95E3-C45C93A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69E9D-98F2-4F75-82E9-55978A8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A2A90-19BD-4C84-9765-650FAA2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70E7F-E352-4582-AC3D-9888217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782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505D8-5D54-4903-9E2C-F060900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Presentation 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0FA9-CA9E-4904-940D-0536022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Evaluate Haki as a student service layer first; treat AI as optional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D5221-3828-4E63-95AC-8FC8B6E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This framing keeps the discussion practical: accuracy, ownership, privacy, maintainability, and pilot governance.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C9BDD-4F79-4637-90EE-04B4C21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EA7A3-57F3-4081-A22F-A140A67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99636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F356E-4C92-4E19-BEED-8DF2EFA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DE7567E-A02F-45AE-95AB-D33DCFC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98EF9E1-C646-49FB-A2BE-94B000C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WHAT HAKI ACTUALLY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6DD3-7BA2-4E15-8637-964CF3A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Haki answers from approved local sources before it ever needs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709E-FC24-42ED-A7B9-4CC9251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5E41-693F-479F-883F-2F060D6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C816-A21E-4BB2-A14D-008913A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TUPT-approved source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71D15-6433-4F42-A565-777FE4A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Documents, procedures, office guidance, citations, and update dates selected by Administration.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DDAA-2B12-43EB-9143-B0F42AC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31D45-3669-4078-B750-0CCBEA53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3D6F-91A3-41B7-9B5E-66F4BE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On-device SQLite + 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FAB93-8EB5-431C-8BBA-6D649E5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Searchable local index works offline and remains the baseline even without a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86AE-22BF-46C3-B3F2-C54A934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2F41C-D84D-4D40-9377-ABA8F03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EF0D-7BC9-48E7-84B7-6714947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Source answer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7C20-A5B7-440D-AA2F-D65B0B3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Ranks results, checks confidence, and formats the answer with citations.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41711-33AA-4779-90B5-A3DCDB0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6DD7A-A9A8-4F9A-A1F3-1C90A16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EDCC7-48C5-4B1F-B35B-0DDD64C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surfaces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1D721-05B3-4239-9BB8-31B2252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40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Chat, Service Desk, Library, Map, and other app screens expose the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A0851-E9DF-470A-B589-4709080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9CBDE-8B47-43BB-8BD8-9FE7041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5271A-7E3B-45FF-9902-3DE07F1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38C56-C662-4084-BFFF-6CE292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E72B-92E3-403E-9421-7959937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C3FF8-698A-4BFC-B719-4CCCF16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6B3B1-8233-4F46-BB25-1B61EE6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2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C491-2033-472D-BB6C-A0ACB45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Optional local AI 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5D1E1-E1BE-4593-974D-53F2096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Compatible downloaded model -&gt; supportive/general chat and local summarization only when safe. Official campus procedures still come from saved sources.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1192F-21E7-4D7F-97D0-516D58D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0932C-92A1-47DA-BEAC-CC167A39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01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AI is 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AD33-9832-40B6-A758-75EB61A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BE60E-FF0F-45DF-8117-655116F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290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B57F-1D2F-4F2E-8634-59FE8EF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D96F415-63E4-4FE8-A8C1-5E731FE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8698C9-5B68-46D0-A264-DE30C8C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C58A-B788-4318-B67E-52B7B53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student can move from question to source-backed next step in one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E3F5-CBF7-489A-BB8C-22DD1407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76ce6d9a7423a"/>
          <a:stretch xmlns:a="http://schemas.openxmlformats.org/drawingml/2006/main"/>
        </p:blipFill>
        <p:spPr>
          <a:xfrm xmlns:a="http://schemas.openxmlformats.org/drawingml/2006/main">
            <a:off x="1112610" y="2076450"/>
            <a:ext cx="1584781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61FE-9B26-44EB-854B-9CA1291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75f88f9e4c49"/>
          <a:stretch xmlns:a="http://schemas.openxmlformats.org/drawingml/2006/main"/>
        </p:blipFill>
        <p:spPr>
          <a:xfrm xmlns:a="http://schemas.openxmlformats.org/drawingml/2006/main">
            <a:off x="5208592" y="1847850"/>
            <a:ext cx="175576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48F28-F506-446D-B642-440A6CA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2f5baed80467a"/>
          <a:stretch xmlns:a="http://schemas.openxmlformats.org/drawingml/2006/main"/>
        </p:blipFill>
        <p:spPr>
          <a:xfrm xmlns:a="http://schemas.openxmlformats.org/drawingml/2006/main">
            <a:off x="9361093" y="2076450"/>
            <a:ext cx="1585113" cy="3524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C9D8-84EF-49B5-89D4-35030FE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1413"/>
            <a:ext cx="1514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8CBF-DBF7-4AE9-B322-27AC745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FFE9-B7D3-4200-9BA2-9FF92A5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1413"/>
            <a:ext cx="1400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9955-1A4E-4CA2-81A9-78C50C6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2178-03D8-4A8C-860E-F0F03A9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1. Student 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E17D4-C700-4084-8EF6-E8A494B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6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2. Source-backed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69A52-4950-4558-BF38-97207D2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3. Service desk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7790F-0DEF-421A-90D8-C1270B3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172200"/>
            <a:ext cx="483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EF9CD-AC87-4736-A31B-C681D97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388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No backend required for campus source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14542-C037-4BA5-8FDF-CEB4B6F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E8EE0-01A4-433B-BC0C-5D01B9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879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19236-2119-42FD-A702-F284AC4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35AFF6A-D526-4A0E-88C1-36AB236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717107F-51E9-4293-B8CC-AF12196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7A0-37B8-4CBF-B42E-2F293E2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Citations make Haki auditable instead of a black-box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F807-D4C7-4A36-89C8-12C3C72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7ce41cef24769"/>
          <a:stretch xmlns:a="http://schemas.openxmlformats.org/drawingml/2006/main"/>
        </p:blipFill>
        <p:spPr>
          <a:xfrm xmlns:a="http://schemas.openxmlformats.org/drawingml/2006/main">
            <a:off x="1294777" y="2019300"/>
            <a:ext cx="1772896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3BDA1-14CC-4D10-9F49-0160CB8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34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Campus answer with source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34CA0-1C76-43FB-9E98-4CA725E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87AE5-A1D1-42C5-A791-FC491DC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8733-D031-48F3-897F-F93D344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sees 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B6D6A-ECDB-413C-BC53-E169FB7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response is phrased for student action, not as raw database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7AF5-8B75-4B17-B4FC-A6A018F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C40B-AA84-4186-AC7A-F7BBACC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F994D-5A7C-4058-ABBF-54A129C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 can inspect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1D416-895C-4ED6-9FBE-B79767F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0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source card names the campus document, office, and citation used by the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2C063-7C23-4AE3-95BB-BB95D7B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035D-E372-4FE9-A52A-C0B557B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A275E-7C31-4971-A9D2-D1D9E02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Missing source is a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5C1C6-E5C0-405D-AA42-1CE097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If official content is weak or absent, the right response is review or clarification, not guessing.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8F5F2-FE5B-4238-8158-55CE493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5ACE8-1EF4-4741-86F1-2CBD3A3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58F80-F5B8-4DED-81A3-BEC9989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C0DD6-34AF-45F7-8E42-D84AE6E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pitch point: Haki is safer when it behaves like a controlled reference system, not a model pretending to know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163F7-2A00-464B-A128-5DD27BB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E427F-6156-4CE4-B14C-E7BDEA7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4247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2B410-7ABA-42E6-A1F4-13C80D0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B3060A7-0ED0-4F63-8F24-28F49CE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DA9C5-54FC-451B-BACD-A02E29C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E901-7E42-42D3-B3B0-528127B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Offline-first design lowers privacy and infrastructure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9B04-BEAE-4AED-83D3-A69200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2E8"/>
                </a:solidFill>
                <a:latin typeface="Aptos"/>
                <a:ea typeface="Aptos"/>
                <a:cs typeface="Aptos"/>
              </a:rPr>
              <a:t>The proposal positions Haki as a local device app: no external chat API, no cloud database, and no server dependency for campus source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BE63-D44D-4EFA-A461-D1A7A1D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7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9F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E4A3-B364-40EE-BDB3-0404BB0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Inside the student's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B9F7C-CF40-4B64-B702-42E1BCC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E7C6F-BD3A-4A47-8922-88B6342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campus guide: Approved documents and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3C8AA-0B3E-4CDA-AFAC-37A85C5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61B9E-1C48-414D-88AE-2475EEF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source search: Fast offline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EEE5-19BD-4D00-A423-871003F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0786-46FA-491C-BC1D-6FA31F1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local model: Downloaded only on compatible devices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8FC2-9CE1-48B3-A176-78BF67D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FDDD-EADE-4070-9F85-C39D4DD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Profile/history controls: Local settings, not external server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682C-52A2-463F-9893-BE6093C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Official web pages remain the source for real-time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67019-0A2D-4AD4-967F-EE9BF26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3622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520fbf65f4395"/>
          <a:stretch xmlns:a="http://schemas.openxmlformats.org/drawingml/2006/main"/>
        </p:blipFill>
        <p:spPr>
          <a:xfrm xmlns:a="http://schemas.openxmlformats.org/drawingml/2006/main">
            <a:off x="8224467" y="1257300"/>
            <a:ext cx="2105767" cy="4686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CE41-A7CF-450B-8848-70A2FFC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1505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E2E8"/>
                </a:solidFill>
                <a:latin typeface="Aptos"/>
                <a:ea typeface="Aptos"/>
                <a:cs typeface="Aptos"/>
              </a:rPr>
              <a:t>Device-aware local model 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42FF-6DBD-4757-9990-534007A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D5628-497D-4A7F-9651-F146397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314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69066-255E-407C-AFEA-B1B5E10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D98DB69-2003-471E-80AD-11AE395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07E463C-8BF6-4690-BE25-2F9BC8C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AAD4-C519-435E-8265-9CC966D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TUPT keeps ownership of the content and release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92D4-8E63-4760-BCFB-3F46838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C0E0C-86AC-47F9-91B4-C6C0D90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98FC-64AF-4A08-8056-29EDA05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9F03C-1737-4341-9281-AE953C3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Decides whether Haki is appropriate, what content is allowed, and how distribution should be governed.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96028-4F47-4387-9073-7F3155C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269DE-9F86-4FD8-AD14-BA8E4FA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48620-42F6-46A5-85B8-30B5646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Responsible office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8659B-F105-48FB-B80D-0140CF1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Coordinates official source review, update cadence, and policy ownership across offices.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47F5-82DF-455C-8563-94FB098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50746-A55D-4AC4-A071-3412A20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B556-514A-49F1-A074-2F3DD48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or staff maintainers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C361-69BE-4DEB-AD55-E65DAC4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Prepare source packages, perform updates, and preserve technical continuity under supervision.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93D7A-CB38-4DFE-8A22-3A88615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6AE31-6611-4179-86D4-5D3B59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9E811-5F48-49C8-8691-E2BBD23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5234D-7F0A-4434-B44A-9D7DBB0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Publishes only the approved local guide to students through chat, search, map, and library screens.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92188-06CB-4181-80C2-FC8BAD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50257-128A-493F-B635-8A2FB57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AA38D-0709-40F0-AD85-67D4E0A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F32FE-369F-4CD1-B4F8-5169048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F05EE-FE46-49D8-AADE-0E7B3B8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6A948-E3CD-49BB-B419-010C0AD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48B99-431F-4608-8FA4-331A1B7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5217-D858-46A0-8202-4A70C0E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05450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 role: build, hand over, guide first maintainers, and request attribution only if Haki is deployed or promoted.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8FDD-A64E-468E-843B-0020BFC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8BBDE-2149-42F4-B8B7-6B66A9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2203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E8D21-9F59-4E5F-91EF-299CEDC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8926E93-2E2A-4FA9-BAB6-CF5C562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52D99F2-4578-4A1C-967F-0321AE0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COMMUNITY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F202-80EF-4CA5-BFA4-67E7EC2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One student app can improve service quality across the community.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EE80A-85B9-4DF4-B7FA-EF70D1C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4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C86EB-1A7E-4502-A039-265E5BA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2085-B487-433D-AB3F-FB3E62E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6BCB-3A22-4938-945A-B175D5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What Haki improves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84F85-1CCC-43DA-8F6C-ED6CEB7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D9B09-44BE-44E8-A7DA-F0AD148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36E7C-09EA-41DB-A514-4BFF210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9409-79B6-4A16-9514-9B69804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Unsure which office to approach, what to prepare, or where to 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7997-0143-4C92-B54E-4894B90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Faster self-service guidance with source references and map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0B1B-5097-458C-AB7C-5991668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C3AE-60B5-4714-9F2D-7DDCB4F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C3160-A667-49A2-B7BD-EEDCF71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2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21E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23675-B3AE-41F2-A000-3A57502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Routine questions repeat at counters and through informal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7ADF-B2D8-4AC1-98C7-45A24F2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Better-prepared students and fewer basic inquiries for staff.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28FA-D316-4DF2-8A13-A50EC4C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02BDD-9540-4448-B170-C673208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3C7D7-39DF-4B9D-83EF-65FCF4C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35818-DFEE-428C-A651-A55E928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Official guidance can be hard to keep consistent across channels.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C803-8608-4695-A034-2808746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Central content authority with local, auditable student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CD38-A4F1-40C6-9A0A-B45A86C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EBBE5-A501-475A-A1DC-585B5EB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67638-3C13-4EC4-9169-5AEDE9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5E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E7D"/>
                </a:solidFill>
                <a:latin typeface="Aptos"/>
                <a:ea typeface="Aptos"/>
                <a:cs typeface="Aptos"/>
              </a:rPr>
              <a:t>TUPT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6D74B-0F20-41BE-95D5-1A82986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Student-led innovation is often hard to convert into institutional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29A75-57CB-459F-A556-735A6EE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 visible responsible AI-era service project with controlled pilot scope.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BA5A7-24A2-496E-B7F6-D03344A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value is operational first: clearer guidance, less repetition, and a governable path to adoption.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32079-7C3C-4E8F-810F-F2FBD5B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EF051-DC3B-4BCF-99F1-9C7F4E04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8374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12C95-0C64-4F03-AD4D-2768470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0A28F99-E85E-4385-8177-299FAC8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B27584A-0D9B-455E-BB5B-195A1B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LOW-RISK ADOPTION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F88B-9AFB-4EE8-B616-3260742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pilot review turns adoption into a controlled administrative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E20D9-5229-4E78-B5BE-DD648B2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ask is not a blind launch. It is permission to evaluate Haki with official content, supervision, and measured student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308A-B837-4D6A-8B3C-28951C3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F018-B185-4C64-A9F6-5D5D8F0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AC92-ADB0-4058-9CEE-7BB9B9E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B6DF-4334-442A-B4BE-B238E7A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Content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2530-6472-4268-B2C3-682E3EFD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Administration identifies approved offices, documents, citations,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B318-2EDE-42F6-9472-435609B3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13B7-0B76-4A90-A345-32F1BDF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4BDDB-05FA-4FDB-A63D-CF147CD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C230-0971-4C64-8D16-D5B2E98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08276-0E2A-40A7-8C83-EA4EB24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Internal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A8CD8-5ADB-4EE9-B890-9EB1BD6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Reviewing office and maintainers test answers, missing-source behavior, and update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452A-DB91-4B5A-9251-D73525E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536DB-6BC7-441C-98B9-D04C963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BFDB-1E50-4D85-9A9E-75B22F6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C1BFE-E381-4C53-9D8C-42B60D1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8411D-51C9-4040-B363-0F88DE4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A90A5-F36F-4D4C-AE88-8AB8290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Small student group tests common tasks: office concern, map, service desk, and source clarity.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C37A3-1314-43D7-89F4-77FCFFD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F2A26-7C32-4471-9BA4-590E2DF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362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EC67A-3814-49AF-B49E-EDFD8D11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BBAF7-FD28-41FC-ABB1-9DFD67C4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176B5-2BFB-46B7-91ED-3DB1AE3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C1906-B443-4C00-9916-147B973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 decides whether to publish, how to govern distribution, and who maintains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A680F-352D-4E06-BAA7-8C0169B7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10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A8454-0AA7-489D-BD54-8F39B4D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84D75-05F7-44B9-8605-DFE8DE5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3D2BE-02D0-4964-83C9-11CA220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B9703-2155-484E-8838-A30CBA9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AF542-3114-4A98-8C46-418C539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D6514-8F90-4BBA-AF6E-CAA0E2B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7DFC1-C3C8-4499-8798-E95E10B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6D7CF-2AC2-4120-A8C7-6D88EA4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2925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Decision gate after each phase: continue, revise, limit scope, or stop.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412D2-2508-4297-852A-07B4B8E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E7BE6-EBFC-4DA4-B979-353C194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91F12-1043-464A-8C8A-5319B40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E12CBFD-D10F-46EB-A925-5144489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33CFA40-723C-4ED8-8070-F6BA2FE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5FCC-277F-4EB5-ACF7-3CFAEEE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A75D-9EB7-4DC3-B61C-4351658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The proposal letter can carry the formal terms. The presentation should close on the next practical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284D-9D04-4CCC-A0C6-C90F25CB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EAD2A-FF54-4B34-8C08-0008CF2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25607-4B00-4745-AB8A-9DFACB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a reviewing office or evaluation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3DC19-0888-401F-82EC-AD0AC86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9FD72-2BEE-4924-88D4-DDD2BE1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528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63B5-ADDD-4E42-A835-1ABC2DF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which campus information can be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86AAA-EB3B-4FE2-B88C-7DDFEB3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2280-65A7-4C07-90AC-FB36CE1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8320-D0D9-4732-9419-42EDB7D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small, supervised student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910A2-B0CB-466E-8230-BD700EE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5C82F-FB98-4EC5-9EAA-FE4A6403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BD441-804A-4871-A1C6-563AE71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distribution and maintenance after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5E273-452E-4D08-AD78-9ED61D6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65203-525B-4CE6-8E36-B95673B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B9A93-EA60-4887-B677-B10686F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acceptable developer attribution if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DEF21-53FD-414E-B7F5-4D507EE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21336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24e89f5664d36"/>
          <a:stretch xmlns:a="http://schemas.openxmlformats.org/drawingml/2006/main"/>
        </p:blipFill>
        <p:spPr>
          <a:xfrm xmlns:a="http://schemas.openxmlformats.org/drawingml/2006/main">
            <a:off x="8915400" y="1245772"/>
            <a:ext cx="1981200" cy="4404556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AFBE7-2475-4DFC-909B-52E9B60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6EC"/>
                </a:solidFill>
                <a:latin typeface="Aptos"/>
                <a:ea typeface="Aptos"/>
                <a:cs typeface="Aptos"/>
              </a:rPr>
              <a:t>Haki remains a TUPT-controlled service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F2FB1-4AEB-42EF-A5CD-97408CA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8F843-7E89-4A39-BEE4-E0BE9FA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Suggested closing line: I built Haki for the TUPT community, but the Administration should decide how it is reviewed, governed, and released.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B090A-8E60-43AB-9CF5-943B7506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C8E93-B1B3-4E90-B863-6339ADD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63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2026-06-07T17:13:49.0110000Z</dcterms:created>
  <dcterms:modified xsi:type="dcterms:W3CDTF">2026-06-07T17:13:49.0110000Z</dcterms:modified>
</coreProperties>
</file>