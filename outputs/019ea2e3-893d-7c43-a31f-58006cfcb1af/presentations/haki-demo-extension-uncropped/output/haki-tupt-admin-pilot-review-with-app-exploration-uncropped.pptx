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54e567a16bf44cf" /><Relationship Type="http://schemas.openxmlformats.org/officeDocument/2006/relationships/extended-properties" Target="/docProps/app.xml" Id="Rf50cb4b261784fd5" /><Relationship Type="http://schemas.openxmlformats.org/officeDocument/2006/relationships/officeDocument" Target="/ppt/presentation.xml" Id="Rf7a8154e16c84f2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af31718c5154163"/>
  </p:sldMasterIdLst>
  <p:notesMasterIdLst>
    <p:notesMasterId xmlns:r="http://schemas.openxmlformats.org/officeDocument/2006/relationships" r:id="R5750a824c19049db"/>
  </p:notesMasterIdLst>
  <p:sldIdLst>
    <p:sldId xmlns:r="http://schemas.openxmlformats.org/officeDocument/2006/relationships" id="256" r:id="Ree7c3478cdfc4778"/>
    <p:sldId xmlns:r="http://schemas.openxmlformats.org/officeDocument/2006/relationships" id="257" r:id="R7b56370b0b774383"/>
    <p:sldId xmlns:r="http://schemas.openxmlformats.org/officeDocument/2006/relationships" id="258" r:id="Rba921cd20c8448ef"/>
    <p:sldId xmlns:r="http://schemas.openxmlformats.org/officeDocument/2006/relationships" id="259" r:id="R54596dc725674f5a"/>
    <p:sldId xmlns:r="http://schemas.openxmlformats.org/officeDocument/2006/relationships" id="260" r:id="R67efb26bf604473e"/>
    <p:sldId xmlns:r="http://schemas.openxmlformats.org/officeDocument/2006/relationships" id="261" r:id="R78566eb255314759"/>
    <p:sldId xmlns:r="http://schemas.openxmlformats.org/officeDocument/2006/relationships" id="262" r:id="Rb4cc98a54735419b"/>
    <p:sldId xmlns:r="http://schemas.openxmlformats.org/officeDocument/2006/relationships" id="263" r:id="Rf6571b3087c44b42"/>
    <p:sldId xmlns:r="http://schemas.openxmlformats.org/officeDocument/2006/relationships" id="264" r:id="R55d16499f4b44b6e"/>
    <p:sldId xmlns:r="http://schemas.openxmlformats.org/officeDocument/2006/relationships" id="265" r:id="R6c30221885d7441a"/>
    <p:sldId xmlns:r="http://schemas.openxmlformats.org/officeDocument/2006/relationships" id="266" r:id="Rde613435b24647d9"/>
    <p:sldId xmlns:r="http://schemas.openxmlformats.org/officeDocument/2006/relationships" id="267" r:id="Rc25fd96bdc864fed"/>
    <p:sldId xmlns:r="http://schemas.openxmlformats.org/officeDocument/2006/relationships" id="268" r:id="Red279dcd1ad24812"/>
    <p:sldId xmlns:r="http://schemas.openxmlformats.org/officeDocument/2006/relationships" id="269" r:id="R00b9edf3b6c54733"/>
    <p:sldId xmlns:r="http://schemas.openxmlformats.org/officeDocument/2006/relationships" id="270" r:id="R98f7d071aa424fcd"/>
    <p:sldId xmlns:r="http://schemas.openxmlformats.org/officeDocument/2006/relationships" id="271" r:id="R8c82fc5b36f646fd"/>
    <p:sldId xmlns:r="http://schemas.openxmlformats.org/officeDocument/2006/relationships" id="272" r:id="Rbaa65ec7490142b1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f333a4229c94264" /><Relationship Type="http://schemas.openxmlformats.org/officeDocument/2006/relationships/slideMaster" Target="/ppt/slideMasters/slideMaster1.xml" Id="R9af31718c5154163" /><Relationship Type="http://schemas.openxmlformats.org/officeDocument/2006/relationships/notesMaster" Target="/ppt/notesMasters/notesMaster1.xml" Id="R5750a824c19049db" /><Relationship Type="http://schemas.openxmlformats.org/officeDocument/2006/relationships/presProps" Target="/ppt/presProps.xml" Id="R4d792c9fa6d244a6" /><Relationship Type="http://schemas.openxmlformats.org/officeDocument/2006/relationships/viewProps" Target="/ppt/viewProps.xml" Id="Rc0f0ca4d02204cd6" /><Relationship Type="http://schemas.openxmlformats.org/officeDocument/2006/relationships/tableStyles" Target="/ppt/tableStyles.xml" Id="R85cbd4d66a404837" /><Relationship Type="http://schemas.openxmlformats.org/officeDocument/2006/relationships/slide" Target="/ppt/slides/slide1.xml" Id="Ree7c3478cdfc4778" /><Relationship Type="http://schemas.openxmlformats.org/officeDocument/2006/relationships/slide" Target="/ppt/slides/slide2.xml" Id="R7b56370b0b774383" /><Relationship Type="http://schemas.openxmlformats.org/officeDocument/2006/relationships/slide" Target="/ppt/slides/slide3.xml" Id="Rba921cd20c8448ef" /><Relationship Type="http://schemas.openxmlformats.org/officeDocument/2006/relationships/slide" Target="/ppt/slides/slide4.xml" Id="R54596dc725674f5a" /><Relationship Type="http://schemas.openxmlformats.org/officeDocument/2006/relationships/slide" Target="/ppt/slides/slide5.xml" Id="R67efb26bf604473e" /><Relationship Type="http://schemas.openxmlformats.org/officeDocument/2006/relationships/slide" Target="/ppt/slides/slide6.xml" Id="R78566eb255314759" /><Relationship Type="http://schemas.openxmlformats.org/officeDocument/2006/relationships/slide" Target="/ppt/slides/slide7.xml" Id="Rb4cc98a54735419b" /><Relationship Type="http://schemas.openxmlformats.org/officeDocument/2006/relationships/slide" Target="/ppt/slides/slide8.xml" Id="Rf6571b3087c44b42" /><Relationship Type="http://schemas.openxmlformats.org/officeDocument/2006/relationships/slide" Target="/ppt/slides/slide9.xml" Id="R55d16499f4b44b6e" /><Relationship Type="http://schemas.openxmlformats.org/officeDocument/2006/relationships/slide" Target="/ppt/slides/slide10.xml" Id="R6c30221885d7441a" /><Relationship Type="http://schemas.openxmlformats.org/officeDocument/2006/relationships/slide" Target="/ppt/slides/slide11.xml" Id="Rde613435b24647d9" /><Relationship Type="http://schemas.openxmlformats.org/officeDocument/2006/relationships/slide" Target="/ppt/slides/slide12.xml" Id="Rc25fd96bdc864fed" /><Relationship Type="http://schemas.openxmlformats.org/officeDocument/2006/relationships/slide" Target="/ppt/slides/slide13.xml" Id="Red279dcd1ad24812" /><Relationship Type="http://schemas.openxmlformats.org/officeDocument/2006/relationships/slide" Target="/ppt/slides/slide14.xml" Id="R00b9edf3b6c54733" /><Relationship Type="http://schemas.openxmlformats.org/officeDocument/2006/relationships/slide" Target="/ppt/slides/slide15.xml" Id="R98f7d071aa424fcd" /><Relationship Type="http://schemas.openxmlformats.org/officeDocument/2006/relationships/slide" Target="/ppt/slides/slide16.xml" Id="R8c82fc5b36f646fd" /><Relationship Type="http://schemas.openxmlformats.org/officeDocument/2006/relationships/slide" Target="/ppt/slides/slide17.xml" Id="Rbaa65ec7490142b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9415709699348e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7e8cd72f9ce42ea" /><Relationship Type="http://schemas.openxmlformats.org/officeDocument/2006/relationships/notesMaster" Target="/ppt/notesMasters/notesMaster1.xml" Id="R18acd9be1afa46c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a7d3411a4744385" /><Relationship Type="http://schemas.openxmlformats.org/officeDocument/2006/relationships/notesMaster" Target="/ppt/notesMasters/notesMaster1.xml" Id="R88d62b84b83147b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f0076d549b24fb4" /><Relationship Type="http://schemas.openxmlformats.org/officeDocument/2006/relationships/notesMaster" Target="/ppt/notesMasters/notesMaster1.xml" Id="Rd0ee0da3c7344e6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fbc7f4a970c4d45" /><Relationship Type="http://schemas.openxmlformats.org/officeDocument/2006/relationships/notesMaster" Target="/ppt/notesMasters/notesMaster1.xml" Id="R5528c96b985444c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57b01bfc9694c70" /><Relationship Type="http://schemas.openxmlformats.org/officeDocument/2006/relationships/notesMaster" Target="/ppt/notesMasters/notesMaster1.xml" Id="R472033e460d4497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cbec6ab04ce4790" /><Relationship Type="http://schemas.openxmlformats.org/officeDocument/2006/relationships/notesMaster" Target="/ppt/notesMasters/notesMaster1.xml" Id="Re1b0832aa74c4d3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f24da21f7a54ece" /><Relationship Type="http://schemas.openxmlformats.org/officeDocument/2006/relationships/notesMaster" Target="/ppt/notesMasters/notesMaster1.xml" Id="R9e19fc3bc1c643d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6c8dfa9bd1d4777" /><Relationship Type="http://schemas.openxmlformats.org/officeDocument/2006/relationships/notesMaster" Target="/ppt/notesMasters/notesMaster1.xml" Id="R57a3a575a7a0435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c1055111db7448e" /><Relationship Type="http://schemas.openxmlformats.org/officeDocument/2006/relationships/notesMaster" Target="/ppt/notesMasters/notesMaster1.xml" Id="R006448cbf4a6470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4627260a8af4f56" /><Relationship Type="http://schemas.openxmlformats.org/officeDocument/2006/relationships/notesMaster" Target="/ppt/notesMasters/notesMaster1.xml" Id="R4911bfcccc31485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483eecf97114245" /><Relationship Type="http://schemas.openxmlformats.org/officeDocument/2006/relationships/notesMaster" Target="/ppt/notesMasters/notesMaster1.xml" Id="Rf8c49c6a487547d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b5e734ee1f54815" /><Relationship Type="http://schemas.openxmlformats.org/officeDocument/2006/relationships/notesMaster" Target="/ppt/notesMasters/notesMaster1.xml" Id="R42f94b81864c461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7640ce3c82e40d9" /><Relationship Type="http://schemas.openxmlformats.org/officeDocument/2006/relationships/notesMaster" Target="/ppt/notesMasters/notesMaster1.xml" Id="R76cc7306a9bd423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2debf7c7e3f4452" /><Relationship Type="http://schemas.openxmlformats.org/officeDocument/2006/relationships/notesMaster" Target="/ppt/notesMasters/notesMaster1.xml" Id="Rc82f23d52e8d4f9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b2366b0a4504a40" /><Relationship Type="http://schemas.openxmlformats.org/officeDocument/2006/relationships/notesMaster" Target="/ppt/notesMasters/notesMaster1.xml" Id="R12cf7e9f999342d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ac30510dd9a479d" /><Relationship Type="http://schemas.openxmlformats.org/officeDocument/2006/relationships/notesMaster" Target="/ppt/notesMasters/notesMaster1.xml" Id="Rda72239f930444d0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67b680e91556463e" /><Relationship Type="http://schemas.openxmlformats.org/officeDocument/2006/relationships/notesMaster" Target="/ppt/notesMasters/notesMaster1.xml" Id="R4cc3e2ec0c8142b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63bb40bbaaf450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a5892430f35445f" /><Relationship Type="http://schemas.openxmlformats.org/officeDocument/2006/relationships/slideLayout" Target="/ppt/slideLayouts/slideLayout1.xml" Id="R046fd7fa10024c9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46fd7fa10024c9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6c43195f9145c8" /><Relationship Type="http://schemas.openxmlformats.org/officeDocument/2006/relationships/image" Target="/ppt/media/image.png" Id="R84c3baa140304701" /><Relationship Type="http://schemas.openxmlformats.org/officeDocument/2006/relationships/notesSlide" Target="/ppt/notesSlides/notesSlide1.xml" Id="R96f42e4c22ef47c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7a57ce1c824416" /><Relationship Type="http://schemas.openxmlformats.org/officeDocument/2006/relationships/notesSlide" Target="/ppt/notesSlides/notesSlide2.xml" Id="R586677cea199425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990511c67249b7" /><Relationship Type="http://schemas.openxmlformats.org/officeDocument/2006/relationships/notesSlide" Target="/ppt/notesSlides/notesSlide3.xml" Id="R279bc8219c17416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b00442382248b0" /><Relationship Type="http://schemas.openxmlformats.org/officeDocument/2006/relationships/image" Target="/ppt/media/image.jpeg" Id="R98a59482fd6f403f" /><Relationship Type="http://schemas.openxmlformats.org/officeDocument/2006/relationships/image" Target="/ppt/media/image2.jpeg" Id="Rf1b9a76ae96d421f" /><Relationship Type="http://schemas.openxmlformats.org/officeDocument/2006/relationships/image" Target="/ppt/media/image3.jpeg" Id="R6c7beb0d544b4440" /><Relationship Type="http://schemas.openxmlformats.org/officeDocument/2006/relationships/notesSlide" Target="/ppt/notesSlides/notesSlide4.xml" Id="Rc0697ce060ad428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10307f47e14e23" /><Relationship Type="http://schemas.openxmlformats.org/officeDocument/2006/relationships/image" Target="/ppt/media/image4.jpeg" Id="R10469fd66dc04dc7" /><Relationship Type="http://schemas.openxmlformats.org/officeDocument/2006/relationships/notesSlide" Target="/ppt/notesSlides/notesSlide5.xml" Id="R76d810eb720449c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039743f8b64dff" /><Relationship Type="http://schemas.openxmlformats.org/officeDocument/2006/relationships/image" Target="/ppt/media/image2.png" Id="R87d19e9719124d73" /><Relationship Type="http://schemas.openxmlformats.org/officeDocument/2006/relationships/notesSlide" Target="/ppt/notesSlides/notesSlide6.xml" Id="R32b54d6d9e184f1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891f9763af4fea" /><Relationship Type="http://schemas.openxmlformats.org/officeDocument/2006/relationships/notesSlide" Target="/ppt/notesSlides/notesSlide7.xml" Id="R0034cd846648453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78b95562634ff7" /><Relationship Type="http://schemas.openxmlformats.org/officeDocument/2006/relationships/notesSlide" Target="/ppt/notesSlides/notesSlide8.xml" Id="R1b27bbdcfce04d3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1f9350662243b7" /><Relationship Type="http://schemas.openxmlformats.org/officeDocument/2006/relationships/notesSlide" Target="/ppt/notesSlides/notesSlide9.xml" Id="R3e80808bf54b4f8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ad05989daa4c72" /><Relationship Type="http://schemas.openxmlformats.org/officeDocument/2006/relationships/image" Target="/ppt/media/image5.jpeg" Id="R46688558af0d4098" /><Relationship Type="http://schemas.openxmlformats.org/officeDocument/2006/relationships/notesSlide" Target="/ppt/notesSlides/notesSlide10.xml" Id="R897a173818b646f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dfdf817e73435f" /><Relationship Type="http://schemas.openxmlformats.org/officeDocument/2006/relationships/image" Target="/ppt/media/image3.png" Id="R5a547182b65c44aa" /><Relationship Type="http://schemas.openxmlformats.org/officeDocument/2006/relationships/notesSlide" Target="/ppt/notesSlides/notesSlide11.xml" Id="R5d944e00502446e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21ed446d0247bc" /><Relationship Type="http://schemas.openxmlformats.org/officeDocument/2006/relationships/image" Target="/ppt/media/image6.jpeg" Id="R185a48a860294383" /><Relationship Type="http://schemas.openxmlformats.org/officeDocument/2006/relationships/image" Target="/ppt/media/image4.png" Id="Rb53967dfb5a4439f" /><Relationship Type="http://schemas.openxmlformats.org/officeDocument/2006/relationships/image" Target="/ppt/media/image.svg" Id="R4fba977a40f94c19" /><Relationship Type="http://schemas.openxmlformats.org/officeDocument/2006/relationships/image" Target="/ppt/media/image5.png" Id="Re8a5a7c180654390" /><Relationship Type="http://schemas.openxmlformats.org/officeDocument/2006/relationships/image" Target="/ppt/media/image2.svg" Id="Re5cab0fabdfd4651" /><Relationship Type="http://schemas.openxmlformats.org/officeDocument/2006/relationships/image" Target="/ppt/media/image6.png" Id="R7c5d27095f4c4e9d" /><Relationship Type="http://schemas.openxmlformats.org/officeDocument/2006/relationships/image" Target="/ppt/media/image3.svg" Id="Rd544f871188a4c1c" /><Relationship Type="http://schemas.openxmlformats.org/officeDocument/2006/relationships/notesSlide" Target="/ppt/notesSlides/notesSlide12.xml" Id="R6054d9c5ef3e4be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ad64ebcf5e4b3f" /><Relationship Type="http://schemas.openxmlformats.org/officeDocument/2006/relationships/image" Target="/ppt/media/image7.png" Id="R3b538aa4840c4568" /><Relationship Type="http://schemas.openxmlformats.org/officeDocument/2006/relationships/image" Target="/ppt/media/image8.png" Id="R4ab4df4cf5854d08" /><Relationship Type="http://schemas.openxmlformats.org/officeDocument/2006/relationships/image" Target="/ppt/media/image4.svg" Id="R1460e88d67834c92" /><Relationship Type="http://schemas.openxmlformats.org/officeDocument/2006/relationships/image" Target="/ppt/media/image9.png" Id="R337b5e9f02f940db" /><Relationship Type="http://schemas.openxmlformats.org/officeDocument/2006/relationships/image" Target="/ppt/media/image5.svg" Id="Rac20fb61faf34f21" /><Relationship Type="http://schemas.openxmlformats.org/officeDocument/2006/relationships/image" Target="/ppt/media/image10.png" Id="R2b15a54121da4912" /><Relationship Type="http://schemas.openxmlformats.org/officeDocument/2006/relationships/image" Target="/ppt/media/image6.svg" Id="R4969db84c9bb4211" /><Relationship Type="http://schemas.openxmlformats.org/officeDocument/2006/relationships/notesSlide" Target="/ppt/notesSlides/notesSlide13.xml" Id="R27d43a9f3f454ae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21cda329e04775" /><Relationship Type="http://schemas.openxmlformats.org/officeDocument/2006/relationships/image" Target="/ppt/media/image7.jpeg" Id="R0725bc778a614735" /><Relationship Type="http://schemas.openxmlformats.org/officeDocument/2006/relationships/image" Target="/ppt/media/image11.png" Id="R18b37e0ef30445bf" /><Relationship Type="http://schemas.openxmlformats.org/officeDocument/2006/relationships/image" Target="/ppt/media/image7.svg" Id="R3c6264fb156d45e8" /><Relationship Type="http://schemas.openxmlformats.org/officeDocument/2006/relationships/notesSlide" Target="/ppt/notesSlides/notesSlide14.xml" Id="R7c78df6c1a4e40f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839970d9044bc6" /><Relationship Type="http://schemas.openxmlformats.org/officeDocument/2006/relationships/image" Target="/ppt/media/image8.jpeg" Id="R39d0820b82924ae9" /><Relationship Type="http://schemas.openxmlformats.org/officeDocument/2006/relationships/image" Target="/ppt/media/image12.png" Id="Rbb0e453a9bf84cf0" /><Relationship Type="http://schemas.openxmlformats.org/officeDocument/2006/relationships/image" Target="/ppt/media/image8.svg" Id="R9db88dd9492249db" /><Relationship Type="http://schemas.openxmlformats.org/officeDocument/2006/relationships/image" Target="/ppt/media/image13.png" Id="Rcaa8d55680bb4fda" /><Relationship Type="http://schemas.openxmlformats.org/officeDocument/2006/relationships/image" Target="/ppt/media/image9.svg" Id="R99e20d3f6c4f495a" /><Relationship Type="http://schemas.openxmlformats.org/officeDocument/2006/relationships/image" Target="/ppt/media/image14.png" Id="R0048929493a64eff" /><Relationship Type="http://schemas.openxmlformats.org/officeDocument/2006/relationships/image" Target="/ppt/media/image10.svg" Id="Raf796faa56584896" /><Relationship Type="http://schemas.openxmlformats.org/officeDocument/2006/relationships/notesSlide" Target="/ppt/notesSlides/notesSlide15.xml" Id="R2e00581fbba84ff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a53e5e49324e88" /><Relationship Type="http://schemas.openxmlformats.org/officeDocument/2006/relationships/image" Target="/ppt/media/image15.png" Id="R7a8d9df737d94a4f" /><Relationship Type="http://schemas.openxmlformats.org/officeDocument/2006/relationships/image" Target="/ppt/media/image16.png" Id="R0546ab83c2064c92" /><Relationship Type="http://schemas.openxmlformats.org/officeDocument/2006/relationships/image" Target="/ppt/media/image11.svg" Id="R0c54c31bfa0840b1" /><Relationship Type="http://schemas.openxmlformats.org/officeDocument/2006/relationships/image" Target="/ppt/media/image17.png" Id="R21580e46ed874e4e" /><Relationship Type="http://schemas.openxmlformats.org/officeDocument/2006/relationships/image" Target="/ppt/media/image12.svg" Id="R31dde988614e4ab8" /><Relationship Type="http://schemas.openxmlformats.org/officeDocument/2006/relationships/image" Target="/ppt/media/image18.png" Id="R6acba2b137744b48" /><Relationship Type="http://schemas.openxmlformats.org/officeDocument/2006/relationships/image" Target="/ppt/media/image13.svg" Id="Re090f6b70c7148fd" /><Relationship Type="http://schemas.openxmlformats.org/officeDocument/2006/relationships/notesSlide" Target="/ppt/notesSlides/notesSlide16.xml" Id="Rcce54f4cf7d444d5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8df3287e014320" /><Relationship Type="http://schemas.openxmlformats.org/officeDocument/2006/relationships/image" Target="/ppt/media/image9.jpeg" Id="Rde61b84dd9e74efb" /><Relationship Type="http://schemas.openxmlformats.org/officeDocument/2006/relationships/image" Target="/ppt/media/image19.png" Id="R6e353a044df34fe6" /><Relationship Type="http://schemas.openxmlformats.org/officeDocument/2006/relationships/image" Target="/ppt/media/image20.png" Id="R9a3213841fa1483e" /><Relationship Type="http://schemas.openxmlformats.org/officeDocument/2006/relationships/notesSlide" Target="/ppt/notesSlides/notesSlide17.xml" Id="R42a6f0d939404ef2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7E38D24-EF0C-4E65-ADAF-3E58831B8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C3D198-6655-41EF-A654-1C80E939B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"/>
            <a:ext cx="11163300" cy="582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E7D9C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945948-58BB-440B-AB41-594A4650C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"/>
            <a:ext cx="76200" cy="582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00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09E7C5-B83E-42B3-B5C8-07E9A8680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763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A2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DD5FDE-E939-49B6-A629-28593B7A7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83820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7A001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A0019"/>
                </a:solidFill>
                <a:latin typeface="Aptos"/>
                <a:ea typeface="Aptos"/>
                <a:cs typeface="Aptos"/>
              </a:rPr>
              <a:t>PROPOSAL FOR PILOT REVIEW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7D3731-9E57-4201-886F-97793901E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428750"/>
            <a:ext cx="3238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5400" b="1">
                <a:solidFill>
                  <a:srgbClr val="7A0019"/>
                </a:solidFill>
                <a:latin typeface="Aptos Display"/>
                <a:ea typeface="Aptos Display"/>
                <a:cs typeface="Aptos Display"/>
              </a:defRPr>
            </a:pPr>
            <a:r>
              <a:rPr sz="5400" b="1">
                <a:solidFill>
                  <a:srgbClr val="7A0019"/>
                </a:solidFill>
                <a:latin typeface="Aptos Display"/>
                <a:ea typeface="Aptos Display"/>
                <a:cs typeface="Aptos Display"/>
              </a:rPr>
              <a:t>Haki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E00EB3-B595-4992-B24E-7E87EDEF6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0300"/>
            <a:ext cx="4762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201416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01416"/>
                </a:solidFill>
                <a:latin typeface="Aptos"/>
                <a:ea typeface="Aptos"/>
                <a:cs typeface="Aptos"/>
              </a:rPr>
              <a:t>Offline student information assistant for TUP Taguig.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A0CE71-311F-4A03-B7BE-3032E1F29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09900"/>
            <a:ext cx="4476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6F626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F6262"/>
                </a:solidFill>
                <a:latin typeface="Aptos"/>
                <a:ea typeface="Aptos"/>
                <a:cs typeface="Aptos"/>
              </a:rPr>
              <a:t>A source-referenced, admin-governed campus guide proposed for supervised evaluation.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52022E-3E39-4556-B254-60C5C5CB2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10000"/>
            <a:ext cx="1352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CF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FA900B-EB29-4956-97F9-6C0A7D5FC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86200"/>
            <a:ext cx="11239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7A001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A0019"/>
                </a:solidFill>
                <a:latin typeface="Aptos"/>
                <a:ea typeface="Aptos"/>
                <a:cs typeface="Aptos"/>
              </a:rPr>
              <a:t>Offline-first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BB05D1-A435-4962-A234-8FCDA726C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810000"/>
            <a:ext cx="1695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CF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2F57D1-5EEE-4AC6-8D49-3B8C58202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886200"/>
            <a:ext cx="1466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7A001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A0019"/>
                </a:solidFill>
                <a:latin typeface="Aptos"/>
                <a:ea typeface="Aptos"/>
                <a:cs typeface="Aptos"/>
              </a:rPr>
              <a:t>Source-referenced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9AD7A1-4436-4084-8F25-A4DF605FB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810000"/>
            <a:ext cx="1562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CF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5D14CF-56F0-41F1-A376-430A24D53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886200"/>
            <a:ext cx="1333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7A001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A0019"/>
                </a:solidFill>
                <a:latin typeface="Aptos"/>
                <a:ea typeface="Aptos"/>
                <a:cs typeface="Aptos"/>
              </a:rPr>
              <a:t>Admin-governed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789713-88B6-4979-ACFC-478E69154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10150"/>
            <a:ext cx="4095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2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2C3670-A55C-4359-8679-FFF11CA8A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57800"/>
            <a:ext cx="409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0141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01416"/>
                </a:solidFill>
                <a:latin typeface="Aptos"/>
                <a:ea typeface="Aptos"/>
                <a:cs typeface="Aptos"/>
              </a:rPr>
              <a:t>Prepared for TUPT administrative evaluation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EDD297-A8D5-4001-B386-4D7E2671F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50545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F626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F6262"/>
                </a:solidFill>
                <a:latin typeface="Aptos"/>
                <a:ea typeface="Aptos"/>
                <a:cs typeface="Aptos"/>
              </a:rPr>
              <a:t>Joshua Retrita | BSIT 2025-2026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B617EB-9191-450A-8846-15D7B5235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096000"/>
            <a:ext cx="4095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6F6262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F6262"/>
                </a:solidFill>
                <a:latin typeface="Aptos"/>
                <a:ea typeface="Aptos"/>
                <a:cs typeface="Aptos"/>
              </a:rPr>
              <a:t>Haki proposal for TUPT administrative review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9D25F29-1BB3-48E6-AE26-91A04D5ED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99060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6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79FA8B-E90B-47D5-878F-76A0AB2FC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476750"/>
            <a:ext cx="259080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D9C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c3baa140304701"/>
          <a:stretch xmlns:a="http://schemas.openxmlformats.org/drawingml/2006/main"/>
        </p:blipFill>
        <p:spPr>
          <a:xfrm xmlns:a="http://schemas.openxmlformats.org/drawingml/2006/main">
            <a:off x="7279343" y="685800"/>
            <a:ext cx="3253064" cy="5200650"/>
          </a:xfrm>
          <a:prstGeom xmlns:a="http://schemas.openxmlformats.org/drawingml/2006/main" prst="rect">
            <a:avLst/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CE03004-BAB5-4D36-8DB6-BA943975C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5905500"/>
            <a:ext cx="3333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6F626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F6262"/>
                </a:solidFill>
                <a:latin typeface="Aptos"/>
                <a:ea typeface="Aptos"/>
                <a:cs typeface="Aptos"/>
              </a:rPr>
              <a:t>App-matched Haki mascot artwork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6B660F5-276C-4CAC-A047-6D5539BC2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096000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6F626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F6262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34544434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7090658-0184-476C-B299-DD9E6B97C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2-marker">
            <a:extLst xmlns:a="http://schemas.openxmlformats.org/drawingml/2006/main">
              <a:ext uri="{FF2B5EF4-FFF2-40B4-BE49-F238E27FC236}">
                <a16:creationId xmlns:a16="http://schemas.microsoft.com/office/drawing/2014/main" id="{A2CBAE98-0910-4A17-8F55-DAA752927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29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A00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2-label">
            <a:extLst xmlns:a="http://schemas.openxmlformats.org/drawingml/2006/main">
              <a:ext uri="{FF2B5EF4-FFF2-40B4-BE49-F238E27FC236}">
                <a16:creationId xmlns:a16="http://schemas.microsoft.com/office/drawing/2014/main" id="{44819C39-8271-4D34-A410-C9B0F4E44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4000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7A0019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7A0019"/>
                </a:solidFill>
                <a:latin typeface="Aptos"/>
                <a:ea typeface="Aptos"/>
                <a:cs typeface="Aptos"/>
              </a:rPr>
              <a:t>THE CAMPUS SERVICE PROBLEM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AA1975-0837-411B-8590-19E2042D4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8200"/>
            <a:ext cx="7239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201416"/>
                </a:solidFill>
                <a:latin typeface="Aptos Display"/>
                <a:ea typeface="Aptos Display"/>
                <a:cs typeface="Aptos Display"/>
              </a:defRPr>
            </a:pPr>
            <a:r>
              <a:rPr sz="3225" b="1">
                <a:solidFill>
                  <a:srgbClr val="201416"/>
                </a:solidFill>
                <a:latin typeface="Aptos Display"/>
                <a:ea typeface="Aptos Display"/>
                <a:cs typeface="Aptos Display"/>
              </a:rPr>
              <a:t>The friction is not a lack of information. It is access.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57ED53-6A71-46BA-AF35-1359CB74A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66900"/>
            <a:ext cx="6096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F626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F6262"/>
                </a:solidFill>
                <a:latin typeface="Aptos"/>
                <a:ea typeface="Aptos"/>
                <a:cs typeface="Aptos"/>
              </a:rPr>
              <a:t>Students often need simple guidance, but the answer may live across office posts, pages, documents, and informal advice.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2851D4-A3EF-4B8B-8151-29B3A41BD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47950"/>
            <a:ext cx="3124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CF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C3E161-B691-4D28-9FF5-DCCE95B23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003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A00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472BC2-BBF3-470E-B51C-028FB3C1D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67025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7292F6-DF77-4313-8C27-247396890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80035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0141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01416"/>
                </a:solidFill>
                <a:latin typeface="Aptos"/>
                <a:ea typeface="Aptos"/>
                <a:cs typeface="Aptos"/>
              </a:rPr>
              <a:t>Information is scattered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00750B-E2DE-4350-892A-A3145CF4C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086100"/>
            <a:ext cx="2381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F626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6262"/>
                </a:solidFill>
                <a:latin typeface="Aptos"/>
                <a:ea typeface="Aptos"/>
                <a:cs typeface="Aptos"/>
              </a:rPr>
              <a:t>Office posts, pages, handbooks, room lists, and student hearsay are not one searchable service.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379737-F1F7-48FB-A06E-98BC66582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647950"/>
            <a:ext cx="3124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CF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C2C2F7-D579-49F2-9307-6396DF48A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8003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A2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8D240D-39F3-42D5-858E-1C8ECC305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867025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98CF4E-BD90-4E58-9CE2-DC7387671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80035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0141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01416"/>
                </a:solidFill>
                <a:latin typeface="Aptos"/>
                <a:ea typeface="Aptos"/>
                <a:cs typeface="Aptos"/>
              </a:rPr>
              <a:t>Students ask repeatedly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B723EA-B463-4755-90DF-44DC48244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086100"/>
            <a:ext cx="2381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F626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6262"/>
                </a:solidFill>
                <a:latin typeface="Aptos"/>
                <a:ea typeface="Aptos"/>
                <a:cs typeface="Aptos"/>
              </a:rPr>
              <a:t>Basic questions reach front desks, classmates, group chats, or the wrong office.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DEDD0D-C295-4351-95C7-26C7BBADD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47950"/>
            <a:ext cx="3124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CF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F62045-0FC6-4B10-9969-CACCD38E3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8003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5E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C16F851-254C-4182-8DD5-348EBA431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867025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C1FD45D-F510-46A0-85B4-CBD0E3558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80035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0141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01416"/>
                </a:solidFill>
                <a:latin typeface="Aptos"/>
                <a:ea typeface="Aptos"/>
                <a:cs typeface="Aptos"/>
              </a:rPr>
              <a:t>Offices absorb avoidable load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6703A6-5F7C-4F60-AC6D-924F15878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086100"/>
            <a:ext cx="2381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F626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6262"/>
                </a:solidFill>
                <a:latin typeface="Aptos"/>
                <a:ea typeface="Aptos"/>
                <a:cs typeface="Aptos"/>
              </a:rPr>
              <a:t>Staff still become the last-mile explanation layer for routine campus guidance.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E880546-F54E-4E59-9B6E-083122982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167063"/>
            <a:ext cx="6381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2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393F3AB-01D4-42C6-95E3-C45C93A97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133725"/>
            <a:ext cx="857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2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1069E9D-98F2-4F75-82E9-55978A8D0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167063"/>
            <a:ext cx="6381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2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EEA2A90-19BD-4C84-9765-650FAA2D3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3133725"/>
            <a:ext cx="857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2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6A70E7F-E352-4582-AC3D-988821725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57700"/>
            <a:ext cx="107823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0019"/>
          </a:solidFill>
          <a:ln xmlns:a="http://schemas.openxmlformats.org/drawingml/2006/main" w="9525">
            <a:solidFill>
              <a:srgbClr val="7A0019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17505D8-5D54-4903-9E2C-F060900CC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6725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FFF3C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3C7"/>
                </a:solidFill>
                <a:latin typeface="Aptos"/>
                <a:ea typeface="Aptos"/>
                <a:cs typeface="Aptos"/>
              </a:rPr>
              <a:t>Presentation stance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5F30FA9-CA9E-4904-940D-0536022E6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933950"/>
            <a:ext cx="8572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Evaluate Haki as a student service layer first; treat AI as optional support.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7ED5221-3828-4E63-95AC-8FC8B6E5A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543550"/>
            <a:ext cx="838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F8E6E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8E6EC"/>
                </a:solidFill>
                <a:latin typeface="Aptos"/>
                <a:ea typeface="Aptos"/>
                <a:cs typeface="Aptos"/>
              </a:rPr>
              <a:t>This framing keeps the discussion practical: accuracy, ownership, privacy, maintainability, and pilot governance.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57C9BDD-4F79-4637-90EE-04B4C2179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495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6F6262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F6262"/>
                </a:solidFill>
                <a:latin typeface="Aptos"/>
                <a:ea typeface="Aptos"/>
                <a:cs typeface="Aptos"/>
              </a:rPr>
              <a:t>Haki proposal for TUPT administrative review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17EA7A3-57F3-4081-A22F-A140A6717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86525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6F626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F6262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87996368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1CF356E-4C92-4E19-BEED-8DF2EFA20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3-marker">
            <a:extLst xmlns:a="http://schemas.openxmlformats.org/drawingml/2006/main">
              <a:ext uri="{FF2B5EF4-FFF2-40B4-BE49-F238E27FC236}">
                <a16:creationId xmlns:a16="http://schemas.microsoft.com/office/drawing/2014/main" id="{8DE7567E-A02F-45AE-95AB-D33DCFCED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29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A00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3-label">
            <a:extLst xmlns:a="http://schemas.openxmlformats.org/drawingml/2006/main">
              <a:ext uri="{FF2B5EF4-FFF2-40B4-BE49-F238E27FC236}">
                <a16:creationId xmlns:a16="http://schemas.microsoft.com/office/drawing/2014/main" id="{698EF9E1-C646-49FB-A2BE-94B000C71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4000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7A0019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7A0019"/>
                </a:solidFill>
                <a:latin typeface="Aptos"/>
                <a:ea typeface="Aptos"/>
                <a:cs typeface="Aptos"/>
              </a:rPr>
              <a:t>WHAT HAKI ACTUALLY IS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A36DD3-7BA2-4E15-8637-964CF3A9F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8200"/>
            <a:ext cx="8001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201416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201416"/>
                </a:solidFill>
                <a:latin typeface="Aptos Display"/>
                <a:ea typeface="Aptos Display"/>
                <a:cs typeface="Aptos Display"/>
              </a:rPr>
              <a:t>Haki answers from approved local sources before it ever needs AI.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DD709E-FC24-42ED-A7B9-4CC92519A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05050"/>
            <a:ext cx="2381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CF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755E41-693F-479F-883F-2F060D66C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05050"/>
            <a:ext cx="666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00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BCC816-A21E-4BB2-A14D-008913A74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76500"/>
            <a:ext cx="20764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0141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01416"/>
                </a:solidFill>
                <a:latin typeface="Aptos"/>
                <a:ea typeface="Aptos"/>
                <a:cs typeface="Aptos"/>
              </a:rPr>
              <a:t>TUPT-approved source package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871D15-6433-4F42-A565-777FE4ABB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33700"/>
            <a:ext cx="20764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F626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6262"/>
                </a:solidFill>
                <a:latin typeface="Aptos"/>
                <a:ea typeface="Aptos"/>
                <a:cs typeface="Aptos"/>
              </a:rPr>
              <a:t>Documents, procedures, office guidance, citations, and update dates selected by Administration.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9EDDAA-2B12-43EB-9143-B0F42AC83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305050"/>
            <a:ext cx="2381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CF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E31D45-3669-4078-B750-0CCBEA53C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305050"/>
            <a:ext cx="666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2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1B3D6F-91A3-41B7-9B5E-66F4BE2C3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476500"/>
            <a:ext cx="20764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0141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01416"/>
                </a:solidFill>
                <a:latin typeface="Aptos"/>
                <a:ea typeface="Aptos"/>
                <a:cs typeface="Aptos"/>
              </a:rPr>
              <a:t>On-device SQLite + FTS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6FAB93-8EB5-431C-8BBA-6D649E519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933700"/>
            <a:ext cx="20764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F626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6262"/>
                </a:solidFill>
                <a:latin typeface="Aptos"/>
                <a:ea typeface="Aptos"/>
                <a:cs typeface="Aptos"/>
              </a:rPr>
              <a:t>Searchable local index works offline and remains the baseline even without a model.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0886AE-22BF-46C3-B3F2-C54A934ED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305050"/>
            <a:ext cx="2381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CF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E2F41C-D84D-4D40-9377-ABA8F03D9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305050"/>
            <a:ext cx="666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2BEF0D-7BC9-48E7-84B7-6714947E1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476500"/>
            <a:ext cx="20764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0141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01416"/>
                </a:solidFill>
                <a:latin typeface="Aptos"/>
                <a:ea typeface="Aptos"/>
                <a:cs typeface="Aptos"/>
              </a:rPr>
              <a:t>Source answer builder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7C7C20-A5B7-440D-AA2F-D65B0B349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933700"/>
            <a:ext cx="20764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F626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6262"/>
                </a:solidFill>
                <a:latin typeface="Aptos"/>
                <a:ea typeface="Aptos"/>
                <a:cs typeface="Aptos"/>
              </a:rPr>
              <a:t>Ranks results, checks confidence, and formats the answer with citations.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A41711-33AA-4779-90B5-A3DCDB05E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305050"/>
            <a:ext cx="1714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CF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D6DD7A-A9A8-4F9A-A1F3-1C90A162B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305050"/>
            <a:ext cx="666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E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47EDCC7-48C5-4B1F-B35B-0DDD64C59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476500"/>
            <a:ext cx="1409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0141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01416"/>
                </a:solidFill>
                <a:latin typeface="Aptos"/>
                <a:ea typeface="Aptos"/>
                <a:cs typeface="Aptos"/>
              </a:rPr>
              <a:t>Student surfaces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61D721-05B3-4239-9BB8-31B225237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933700"/>
            <a:ext cx="1409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F626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6262"/>
                </a:solidFill>
                <a:latin typeface="Aptos"/>
                <a:ea typeface="Aptos"/>
                <a:cs typeface="Aptos"/>
              </a:rPr>
              <a:t>Chat, Service Desk, Library, Map, and other app screens expose the guidance.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3AA0851-E9DF-470A-B589-4709080EB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005138"/>
            <a:ext cx="5810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2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5C9CBDE-8B47-43BB-8BD8-9FE704193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971800"/>
            <a:ext cx="857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2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E35271A-7E3B-45FF-9902-3DE07F11C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05138"/>
            <a:ext cx="5810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2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F938C56-C662-4084-BFFF-6CE2929B2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2971800"/>
            <a:ext cx="857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2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675E72B-92E3-403E-9421-795993754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005138"/>
            <a:ext cx="5810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2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CCC3FF8-698A-4BFC-B719-4CCCF1680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2971800"/>
            <a:ext cx="857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2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A56B3B1-8233-4F46-BB25-1B61EE6FE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362450"/>
            <a:ext cx="92202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C7"/>
          </a:solidFill>
          <a:ln xmlns:a="http://schemas.openxmlformats.org/drawingml/2006/main" w="9525">
            <a:solidFill>
              <a:srgbClr val="E3C45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916C491-2033-472D-BB6C-A0ACB45C1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572000"/>
            <a:ext cx="2190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7A0019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A0019"/>
                </a:solidFill>
                <a:latin typeface="Aptos"/>
                <a:ea typeface="Aptos"/>
                <a:cs typeface="Aptos"/>
              </a:rPr>
              <a:t>Optional local AI lane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665D1E1-E1BE-4593-974D-53F20962C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876800"/>
            <a:ext cx="7239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20141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201416"/>
                </a:solidFill>
                <a:latin typeface="Aptos"/>
                <a:ea typeface="Aptos"/>
                <a:cs typeface="Aptos"/>
              </a:rPr>
              <a:t>Compatible downloaded model -&gt; supportive/general chat and local summarization only when safe. Official campus procedures still come from saved sources.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DA1192F-21E7-4D7F-97D0-516D58DD6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686300"/>
            <a:ext cx="876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A21E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B40932C-92A1-47DA-BEAC-CC167A391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810125"/>
            <a:ext cx="647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7A001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A0019"/>
                </a:solidFill>
                <a:latin typeface="Aptos"/>
                <a:ea typeface="Aptos"/>
                <a:cs typeface="Aptos"/>
              </a:rPr>
              <a:t>AI is optional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AB7AD33-9832-40B6-A758-75EB61A91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495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6F6262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F6262"/>
                </a:solidFill>
                <a:latin typeface="Aptos"/>
                <a:ea typeface="Aptos"/>
                <a:cs typeface="Aptos"/>
              </a:rPr>
              <a:t>Haki proposal for TUPT administrative review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72BE60E-FF0F-45DF-8117-655116FAF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86525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6F626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F6262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77329013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A0DB57F-1D2F-4F2E-8634-59FE8EFC7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4-marker">
            <a:extLst xmlns:a="http://schemas.openxmlformats.org/drawingml/2006/main">
              <a:ext uri="{FF2B5EF4-FFF2-40B4-BE49-F238E27FC236}">
                <a16:creationId xmlns:a16="http://schemas.microsoft.com/office/drawing/2014/main" id="{1D96F415-63E4-4FE8-A8C1-5E731FED4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29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A00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4-label">
            <a:extLst xmlns:a="http://schemas.openxmlformats.org/drawingml/2006/main">
              <a:ext uri="{FF2B5EF4-FFF2-40B4-BE49-F238E27FC236}">
                <a16:creationId xmlns:a16="http://schemas.microsoft.com/office/drawing/2014/main" id="{BC8698C9-5B68-46D0-A264-DE30C8C2B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4000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7A0019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7A0019"/>
                </a:solidFill>
                <a:latin typeface="Aptos"/>
                <a:ea typeface="Aptos"/>
                <a:cs typeface="Aptos"/>
              </a:rPr>
              <a:t>STUDENT JOURNEY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7CC58A-B788-4318-B67E-52B7B53AD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8200"/>
            <a:ext cx="8572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201416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201416"/>
                </a:solidFill>
                <a:latin typeface="Aptos Display"/>
                <a:ea typeface="Aptos Display"/>
                <a:cs typeface="Aptos Display"/>
              </a:rPr>
              <a:t>A student can move from question to source-backed next step in one flow.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ACE3F5-CBF7-489A-BB8C-22DD14071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00250"/>
            <a:ext cx="2057400" cy="3676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316"/>
          </a:solidFill>
          <a:ln xmlns:a="http://schemas.openxmlformats.org/drawingml/2006/main" w="9525">
            <a:solidFill>
              <a:srgbClr val="2E2226"/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a59482fd6f403f"/>
          <a:stretch xmlns:a="http://schemas.openxmlformats.org/drawingml/2006/main"/>
        </p:blipFill>
        <p:spPr>
          <a:xfrm xmlns:a="http://schemas.openxmlformats.org/drawingml/2006/main">
            <a:off x="1112610" y="2076450"/>
            <a:ext cx="1584781" cy="35242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5761FE-9B26-44EB-854B-9CA129196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771650"/>
            <a:ext cx="2266950" cy="405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316"/>
          </a:solidFill>
          <a:ln xmlns:a="http://schemas.openxmlformats.org/drawingml/2006/main" w="9525">
            <a:solidFill>
              <a:srgbClr val="2E2226"/>
            </a:solidFill>
            <a:prstDash val="solid"/>
          </a:ln>
        </p:spPr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b9a76ae96d421f"/>
          <a:stretch xmlns:a="http://schemas.openxmlformats.org/drawingml/2006/main"/>
        </p:blipFill>
        <p:spPr>
          <a:xfrm xmlns:a="http://schemas.openxmlformats.org/drawingml/2006/main">
            <a:off x="5208592" y="1847850"/>
            <a:ext cx="1755766" cy="39052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648F28-F506-446D-B642-440A6CA32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000250"/>
            <a:ext cx="2057400" cy="3676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316"/>
          </a:solidFill>
          <a:ln xmlns:a="http://schemas.openxmlformats.org/drawingml/2006/main" w="9525">
            <a:solidFill>
              <a:srgbClr val="2E2226"/>
            </a:solidFill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7beb0d544b4440"/>
          <a:stretch xmlns:a="http://schemas.openxmlformats.org/drawingml/2006/main"/>
        </p:blipFill>
        <p:spPr>
          <a:xfrm xmlns:a="http://schemas.openxmlformats.org/drawingml/2006/main">
            <a:off x="9361093" y="2076450"/>
            <a:ext cx="1585113" cy="35242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30C9D8-84EF-49B5-89D4-35030FE7E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681413"/>
            <a:ext cx="15144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2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2F8CBF-DBF7-4AE9-B322-27AC74516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3648075"/>
            <a:ext cx="857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2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5AFFE9-B7D3-4200-9BA2-9FF92A56B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681413"/>
            <a:ext cx="14001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2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389955-1A4E-4CA2-81A9-78C50C6F2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3648075"/>
            <a:ext cx="857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2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422178-03D8-4A8C-860E-F0F03A92F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810250"/>
            <a:ext cx="2057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6F626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F6262"/>
                </a:solidFill>
                <a:latin typeface="Aptos"/>
                <a:ea typeface="Aptos"/>
                <a:cs typeface="Aptos"/>
              </a:rPr>
              <a:t>1. Student home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FE17D4-C700-4084-8EF6-E8A494BDD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962650"/>
            <a:ext cx="2266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6F626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F6262"/>
                </a:solidFill>
                <a:latin typeface="Aptos"/>
                <a:ea typeface="Aptos"/>
                <a:cs typeface="Aptos"/>
              </a:rPr>
              <a:t>2. Source-backed chat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469A52-4950-4558-BF38-97207D2AD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5810250"/>
            <a:ext cx="2057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6F626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F6262"/>
                </a:solidFill>
                <a:latin typeface="Aptos"/>
                <a:ea typeface="Aptos"/>
                <a:cs typeface="Aptos"/>
              </a:rPr>
              <a:t>3. Service desk topics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67790F-0DEF-421A-90D8-C1270B3A9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6172200"/>
            <a:ext cx="4838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A21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6EF9CD-AC87-4736-A31B-C681D97BB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6238875"/>
            <a:ext cx="46101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938" b="1">
                <a:solidFill>
                  <a:srgbClr val="7A0019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7A0019"/>
                </a:solidFill>
                <a:latin typeface="Aptos"/>
                <a:ea typeface="Aptos"/>
                <a:cs typeface="Aptos"/>
              </a:rPr>
              <a:t>No backend required for campus source search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F214542-C037-4BA5-8FDF-CEB4B6F6E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495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6F6262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F6262"/>
                </a:solidFill>
                <a:latin typeface="Aptos"/>
                <a:ea typeface="Aptos"/>
                <a:cs typeface="Aptos"/>
              </a:rPr>
              <a:t>Haki proposal for TUPT administrative review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86E8EE0-01A4-433B-BC0C-5D01B965C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86525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6F626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F6262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90387988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B219236-2119-42FD-A702-F284AC4A0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5-marker">
            <a:extLst xmlns:a="http://schemas.openxmlformats.org/drawingml/2006/main">
              <a:ext uri="{FF2B5EF4-FFF2-40B4-BE49-F238E27FC236}">
                <a16:creationId xmlns:a16="http://schemas.microsoft.com/office/drawing/2014/main" id="{935AFF6A-D526-4A0E-88C1-36AB236E1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29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A00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5-label">
            <a:extLst xmlns:a="http://schemas.openxmlformats.org/drawingml/2006/main">
              <a:ext uri="{FF2B5EF4-FFF2-40B4-BE49-F238E27FC236}">
                <a16:creationId xmlns:a16="http://schemas.microsoft.com/office/drawing/2014/main" id="{8717107F-51E9-4293-B8CC-AF1219608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4000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7A0019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7A0019"/>
                </a:solidFill>
                <a:latin typeface="Aptos"/>
                <a:ea typeface="Aptos"/>
                <a:cs typeface="Aptos"/>
              </a:rPr>
              <a:t>TRUST MODEL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8007A0-37B8-4CBF-B42E-2F293E2C8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8200"/>
            <a:ext cx="7810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201416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201416"/>
                </a:solidFill>
                <a:latin typeface="Aptos Display"/>
                <a:ea typeface="Aptos Display"/>
                <a:cs typeface="Aptos Display"/>
              </a:rPr>
              <a:t>Citations make Haki auditable instead of a black-box chatbot.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19F807-D4C7-4A36-89C8-12C3C72FD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943100"/>
            <a:ext cx="25717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316"/>
          </a:solidFill>
          <a:ln xmlns:a="http://schemas.openxmlformats.org/drawingml/2006/main" w="9525">
            <a:solidFill>
              <a:srgbClr val="2E2226"/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469fd66dc04dc7"/>
          <a:stretch xmlns:a="http://schemas.openxmlformats.org/drawingml/2006/main"/>
        </p:blipFill>
        <p:spPr>
          <a:xfrm xmlns:a="http://schemas.openxmlformats.org/drawingml/2006/main">
            <a:off x="1294777" y="2019300"/>
            <a:ext cx="1772896" cy="39433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F3BDA1-14CC-4D10-9F49-0160CB83C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34100"/>
            <a:ext cx="2571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6F626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F6262"/>
                </a:solidFill>
                <a:latin typeface="Aptos"/>
                <a:ea typeface="Aptos"/>
                <a:cs typeface="Aptos"/>
              </a:rPr>
              <a:t>Campus answer with source panel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634CA0-1C76-43FB-9E98-4CA725E22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981200"/>
            <a:ext cx="31432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CF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F87AE5-A1D1-42C5-A791-FC491DC79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981200"/>
            <a:ext cx="3143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00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C78733-D031-48F3-897F-F93D3444B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152650"/>
            <a:ext cx="2838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0141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01416"/>
                </a:solidFill>
                <a:latin typeface="Aptos"/>
                <a:ea typeface="Aptos"/>
                <a:cs typeface="Aptos"/>
              </a:rPr>
              <a:t>Student sees the answer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8B6D6A-ECDB-413C-BC53-E169FB746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409825"/>
            <a:ext cx="28384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F626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F6262"/>
                </a:solidFill>
                <a:latin typeface="Aptos"/>
                <a:ea typeface="Aptos"/>
                <a:cs typeface="Aptos"/>
              </a:rPr>
              <a:t>The response is phrased for student action, not as raw database text.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027AF5-8B75-4B17-B4FC-A6A018F21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971800"/>
            <a:ext cx="31432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CF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3AC40B-AA84-4186-AC7A-F7BBACC3B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971800"/>
            <a:ext cx="3143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2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EF994D-5A7C-4058-ABBF-54A129CFA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143250"/>
            <a:ext cx="2838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0141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01416"/>
                </a:solidFill>
                <a:latin typeface="Aptos"/>
                <a:ea typeface="Aptos"/>
                <a:cs typeface="Aptos"/>
              </a:rPr>
              <a:t>Admin can inspect evidence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D1D416-895C-4ED6-9FBE-B79767FD2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400425"/>
            <a:ext cx="28384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F626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F6262"/>
                </a:solidFill>
                <a:latin typeface="Aptos"/>
                <a:ea typeface="Aptos"/>
                <a:cs typeface="Aptos"/>
              </a:rPr>
              <a:t>The source card names the campus document, office, and citation used by the answer.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22C063-7C23-4AE3-95BB-BB95D7BFB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229100"/>
            <a:ext cx="31432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CF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CA035D-E372-4FE9-A52A-C0B557B1C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229100"/>
            <a:ext cx="3143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3A275E-7C31-4971-A9D2-D1D9E02B9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400550"/>
            <a:ext cx="2838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0141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01416"/>
                </a:solidFill>
                <a:latin typeface="Aptos"/>
                <a:ea typeface="Aptos"/>
                <a:cs typeface="Aptos"/>
              </a:rPr>
              <a:t>Missing source is a signal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5C5C1C6-E5C0-405D-AA42-1CE09725C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657725"/>
            <a:ext cx="28384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F626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F6262"/>
                </a:solidFill>
                <a:latin typeface="Aptos"/>
                <a:ea typeface="Aptos"/>
                <a:cs typeface="Aptos"/>
              </a:rPr>
              <a:t>If official content is weak or absent, the right response is review or clarification, not guessing.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F08F5F2-FE5B-4238-8158-55CE493C4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724150"/>
            <a:ext cx="742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00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0D5ACE8-1EF4-4741-86F1-2CBD3A304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743450"/>
            <a:ext cx="742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2458F80-F5B8-4DED-81A3-BEC9989D8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695700"/>
            <a:ext cx="190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2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1EC0DD6-34AF-45F7-8E42-D84AE6E5B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5657850"/>
            <a:ext cx="6572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0141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01416"/>
                </a:solidFill>
                <a:latin typeface="Aptos"/>
                <a:ea typeface="Aptos"/>
                <a:cs typeface="Aptos"/>
              </a:rPr>
              <a:t>The pitch point: Haki is safer when it behaves like a controlled reference system, not a model pretending to know policy.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E5163F7-2A00-464B-A128-5DD27BB64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495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6F6262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F6262"/>
                </a:solidFill>
                <a:latin typeface="Aptos"/>
                <a:ea typeface="Aptos"/>
                <a:cs typeface="Aptos"/>
              </a:rPr>
              <a:t>Haki proposal for TUPT administrative review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C5E427F-6156-4CE4-B14C-E7BDEA74D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86525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6F626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F6262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32242474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F42B410-7ABA-42E6-A1F4-13C80D050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00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6-marker">
            <a:extLst xmlns:a="http://schemas.openxmlformats.org/drawingml/2006/main">
              <a:ext uri="{FF2B5EF4-FFF2-40B4-BE49-F238E27FC236}">
                <a16:creationId xmlns:a16="http://schemas.microsoft.com/office/drawing/2014/main" id="{3B3060A7-0ED0-4F63-8F24-28F49CE69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29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A2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6-label">
            <a:extLst xmlns:a="http://schemas.openxmlformats.org/drawingml/2006/main">
              <a:ext uri="{FF2B5EF4-FFF2-40B4-BE49-F238E27FC236}">
                <a16:creationId xmlns:a16="http://schemas.microsoft.com/office/drawing/2014/main" id="{309DA9C5-54FC-451B-BACD-A02E29CE8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4000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FFF3C7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FFF3C7"/>
                </a:solidFill>
                <a:latin typeface="Aptos"/>
                <a:ea typeface="Aptos"/>
                <a:cs typeface="Aptos"/>
              </a:rPr>
              <a:t>PRIVACY AND INFRASTRUCTURE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87E901-7E42-42D3-B3B0-528127BA9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8200"/>
            <a:ext cx="7429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30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0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Offline-first design lowers privacy and infrastructure risk.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EA9B04-BEAE-4AED-83D3-A69200533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14500"/>
            <a:ext cx="6667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6E2E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6E2E8"/>
                </a:solidFill>
                <a:latin typeface="Aptos"/>
                <a:ea typeface="Aptos"/>
                <a:cs typeface="Aptos"/>
              </a:rPr>
              <a:t>The proposal positions Haki as a local device app: no external chat API, no cloud database, and no server dependency for campus source search.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D5BE63-D44D-4EFA-A461-D1A7A1D73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47950"/>
            <a:ext cx="6172200" cy="2495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0012"/>
          </a:solidFill>
          <a:ln xmlns:a="http://schemas.openxmlformats.org/drawingml/2006/main" w="9525">
            <a:solidFill>
              <a:srgbClr val="9F2A4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6AE4A3-B364-40EE-BDB3-0404BB0E8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914650"/>
            <a:ext cx="2857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FFF3C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3C7"/>
                </a:solidFill>
                <a:latin typeface="Aptos"/>
                <a:ea typeface="Aptos"/>
                <a:cs typeface="Aptos"/>
              </a:rPr>
              <a:t>Inside the student's phone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AB9F7C-CF40-4B64-B702-42E1BCCF7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AE7C6F-BD3A-4A47-8922-88B6342C4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352800"/>
            <a:ext cx="485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Saved campus guide: Approved documents and citations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A3C8AA-0B3E-4CDA-AFAC-37A85C529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909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C61B9E-1C48-414D-88AE-2475EEFB3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752850"/>
            <a:ext cx="485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SQLite source search: Fast offline retrieval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9AEEE5-19BD-4D00-A423-871003FE6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910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2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8A0786-46FA-491C-BC1D-6FA31F1FB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152900"/>
            <a:ext cx="485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Optional local model: Downloaded only on compatible devices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DB8FC2-9CE1-48B3-A176-78BF67D2A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910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A6FDDD-EADE-4070-9F85-C39D4DD6A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552950"/>
            <a:ext cx="485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Profile/history controls: Local settings, not external server state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9C682C-52A2-463F-9893-BE6093CC3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1965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FFF3C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3C7"/>
                </a:solidFill>
                <a:latin typeface="Aptos"/>
                <a:ea typeface="Aptos"/>
                <a:cs typeface="Aptos"/>
              </a:rPr>
              <a:t>Official web pages remain the source for real-time announcements.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667019-0A2D-4AD4-967F-EE9BF26CC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181100"/>
            <a:ext cx="2362200" cy="483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316"/>
          </a:solidFill>
          <a:ln xmlns:a="http://schemas.openxmlformats.org/drawingml/2006/main" w="9525">
            <a:solidFill>
              <a:srgbClr val="2E2226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d19e9719124d73"/>
          <a:stretch xmlns:a="http://schemas.openxmlformats.org/drawingml/2006/main"/>
        </p:blipFill>
        <p:spPr>
          <a:xfrm xmlns:a="http://schemas.openxmlformats.org/drawingml/2006/main">
            <a:off x="8224467" y="1257300"/>
            <a:ext cx="2105767" cy="4686300"/>
          </a:xfrm>
          <a:prstGeom xmlns:a="http://schemas.openxmlformats.org/drawingml/2006/main" prst="rect">
            <a:avLst/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823CE41-A7CF-450B-8848-70A2FFC86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115050"/>
            <a:ext cx="2362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F6E2E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6E2E8"/>
                </a:solidFill>
                <a:latin typeface="Aptos"/>
                <a:ea typeface="Aptos"/>
                <a:cs typeface="Aptos"/>
              </a:rPr>
              <a:t>Device-aware local model screen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19842FF-6DBD-4757-9990-534007ACE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495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F4DCE3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F4DCE3"/>
                </a:solidFill>
                <a:latin typeface="Aptos"/>
                <a:ea typeface="Aptos"/>
                <a:cs typeface="Aptos"/>
              </a:rPr>
              <a:t>Haki proposal for TUPT administrative review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80D5628-497D-4A7F-9651-F14639795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86525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F4DCE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4DCE3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63331435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D969066-255E-407C-AFEA-B1B5E1038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7-marker">
            <a:extLst xmlns:a="http://schemas.openxmlformats.org/drawingml/2006/main">
              <a:ext uri="{FF2B5EF4-FFF2-40B4-BE49-F238E27FC236}">
                <a16:creationId xmlns:a16="http://schemas.microsoft.com/office/drawing/2014/main" id="{8D98DB69-2003-471E-80AD-11AE395D7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29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A00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7-label">
            <a:extLst xmlns:a="http://schemas.openxmlformats.org/drawingml/2006/main">
              <a:ext uri="{FF2B5EF4-FFF2-40B4-BE49-F238E27FC236}">
                <a16:creationId xmlns:a16="http://schemas.microsoft.com/office/drawing/2014/main" id="{807E463C-8BF6-4690-BE25-2F9BC8CBE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4000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7A0019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7A0019"/>
                </a:solidFill>
                <a:latin typeface="Aptos"/>
                <a:ea typeface="Aptos"/>
                <a:cs typeface="Aptos"/>
              </a:rPr>
              <a:t>ADMIN GOVERNANCE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57AAD4-C519-435E-8265-9CC966D63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8200"/>
            <a:ext cx="8096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3075" b="1">
                <a:solidFill>
                  <a:srgbClr val="201416"/>
                </a:solidFill>
                <a:latin typeface="Aptos Display"/>
                <a:ea typeface="Aptos Display"/>
                <a:cs typeface="Aptos Display"/>
              </a:defRPr>
            </a:pPr>
            <a:r>
              <a:rPr sz="3075" b="1">
                <a:solidFill>
                  <a:srgbClr val="201416"/>
                </a:solidFill>
                <a:latin typeface="Aptos Display"/>
                <a:ea typeface="Aptos Display"/>
                <a:cs typeface="Aptos Display"/>
              </a:rPr>
              <a:t>TUPT keeps ownership of the content and release decision.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B992D4-8E63-4760-BCFB-3F4683807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71700"/>
            <a:ext cx="238125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CF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3C0E0C-86AC-47F9-91B4-C6C0D9091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71700"/>
            <a:ext cx="2381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00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B698FC-64AF-4A08-8056-29EDA05ED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0300"/>
            <a:ext cx="2038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201416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01416"/>
                </a:solidFill>
                <a:latin typeface="Aptos"/>
                <a:ea typeface="Aptos"/>
                <a:cs typeface="Aptos"/>
              </a:rPr>
              <a:t>Administration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29F03C-1737-4341-9281-AE953C363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14650"/>
            <a:ext cx="20383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F626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6262"/>
                </a:solidFill>
                <a:latin typeface="Aptos"/>
                <a:ea typeface="Aptos"/>
                <a:cs typeface="Aptos"/>
              </a:rPr>
              <a:t>Decides whether Haki is appropriate, what content is allowed, and how distribution should be governed.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E96028-4F47-4387-9073-7F3155C87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171700"/>
            <a:ext cx="238125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CF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4269DE-9F86-4FD8-AD14-BA8E4FA4D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171700"/>
            <a:ext cx="2381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2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948620-42F6-46A5-85B8-30B5646B8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400300"/>
            <a:ext cx="2038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201416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01416"/>
                </a:solidFill>
                <a:latin typeface="Aptos"/>
                <a:ea typeface="Aptos"/>
                <a:cs typeface="Aptos"/>
              </a:rPr>
              <a:t>Responsible office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F8659B-F105-48FB-B80D-0140CF1BC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914650"/>
            <a:ext cx="20383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F626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6262"/>
                </a:solidFill>
                <a:latin typeface="Aptos"/>
                <a:ea typeface="Aptos"/>
                <a:cs typeface="Aptos"/>
              </a:rPr>
              <a:t>Coordinates official source review, update cadence, and policy ownership across offices.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1B47F5-82DF-455C-8563-94FB09813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171700"/>
            <a:ext cx="238125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CF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150746-A55D-4AC4-A071-3412A2044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171700"/>
            <a:ext cx="2381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E7B556-514A-49F1-A074-2F3DD481D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400300"/>
            <a:ext cx="2038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201416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01416"/>
                </a:solidFill>
                <a:latin typeface="Aptos"/>
                <a:ea typeface="Aptos"/>
                <a:cs typeface="Aptos"/>
              </a:rPr>
              <a:t>Student or staff maintainers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DAC361-69BE-4DEB-AD55-E65DAC42A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914650"/>
            <a:ext cx="20383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F626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6262"/>
                </a:solidFill>
                <a:latin typeface="Aptos"/>
                <a:ea typeface="Aptos"/>
                <a:cs typeface="Aptos"/>
              </a:rPr>
              <a:t>Prepare source packages, perform updates, and preserve technical continuity under supervision.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C93D7A-CB38-4DFE-8A22-3A88615F4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171700"/>
            <a:ext cx="217170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CF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96AE31-6611-4179-86D4-5D3B59ACD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171700"/>
            <a:ext cx="21717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E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79E811-5F48-49C8-8691-E2BBD23EC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400300"/>
            <a:ext cx="1828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201416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01416"/>
                </a:solidFill>
                <a:latin typeface="Aptos"/>
                <a:ea typeface="Aptos"/>
                <a:cs typeface="Aptos"/>
              </a:rPr>
              <a:t>Haki app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F95234D-7F0A-4434-B44A-9D7DBB085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914650"/>
            <a:ext cx="18288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F626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6262"/>
                </a:solidFill>
                <a:latin typeface="Aptos"/>
                <a:ea typeface="Aptos"/>
                <a:cs typeface="Aptos"/>
              </a:rPr>
              <a:t>Publishes only the approved local guide to students through chat, search, map, and library screens.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D692188-06CB-4181-80C2-FC8BAD563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519488"/>
            <a:ext cx="4286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2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6050257-128A-493F-B635-8A2FB5720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486150"/>
            <a:ext cx="857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2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05AA38D-0709-40F0-AD85-67D4E0ACF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519488"/>
            <a:ext cx="4286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2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E5F32FE-369F-4CD1-B4F8-516904850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3486150"/>
            <a:ext cx="857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2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4AF05EE-FE46-49D8-AADE-0E7B3B892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519488"/>
            <a:ext cx="4286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2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586A948-E3CD-49BB-B419-010C0ADC6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3486150"/>
            <a:ext cx="857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2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4F48B99-431F-4608-8FA4-331A1B7DC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334000"/>
            <a:ext cx="9220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0019"/>
          </a:solidFill>
          <a:ln xmlns:a="http://schemas.openxmlformats.org/drawingml/2006/main" w="9525">
            <a:solidFill>
              <a:srgbClr val="7A0019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4165217-D858-46A0-8202-4A70C0E42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5505450"/>
            <a:ext cx="8648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Developer role: build, hand over, guide first maintainers, and request attribution only if Haki is deployed or promoted.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04A8FDD-A64E-468E-843B-0020BFC1C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495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6F6262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F6262"/>
                </a:solidFill>
                <a:latin typeface="Aptos"/>
                <a:ea typeface="Aptos"/>
                <a:cs typeface="Aptos"/>
              </a:rPr>
              <a:t>Haki proposal for TUPT administrative review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558BBDE-2149-42F4-B8B7-6B66A904C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86525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6F626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F6262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24220397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A8E8D21-9F59-4E5F-91EF-299CEDC4A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8-marker">
            <a:extLst xmlns:a="http://schemas.openxmlformats.org/drawingml/2006/main">
              <a:ext uri="{FF2B5EF4-FFF2-40B4-BE49-F238E27FC236}">
                <a16:creationId xmlns:a16="http://schemas.microsoft.com/office/drawing/2014/main" id="{E8926E93-2E2A-4FA9-BAB6-CF5C5628E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29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A00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8-label">
            <a:extLst xmlns:a="http://schemas.openxmlformats.org/drawingml/2006/main">
              <a:ext uri="{FF2B5EF4-FFF2-40B4-BE49-F238E27FC236}">
                <a16:creationId xmlns:a16="http://schemas.microsoft.com/office/drawing/2014/main" id="{352D99F2-4578-4A1C-967F-0321AE01F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4000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7A0019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7A0019"/>
                </a:solidFill>
                <a:latin typeface="Aptos"/>
                <a:ea typeface="Aptos"/>
                <a:cs typeface="Aptos"/>
              </a:rPr>
              <a:t>COMMUNITY BENEFIT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38F202-80EF-4CA5-BFA4-67E7EC2B5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8200"/>
            <a:ext cx="838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3075" b="1">
                <a:solidFill>
                  <a:srgbClr val="201416"/>
                </a:solidFill>
                <a:latin typeface="Aptos Display"/>
                <a:ea typeface="Aptos Display"/>
                <a:cs typeface="Aptos Display"/>
              </a:defRPr>
            </a:pPr>
            <a:r>
              <a:rPr sz="3075" b="1">
                <a:solidFill>
                  <a:srgbClr val="201416"/>
                </a:solidFill>
                <a:latin typeface="Aptos Display"/>
                <a:ea typeface="Aptos Display"/>
                <a:cs typeface="Aptos Display"/>
              </a:rPr>
              <a:t>One student app can improve service quality across the community.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AEE80A-85B9-4DF4-B7FA-EF70D1CD3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62150"/>
            <a:ext cx="10648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0019"/>
          </a:solidFill>
          <a:ln xmlns:a="http://schemas.openxmlformats.org/drawingml/2006/main" w="9525">
            <a:solidFill>
              <a:srgbClr val="7A001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9C86EB-1A7E-4502-A039-265E5BA41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145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FFF3C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3C7"/>
                </a:solidFill>
                <a:latin typeface="Aptos"/>
                <a:ea typeface="Aptos"/>
                <a:cs typeface="Aptos"/>
              </a:rPr>
              <a:t>Stakeholder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BB2085-B487-433D-AB3F-FB3E62EE1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11455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FFF3C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3C7"/>
                </a:solidFill>
                <a:latin typeface="Aptos"/>
                <a:ea typeface="Aptos"/>
                <a:cs typeface="Aptos"/>
              </a:rPr>
              <a:t>Current friction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486BCB-3A22-4938-945A-B175D5401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11455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FFF3C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3C7"/>
                </a:solidFill>
                <a:latin typeface="Aptos"/>
                <a:ea typeface="Aptos"/>
                <a:cs typeface="Aptos"/>
              </a:rPr>
              <a:t>What Haki improves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884F85-1CCC-43DA-8F6C-ED6CEB73D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90800"/>
            <a:ext cx="106489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CF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FD9B09-44BE-44E8-A7DA-F0AD14881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90800"/>
            <a:ext cx="666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00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536E7C-09EA-41DB-A514-4BFF21029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6225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7A0019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7A0019"/>
                </a:solidFill>
                <a:latin typeface="Aptos"/>
                <a:ea typeface="Aptos"/>
                <a:cs typeface="Aptos"/>
              </a:rPr>
              <a:t>Students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759409-79B6-4A16-9514-9B69804D9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743200"/>
            <a:ext cx="3562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F626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6262"/>
                </a:solidFill>
                <a:latin typeface="Aptos"/>
                <a:ea typeface="Aptos"/>
                <a:cs typeface="Aptos"/>
              </a:rPr>
              <a:t>Unsure which office to approach, what to prepare, or where to go.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C07997-0143-4C92-B54E-4894B90F0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743200"/>
            <a:ext cx="3733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0141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01416"/>
                </a:solidFill>
                <a:latin typeface="Aptos"/>
                <a:ea typeface="Aptos"/>
                <a:cs typeface="Aptos"/>
              </a:rPr>
              <a:t>Faster self-service guidance with source references and map support.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9A0B1B-5097-458C-AB7C-599166800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09950"/>
            <a:ext cx="106489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CF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FEC3AE-60B5-4714-9F2D-7DDCB4FDD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09950"/>
            <a:ext cx="666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2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5C3160-A667-49A2-B7BD-EEDCF7144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8140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D6A21E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D6A21E"/>
                </a:solidFill>
                <a:latin typeface="Aptos"/>
                <a:ea typeface="Aptos"/>
                <a:cs typeface="Aptos"/>
              </a:rPr>
              <a:t>Offices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223675-B3AE-41F2-A000-3A57502BC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562350"/>
            <a:ext cx="3562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F626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6262"/>
                </a:solidFill>
                <a:latin typeface="Aptos"/>
                <a:ea typeface="Aptos"/>
                <a:cs typeface="Aptos"/>
              </a:rPr>
              <a:t>Routine questions repeat at counters and through informal channels.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827ADF-B2D8-4AC1-98C7-45A24F247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562350"/>
            <a:ext cx="3733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0141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01416"/>
                </a:solidFill>
                <a:latin typeface="Aptos"/>
                <a:ea typeface="Aptos"/>
                <a:cs typeface="Aptos"/>
              </a:rPr>
              <a:t>Better-prepared students and fewer basic inquiries for staff.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7B128FA-D316-4DF2-8A13-A50EC4C0F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29100"/>
            <a:ext cx="106489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CFC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A02BDD-9540-4448-B170-C67320832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29100"/>
            <a:ext cx="666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43C7D7-39DF-4B9D-83EF-65FCF4CD0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0055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2E7D4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E7D4F"/>
                </a:solidFill>
                <a:latin typeface="Aptos"/>
                <a:ea typeface="Aptos"/>
                <a:cs typeface="Aptos"/>
              </a:rPr>
              <a:t>Admin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FE35818-DFEE-428C-A651-A55E92830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381500"/>
            <a:ext cx="3562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F626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6262"/>
                </a:solidFill>
                <a:latin typeface="Aptos"/>
                <a:ea typeface="Aptos"/>
                <a:cs typeface="Aptos"/>
              </a:rPr>
              <a:t>Official guidance can be hard to keep consistent across channels.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BE8C803-8608-4695-A034-2808746CA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381500"/>
            <a:ext cx="3733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0141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01416"/>
                </a:solidFill>
                <a:latin typeface="Aptos"/>
                <a:ea typeface="Aptos"/>
                <a:cs typeface="Aptos"/>
              </a:rPr>
              <a:t>Central content authority with local, auditable student access.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7A3CD38-A4F1-40C6-9A0A-B45A86C3E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48250"/>
            <a:ext cx="106489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CFC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A9EBBE5-A501-475A-A1DC-585B5EB85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48250"/>
            <a:ext cx="666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E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3667638-3C13-4EC4-9169-5AEDE9BDC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21970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2E5E7D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E5E7D"/>
                </a:solidFill>
                <a:latin typeface="Aptos"/>
                <a:ea typeface="Aptos"/>
                <a:cs typeface="Aptos"/>
              </a:rPr>
              <a:t>TUPT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E26D74B-0F20-41BE-95D5-1A829864E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5200650"/>
            <a:ext cx="3562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F626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6262"/>
                </a:solidFill>
                <a:latin typeface="Aptos"/>
                <a:ea typeface="Aptos"/>
                <a:cs typeface="Aptos"/>
              </a:rPr>
              <a:t>Student-led innovation is often hard to convert into institutional value.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6529A75-57CB-459F-A556-735A6EEC9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5200650"/>
            <a:ext cx="3733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0141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01416"/>
                </a:solidFill>
                <a:latin typeface="Aptos"/>
                <a:ea typeface="Aptos"/>
                <a:cs typeface="Aptos"/>
              </a:rPr>
              <a:t>A visible responsible AI-era service project with controlled pilot scope.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C5BA5A7-24A2-496E-B7F6-D03344A6E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057900"/>
            <a:ext cx="9525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0141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01416"/>
                </a:solidFill>
                <a:latin typeface="Aptos"/>
                <a:ea typeface="Aptos"/>
                <a:cs typeface="Aptos"/>
              </a:rPr>
              <a:t>The value is operational first: clearer guidance, less repetition, and a governable path to adoption.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5832079-7C3C-4E8F-810F-F2FBD5BDD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495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6F6262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F6262"/>
                </a:solidFill>
                <a:latin typeface="Aptos"/>
                <a:ea typeface="Aptos"/>
                <a:cs typeface="Aptos"/>
              </a:rPr>
              <a:t>Haki proposal for TUPT administrative review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C1EF051-DC3B-4BCF-99F1-9C7F4E04A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86525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6F626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F6262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878374399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AF12C95-0C64-4F03-AD4D-2768470CD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9-marker">
            <a:extLst xmlns:a="http://schemas.openxmlformats.org/drawingml/2006/main">
              <a:ext uri="{FF2B5EF4-FFF2-40B4-BE49-F238E27FC236}">
                <a16:creationId xmlns:a16="http://schemas.microsoft.com/office/drawing/2014/main" id="{40A28F99-E85E-4385-8177-299FAC890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29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A00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9-label">
            <a:extLst xmlns:a="http://schemas.openxmlformats.org/drawingml/2006/main">
              <a:ext uri="{FF2B5EF4-FFF2-40B4-BE49-F238E27FC236}">
                <a16:creationId xmlns:a16="http://schemas.microsoft.com/office/drawing/2014/main" id="{AB27584A-0D9B-455E-BB5B-195A1B08B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4000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7A0019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7A0019"/>
                </a:solidFill>
                <a:latin typeface="Aptos"/>
                <a:ea typeface="Aptos"/>
                <a:cs typeface="Aptos"/>
              </a:rPr>
              <a:t>LOW-RISK ADOPTION PATH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C5F88B-9AFB-4EE8-B616-326074241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8200"/>
            <a:ext cx="8858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201416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201416"/>
                </a:solidFill>
                <a:latin typeface="Aptos Display"/>
                <a:ea typeface="Aptos Display"/>
                <a:cs typeface="Aptos Display"/>
              </a:rPr>
              <a:t>A pilot review turns adoption into a controlled administrative decision.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AE20D9-5229-4E78-B5BE-DD648B2D8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14500"/>
            <a:ext cx="8096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F626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F6262"/>
                </a:solidFill>
                <a:latin typeface="Aptos"/>
                <a:ea typeface="Aptos"/>
                <a:cs typeface="Aptos"/>
              </a:rPr>
              <a:t>The ask is not a blind launch. It is permission to evaluate Haki with official content, supervision, and measured student feedback.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C4308A-B837-4D6A-8B3C-28951C30E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86050"/>
            <a:ext cx="243840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CF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ECF018-B185-4C64-A9F6-5D5D8F0A7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575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A00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9FAC92-ADB0-4058-9CEE-7BB9B9EFA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43225"/>
            <a:ext cx="3429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EBB6DF-4334-442A-B4BE-B238E7A68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876550"/>
            <a:ext cx="1638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0141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01416"/>
                </a:solidFill>
                <a:latin typeface="Aptos"/>
                <a:ea typeface="Aptos"/>
                <a:cs typeface="Aptos"/>
              </a:rPr>
              <a:t>Content validation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232530-6472-4268-B2C3-682E3EFDE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67100"/>
            <a:ext cx="1981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F626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6262"/>
                </a:solidFill>
                <a:latin typeface="Aptos"/>
                <a:ea typeface="Aptos"/>
                <a:cs typeface="Aptos"/>
              </a:rPr>
              <a:t>Administration identifies approved offices, documents, citations, and exclusions.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0AB318-2EDE-42F6-9472-435609B3B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91000"/>
            <a:ext cx="1981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00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6213B7-0B76-4A90-A345-32F1BDF52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686050"/>
            <a:ext cx="243840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CF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84BDDB-05FA-4FDB-A63D-CF147CD31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8575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A2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57C230-0971-4C64-8D16-D5B2E98DE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943225"/>
            <a:ext cx="3429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F08276-0E2A-40A7-8C83-EA4EB241B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876550"/>
            <a:ext cx="1638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0141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01416"/>
                </a:solidFill>
                <a:latin typeface="Aptos"/>
                <a:ea typeface="Aptos"/>
                <a:cs typeface="Aptos"/>
              </a:rPr>
              <a:t>Internal pilot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6A8CD8-5ADB-4EE9-B890-9EB1BD6CE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467100"/>
            <a:ext cx="1981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F626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6262"/>
                </a:solidFill>
                <a:latin typeface="Aptos"/>
                <a:ea typeface="Aptos"/>
                <a:cs typeface="Aptos"/>
              </a:rPr>
              <a:t>Reviewing office and maintainers test answers, missing-source behavior, and update process.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09452A-DB91-4B5A-9251-D73525ED1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191000"/>
            <a:ext cx="1981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2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ED536DB-6BC7-441C-98B9-D04C9631B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686050"/>
            <a:ext cx="243840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CFC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725BFDB-1E50-4D85-9A9E-75B22F656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8575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D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65C1BFE-E381-4C53-9D8C-42B60D198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943225"/>
            <a:ext cx="3429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748411D-51C9-4040-B363-0F88DE49E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876550"/>
            <a:ext cx="1638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0141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01416"/>
                </a:solidFill>
                <a:latin typeface="Aptos"/>
                <a:ea typeface="Aptos"/>
                <a:cs typeface="Aptos"/>
              </a:rPr>
              <a:t>Student pilot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DCA90A5-F36F-4D4C-AE88-8AB8290A8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467100"/>
            <a:ext cx="1981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F626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6262"/>
                </a:solidFill>
                <a:latin typeface="Aptos"/>
                <a:ea typeface="Aptos"/>
                <a:cs typeface="Aptos"/>
              </a:rPr>
              <a:t>Small student group tests common tasks: office concern, map, service desk, and source clarity.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C7C37A3-1314-43D7-89F4-77FCFFD61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191000"/>
            <a:ext cx="1981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13F2A26-7C32-4471-9BA4-590E2DFF1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686050"/>
            <a:ext cx="236220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CFC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28EC67A-3814-49AF-B49E-EDFD8D115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8575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5E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FEBBAF7-FD28-41FC-ABB1-9DFD67C49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943225"/>
            <a:ext cx="3429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3B176B5-2BFB-46B7-91ED-3DB1AE383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876550"/>
            <a:ext cx="1562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0141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01416"/>
                </a:solidFill>
                <a:latin typeface="Aptos"/>
                <a:ea typeface="Aptos"/>
                <a:cs typeface="Aptos"/>
              </a:rPr>
              <a:t>Deployment decision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79C1906-B443-4C00-9916-147B973D4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467100"/>
            <a:ext cx="1905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F626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6262"/>
                </a:solidFill>
                <a:latin typeface="Aptos"/>
                <a:ea typeface="Aptos"/>
                <a:cs typeface="Aptos"/>
              </a:rPr>
              <a:t>Admin decides whether to publish, how to govern distribution, and who maintains it.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90A680F-352D-4E06-BAA7-8C0169B76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191000"/>
            <a:ext cx="1905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E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55A8454-0AA7-489D-BD54-8F39B4D36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548063"/>
            <a:ext cx="3143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2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4284D75-05F7-44B9-8605-DFE8DE562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3514725"/>
            <a:ext cx="857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2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6F3D2BE-02D0-4964-83C9-11CA220A7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548063"/>
            <a:ext cx="3143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2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1EB9703-2155-484E-8838-A30CBA970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514725"/>
            <a:ext cx="857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2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72AF542-3114-4A98-8C46-418C539F8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548063"/>
            <a:ext cx="3143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2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02D6514-8F90-4BBA-AF6E-CAA0E2BF6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3514725"/>
            <a:ext cx="857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2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507DFC1-C3C8-4499-8798-E95E10BB5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219700"/>
            <a:ext cx="8953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C7"/>
          </a:solidFill>
          <a:ln xmlns:a="http://schemas.openxmlformats.org/drawingml/2006/main" w="9525">
            <a:solidFill>
              <a:srgbClr val="E3C45A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736D7CF-2AC2-4120-A8C7-6D88EA47D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29250"/>
            <a:ext cx="8343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7A001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7A0019"/>
                </a:solidFill>
                <a:latin typeface="Aptos"/>
                <a:ea typeface="Aptos"/>
                <a:cs typeface="Aptos"/>
              </a:rPr>
              <a:t>Decision gate after each phase: continue, revise, limit scope, or stop.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31412D2-2508-4297-852A-07B4B8E3E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495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6F6262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F6262"/>
                </a:solidFill>
                <a:latin typeface="Aptos"/>
                <a:ea typeface="Aptos"/>
                <a:cs typeface="Aptos"/>
              </a:rPr>
              <a:t>Haki proposal for TUPT administrative review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09E7BE6-EBFC-4DA4-B979-353C19440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86525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6F626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F6262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609674995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1791F12-1043-464A-8C8A-5319B4086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00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10-marker">
            <a:extLst xmlns:a="http://schemas.openxmlformats.org/drawingml/2006/main">
              <a:ext uri="{FF2B5EF4-FFF2-40B4-BE49-F238E27FC236}">
                <a16:creationId xmlns:a16="http://schemas.microsoft.com/office/drawing/2014/main" id="{6E12CBFD-D10F-46EB-A925-51444894B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29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A2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0-label">
            <a:extLst xmlns:a="http://schemas.openxmlformats.org/drawingml/2006/main">
              <a:ext uri="{FF2B5EF4-FFF2-40B4-BE49-F238E27FC236}">
                <a16:creationId xmlns:a16="http://schemas.microsoft.com/office/drawing/2014/main" id="{533CFA40-723C-4ED8-8070-F6BA2FEC4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4350"/>
            <a:ext cx="4000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FFF3C7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FFF3C7"/>
                </a:solidFill>
                <a:latin typeface="Aptos"/>
                <a:ea typeface="Aptos"/>
                <a:cs typeface="Aptos"/>
              </a:rPr>
              <a:t>REQUESTED ADMINISTRATIVE ACTION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745FCC-277F-4EB5-ACF7-3CFAEEEEA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7524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36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6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Approve a supervised pilot review, not a blind launch.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AAA75D-9EB7-4DC3-B61C-4351658A7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76450"/>
            <a:ext cx="6858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F8E6EC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8E6EC"/>
                </a:solidFill>
                <a:latin typeface="Aptos"/>
                <a:ea typeface="Aptos"/>
                <a:cs typeface="Aptos"/>
              </a:rPr>
              <a:t>The proposal letter can carry the formal terms. The presentation should close on the next practical decision.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D4284D-9D04-4CCC-A0C6-C90F25CB9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908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A2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5EAD2A-FF54-4B34-8C08-0008CF2DA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019425"/>
            <a:ext cx="190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7A001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7A0019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925607-4B00-4745-AB8A-9DFACBFF6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971800"/>
            <a:ext cx="619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Assign a reviewing office or evaluation owner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A3DC19-0888-401F-82EC-AD0AC86B8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A2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19FD72-2BEE-4924-88D4-DDD2BE1BF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552825"/>
            <a:ext cx="190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7A001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7A0019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F363B5-ADDD-4E42-A835-1ABC2DFFC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619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Validate which campus information can be included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B86AAA-EB3B-4FE2-B88C-7DDFEB394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576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A2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F92280-65A7-4C07-90AC-FB36CE1D2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086225"/>
            <a:ext cx="190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7A001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7A0019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7B8320-D0D9-4732-9419-42EDB7D0B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38600"/>
            <a:ext cx="619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Approve a small, supervised student pilot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C910A2-B0CB-466E-8230-BD700EE23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910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A2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85C82F-FB98-4EC5-9EAA-FE4A6403F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619625"/>
            <a:ext cx="190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7A001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7A0019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7BD441-804A-4871-A1C6-563AE719E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572000"/>
            <a:ext cx="619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Decide distribution and maintenance after evidence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65E273-452E-4D08-AD78-9ED61D608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244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A2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2865203-525B-4CE6-8E36-B95673B5C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153025"/>
            <a:ext cx="190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7A001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7A0019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6B9A93-EA60-4887-B677-B10686F5F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105400"/>
            <a:ext cx="619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Confirm acceptable developer attribution if deployed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A6DEF21-53FD-414E-B7F5-4D507EEBE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066800"/>
            <a:ext cx="2133600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316"/>
          </a:solidFill>
          <a:ln xmlns:a="http://schemas.openxmlformats.org/drawingml/2006/main" w="9525">
            <a:solidFill>
              <a:srgbClr val="2E2226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688558af0d4098"/>
          <a:stretch xmlns:a="http://schemas.openxmlformats.org/drawingml/2006/main"/>
        </p:blipFill>
        <p:spPr>
          <a:xfrm xmlns:a="http://schemas.openxmlformats.org/drawingml/2006/main">
            <a:off x="8915400" y="1245772"/>
            <a:ext cx="1981200" cy="4404556"/>
          </a:xfrm>
          <a:prstGeom xmlns:a="http://schemas.openxmlformats.org/drawingml/2006/main" prst="rect">
            <a:avLst/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5AFBE7-2475-4DFC-909B-52E9B60DB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5924550"/>
            <a:ext cx="2133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F8E6E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8E6EC"/>
                </a:solidFill>
                <a:latin typeface="Aptos"/>
                <a:ea typeface="Aptos"/>
                <a:cs typeface="Aptos"/>
              </a:rPr>
              <a:t>Haki remains a TUPT-controlled service candidate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ACF2FB1-4AEB-42EF-A5CD-97408CA0C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05500"/>
            <a:ext cx="695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2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798F843-7E89-4A39-BEE4-E0BE9FA0A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76950"/>
            <a:ext cx="723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3C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3C7"/>
                </a:solidFill>
                <a:latin typeface="Aptos"/>
                <a:ea typeface="Aptos"/>
                <a:cs typeface="Aptos"/>
              </a:rPr>
              <a:t>Suggested closing line: I built Haki for the TUPT community, but the Administration should decide how it is reviewed, governed, and released.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84B090A-8E60-43AB-9CF5-943B7506F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495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F4DCE3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F4DCE3"/>
                </a:solidFill>
                <a:latin typeface="Aptos"/>
                <a:ea typeface="Aptos"/>
                <a:cs typeface="Aptos"/>
              </a:rPr>
              <a:t>Haki proposal for TUPT administrative review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43C8E93-B1B3-4E90-B863-6339ADDE0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86525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F4DCE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4DCE3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49632329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173F937-A535-4F0C-A532-9BEDE6C17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68B6F8-54B6-494D-8527-4EE52CFAF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"/>
            <a:ext cx="11163300" cy="582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E4D8C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1B248A-BDC0-4703-8AC6-50F9CA691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"/>
            <a:ext cx="76200" cy="582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001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13CC23-6BE3-44F7-BED8-AB1869A29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763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A5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A67613-8EC5-4F51-B186-F2179CFBB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80010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A001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8A001C"/>
                </a:solidFill>
                <a:latin typeface="Aptos"/>
                <a:ea typeface="Aptos"/>
                <a:cs typeface="Aptos"/>
              </a:rPr>
              <a:t>DEMO SECTION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D56EE1-8623-4095-9BB0-4BFFE1A3A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153150"/>
            <a:ext cx="4762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D626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D6262"/>
                </a:solidFill>
                <a:latin typeface="Aptos"/>
                <a:ea typeface="Aptos"/>
                <a:cs typeface="Aptos"/>
              </a:rPr>
              <a:t>Haki proposal for TUPT administrative review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33CB41-4D53-4E8D-B7B3-9DC719EAF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153150"/>
            <a:ext cx="400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211C1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11C1D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1ADC95-EA0C-4EB2-8FAF-9518A229E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895350"/>
            <a:ext cx="3333750" cy="3333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2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58AA13-5A03-44CC-854A-DFC936241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086350"/>
            <a:ext cx="342900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D6C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547182b65c44aa"/>
          <a:stretch xmlns:a="http://schemas.openxmlformats.org/drawingml/2006/main"/>
        </p:blipFill>
        <p:spPr>
          <a:xfrm xmlns:a="http://schemas.openxmlformats.org/drawingml/2006/main">
            <a:off x="6514298" y="438150"/>
            <a:ext cx="4497403" cy="56197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CE83B2-56DB-438A-B992-02260D5F0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04950"/>
            <a:ext cx="5334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8A001C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8A001C"/>
                </a:solidFill>
                <a:latin typeface="Aptos Display"/>
                <a:ea typeface="Aptos Display"/>
                <a:cs typeface="Aptos Display"/>
              </a:rPr>
              <a:t>Haki App Exploration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984DB9-DE61-4274-83F2-EB7A7A73A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43150"/>
            <a:ext cx="5334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11C1D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11C1D"/>
                </a:solidFill>
                <a:latin typeface="Aptos"/>
                <a:ea typeface="Aptos"/>
                <a:cs typeface="Aptos"/>
              </a:rPr>
              <a:t>A student walkthrough from question to campus action.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637F76-865E-4851-A2FB-4074FF423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05150"/>
            <a:ext cx="5334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D626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D6262"/>
                </a:solidFill>
                <a:latin typeface="Aptos"/>
                <a:ea typeface="Aptos"/>
                <a:cs typeface="Aptos"/>
              </a:rPr>
              <a:t>The next slides mimic how a TUPian could use Haki during a normal campus task: ask, verify, locate, prepare, then use student-life tools when needed.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16A4E9-2E75-4362-A032-871E74242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24350"/>
            <a:ext cx="1028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D8C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FCFB15-FCA3-4B35-ABA9-73032F9CC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876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E7DB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E7DB2"/>
                </a:solidFill>
                <a:latin typeface="Aptos"/>
                <a:ea typeface="Aptos"/>
                <a:cs typeface="Aptos"/>
              </a:rPr>
              <a:t>Ask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4FF597-B9B5-4431-87FF-931DBAD4B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324350"/>
            <a:ext cx="1028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D8C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2EEFB7-FE48-4758-837B-54188337C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400550"/>
            <a:ext cx="876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47A3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47A3D"/>
                </a:solidFill>
                <a:latin typeface="Aptos"/>
                <a:ea typeface="Aptos"/>
                <a:cs typeface="Aptos"/>
              </a:rPr>
              <a:t>Verify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D0DBF0-BB3F-4DA1-8B5A-27EA7B9B4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324350"/>
            <a:ext cx="1028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D8C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09BB1EB-C001-4861-BE5C-A0D819D31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400550"/>
            <a:ext cx="876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C45A1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C45A1B"/>
                </a:solidFill>
                <a:latin typeface="Aptos"/>
                <a:ea typeface="Aptos"/>
                <a:cs typeface="Aptos"/>
              </a:rPr>
              <a:t>Locate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0996CC5-5829-4E82-BA43-5639C0966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324350"/>
            <a:ext cx="1028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D8C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6A4B5DA-2360-4E71-ABB3-B2EF5C16A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400550"/>
            <a:ext cx="876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8A001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8A001C"/>
                </a:solidFill>
                <a:latin typeface="Aptos"/>
                <a:ea typeface="Aptos"/>
                <a:cs typeface="Aptos"/>
              </a:rPr>
              <a:t>Prepare</a:t>
            </a:r>
          </a:p>
        </p:txBody>
      </p:sp>
    </p:spTree>
    <p:extLst>
      <p:ext uri="{BB962C8B-B14F-4D97-AF65-F5344CB8AC3E}">
        <p14:creationId xmlns:p14="http://schemas.microsoft.com/office/powerpoint/2010/main" val="582594593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8EF4F46-BBF0-4C53-81B8-BC4785DB8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83263C-732A-4428-86E0-E312D200A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"/>
            <a:ext cx="11163300" cy="582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E4D8C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9D1387-A696-445C-8BD4-025AAC3CF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"/>
            <a:ext cx="76200" cy="582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001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F89477-284D-42B2-A276-F836D2C9E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763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A5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C38F99-61A9-475E-AED2-077EAE83F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80010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A001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8A001C"/>
                </a:solidFill>
                <a:latin typeface="Aptos"/>
                <a:ea typeface="Aptos"/>
                <a:cs typeface="Aptos"/>
              </a:rPr>
              <a:t>DEMO STEP 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D73919-A944-4BED-AD03-74652140E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181100"/>
            <a:ext cx="7429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11C1D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211C1D"/>
                </a:solidFill>
                <a:latin typeface="Aptos Display"/>
                <a:ea typeface="Aptos Display"/>
                <a:cs typeface="Aptos Display"/>
              </a:rPr>
              <a:t>A student starts from the Haki home screen.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623043-AEAF-488A-B314-62EC3E4D6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43100"/>
            <a:ext cx="685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D626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D6262"/>
                </a:solidFill>
                <a:latin typeface="Aptos"/>
                <a:ea typeface="Aptos"/>
                <a:cs typeface="Aptos"/>
              </a:rPr>
              <a:t>The full phone screenshot is shown so Admin can see the greeting, quick actions, bottom navigation, and home context.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A9E2ED-27C4-4040-86AF-08B868E84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153150"/>
            <a:ext cx="4762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D626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D6262"/>
                </a:solidFill>
                <a:latin typeface="Aptos"/>
                <a:ea typeface="Aptos"/>
                <a:cs typeface="Aptos"/>
              </a:rPr>
              <a:t>Haki proposal for TUPT administrative review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168536-AD5C-4650-8684-70BCD9634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153150"/>
            <a:ext cx="400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211C1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11C1D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5A66F8-4193-4FC7-B983-ED85D999F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43150"/>
            <a:ext cx="1743075" cy="3676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C1D"/>
          </a:solidFill>
          <a:ln xmlns:a="http://schemas.openxmlformats.org/drawingml/2006/main" w="9525">
            <a:solidFill>
              <a:srgbClr val="211C1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864283-B60A-4296-94FB-BA0840A76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628775" cy="3562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D8C8"/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5a48a860294383"/>
          <a:stretch xmlns:a="http://schemas.openxmlformats.org/drawingml/2006/main"/>
        </p:blipFill>
        <p:spPr>
          <a:xfrm xmlns:a="http://schemas.openxmlformats.org/drawingml/2006/main">
            <a:off x="1126897" y="2419350"/>
            <a:ext cx="1584781" cy="352425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3D9105-971C-4B73-BEF2-0C0C37212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686050"/>
            <a:ext cx="52387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D8C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763B16-9B6C-476D-81AC-39FDE9947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686050"/>
            <a:ext cx="476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001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3967dfb5a4439f">
            <a:extLst>
              <a:ext uri="{96DAC541-7B7A-43D3-8B79-37D633B846F1}">
                <asvg:svgBlip xmlns:asvg="http://schemas.microsoft.com/office/drawing/2016/SVG/main" r:embed="R4fba977a40f94c1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286250" y="2914650"/>
            <a:ext cx="247650" cy="247650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551C9D-3817-48AC-9103-CD867332F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8003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11C1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11C1D"/>
                </a:solidFill>
                <a:latin typeface="Aptos"/>
                <a:ea typeface="Aptos"/>
                <a:cs typeface="Aptos"/>
              </a:rPr>
              <a:t>One tap to Chat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625577D-B6C7-4CA8-A526-81D09AFC1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048000"/>
            <a:ext cx="4095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6D6262"/>
                </a:solidFill>
                <a:latin typeface="Aptos"/>
                <a:ea typeface="Aptos"/>
                <a:cs typeface="Aptos"/>
              </a:defRPr>
            </a:pPr>
            <a:r>
              <a:rPr sz="923" b="0">
                <a:solidFill>
                  <a:srgbClr val="6D6262"/>
                </a:solidFill>
                <a:latin typeface="Aptos"/>
                <a:ea typeface="Aptos"/>
                <a:cs typeface="Aptos"/>
              </a:rPr>
              <a:t>The main action is direct: students can message Haki about routine campus concerns.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C1122E-2B96-4ADB-8693-D9D0D9A78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638550"/>
            <a:ext cx="52387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D8C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E31F37C-6300-4641-AB92-C4C29D581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638550"/>
            <a:ext cx="476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a5a7c180654390">
            <a:extLst>
              <a:ext uri="{96DAC541-7B7A-43D3-8B79-37D633B846F1}">
                <asvg:svgBlip xmlns:asvg="http://schemas.microsoft.com/office/drawing/2016/SVG/main" r:embed="Re5cab0fabdfd465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286250" y="3867150"/>
            <a:ext cx="247650" cy="247650"/>
          </a:xfrm>
          <a:prstGeom xmlns:a="http://schemas.openxmlformats.org/drawingml/2006/main" prst="rect">
            <a:avLst/>
          </a:prstGeom>
        </p:spPr>
      </p:pic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FE75F8C-0C1C-4D67-90E1-E3145EC36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752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11C1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11C1D"/>
                </a:solidFill>
                <a:latin typeface="Aptos"/>
                <a:ea typeface="Aptos"/>
                <a:cs typeface="Aptos"/>
              </a:rPr>
              <a:t>Suggested questions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3E498C7-8072-478C-9E39-0D311E110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000500"/>
            <a:ext cx="4095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6D6262"/>
                </a:solidFill>
                <a:latin typeface="Aptos"/>
                <a:ea typeface="Aptos"/>
                <a:cs typeface="Aptos"/>
              </a:defRPr>
            </a:pPr>
            <a:r>
              <a:rPr sz="923" b="0">
                <a:solidFill>
                  <a:srgbClr val="6D6262"/>
                </a:solidFill>
                <a:latin typeface="Aptos"/>
                <a:ea typeface="Aptos"/>
                <a:cs typeface="Aptos"/>
              </a:rPr>
              <a:t>Common prompts help new students ask in the right direction without guessing keywords.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891FE65-80E9-44F9-AD3B-8722BF844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591050"/>
            <a:ext cx="52387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D8C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0A48EA7-B14D-41D9-972A-56686EBF4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591050"/>
            <a:ext cx="476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5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5d27095f4c4e9d">
            <a:extLst>
              <a:ext uri="{96DAC541-7B7A-43D3-8B79-37D633B846F1}">
                <asvg:svgBlip xmlns:asvg="http://schemas.microsoft.com/office/drawing/2016/SVG/main" r:embed="Rd544f871188a4c1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286250" y="4819650"/>
            <a:ext cx="247650" cy="247650"/>
          </a:xfrm>
          <a:prstGeom xmlns:a="http://schemas.openxmlformats.org/drawingml/2006/main" prst="rect">
            <a:avLst/>
          </a:prstGeom>
        </p:spPr>
      </p:pic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BE38094-4422-4105-81F6-232FA64E0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7053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11C1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11C1D"/>
                </a:solidFill>
                <a:latin typeface="Aptos"/>
                <a:ea typeface="Aptos"/>
                <a:cs typeface="Aptos"/>
              </a:rPr>
              <a:t>Tabs stay visible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693B5FA-CE6D-49A4-AFDC-C2F5BF5AC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953000"/>
            <a:ext cx="4095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6D6262"/>
                </a:solidFill>
                <a:latin typeface="Aptos"/>
                <a:ea typeface="Aptos"/>
                <a:cs typeface="Aptos"/>
              </a:defRPr>
            </a:pPr>
            <a:r>
              <a:rPr sz="923" b="0">
                <a:solidFill>
                  <a:srgbClr val="6D6262"/>
                </a:solidFill>
                <a:latin typeface="Aptos"/>
                <a:ea typeface="Aptos"/>
                <a:cs typeface="Aptos"/>
              </a:rPr>
              <a:t>Chat, map, service desk, tips, and other routes remain available from the phone navigation.</a:t>
            </a:r>
          </a:p>
        </p:txBody>
      </p:sp>
    </p:spTree>
    <p:extLst>
      <p:ext uri="{BB962C8B-B14F-4D97-AF65-F5344CB8AC3E}">
        <p14:creationId xmlns:p14="http://schemas.microsoft.com/office/powerpoint/2010/main" val="2071367296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C6528C7-7ADC-400A-9DCF-09319054A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1628C4-D6C1-448D-8911-E13B96C8D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"/>
            <a:ext cx="11163300" cy="582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E4D8C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B12C00-C880-49BA-927E-E665B608B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"/>
            <a:ext cx="76200" cy="582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001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1E4092-1A46-4E78-8DA5-630A9B288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763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A5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D3F384-9C1E-4FC9-B1A0-179ACC7DB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80010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A001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8A001C"/>
                </a:solidFill>
                <a:latin typeface="Aptos"/>
                <a:ea typeface="Aptos"/>
                <a:cs typeface="Aptos"/>
              </a:rPr>
              <a:t>DEMO STEP 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40262A-6D4C-4E75-921F-A811C4551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181100"/>
            <a:ext cx="7429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11C1D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211C1D"/>
                </a:solidFill>
                <a:latin typeface="Aptos Display"/>
                <a:ea typeface="Aptos Display"/>
                <a:cs typeface="Aptos Display"/>
              </a:rPr>
              <a:t>The student asks Haki for help.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AB60A7-66EC-4F81-A3B7-0A5AC286B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43100"/>
            <a:ext cx="685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D626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D6262"/>
                </a:solidFill>
                <a:latin typeface="Aptos"/>
                <a:ea typeface="Aptos"/>
                <a:cs typeface="Aptos"/>
              </a:rPr>
              <a:t>The complete chat screenshot stays visible, including the warning, answer body, source card, and input area.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290457-E717-4AB0-9C73-779EEF100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153150"/>
            <a:ext cx="4762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D626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D6262"/>
                </a:solidFill>
                <a:latin typeface="Aptos"/>
                <a:ea typeface="Aptos"/>
                <a:cs typeface="Aptos"/>
              </a:rPr>
              <a:t>Haki proposal for TUPT administrative review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670F40-1E8C-4DC4-AD2F-E616F7A19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153150"/>
            <a:ext cx="400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211C1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11C1D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1FBD60-9932-4907-AED4-1B9473586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43150"/>
            <a:ext cx="1743075" cy="3676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C1D"/>
          </a:solidFill>
          <a:ln xmlns:a="http://schemas.openxmlformats.org/drawingml/2006/main" w="9525">
            <a:solidFill>
              <a:srgbClr val="211C1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D71032-237F-4850-9892-F1EB19E9B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628775" cy="3562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D8C8"/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538aa4840c4568"/>
          <a:stretch xmlns:a="http://schemas.openxmlformats.org/drawingml/2006/main"/>
        </p:blipFill>
        <p:spPr>
          <a:xfrm xmlns:a="http://schemas.openxmlformats.org/drawingml/2006/main">
            <a:off x="1126867" y="2419350"/>
            <a:ext cx="1584842" cy="352425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D2D734-F460-41E9-8B9D-E5ED63486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686050"/>
            <a:ext cx="52387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D8C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92D242-CF3F-4FA8-8631-97932057B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686050"/>
            <a:ext cx="476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b4df4cf5854d08">
            <a:extLst>
              <a:ext uri="{96DAC541-7B7A-43D3-8B79-37D633B846F1}">
                <asvg:svgBlip xmlns:asvg="http://schemas.microsoft.com/office/drawing/2016/SVG/main" r:embed="R1460e88d67834c9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286250" y="2914650"/>
            <a:ext cx="247650" cy="247650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6361D1-9089-4B2E-9BB0-50784D60A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8003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11C1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11C1D"/>
                </a:solidFill>
                <a:latin typeface="Aptos"/>
                <a:ea typeface="Aptos"/>
                <a:cs typeface="Aptos"/>
              </a:rPr>
              <a:t>Saved sources first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B39B1F-BB28-477A-9A17-C8C673BAA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048000"/>
            <a:ext cx="4095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6D6262"/>
                </a:solidFill>
                <a:latin typeface="Aptos"/>
                <a:ea typeface="Aptos"/>
                <a:cs typeface="Aptos"/>
              </a:defRPr>
            </a:pPr>
            <a:r>
              <a:rPr sz="923" b="0">
                <a:solidFill>
                  <a:srgbClr val="6D6262"/>
                </a:solidFill>
                <a:latin typeface="Aptos"/>
                <a:ea typeface="Aptos"/>
                <a:cs typeface="Aptos"/>
              </a:rPr>
              <a:t>The warning explains that campus information comes from saved sources and needs verification for important details.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F2DD04-A4B9-4E08-885B-9342A1A8E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638550"/>
            <a:ext cx="52387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D8C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D9C0255-EB2E-41A7-AEB5-C8670490B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638550"/>
            <a:ext cx="476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7b5e9f02f940db">
            <a:extLst>
              <a:ext uri="{96DAC541-7B7A-43D3-8B79-37D633B846F1}">
                <asvg:svgBlip xmlns:asvg="http://schemas.microsoft.com/office/drawing/2016/SVG/main" r:embed="Rac20fb61faf34f2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286250" y="3867150"/>
            <a:ext cx="247650" cy="247650"/>
          </a:xfrm>
          <a:prstGeom xmlns:a="http://schemas.openxmlformats.org/drawingml/2006/main" prst="rect">
            <a:avLst/>
          </a:prstGeom>
        </p:spPr>
      </p:pic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0585C55-C80A-485E-A33C-D8AF4D6C3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752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11C1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11C1D"/>
                </a:solidFill>
                <a:latin typeface="Aptos"/>
                <a:ea typeface="Aptos"/>
                <a:cs typeface="Aptos"/>
              </a:rPr>
              <a:t>Actionable answer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D0597E9-3D07-4DB8-9685-ADA95D120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000500"/>
            <a:ext cx="4095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6D6262"/>
                </a:solidFill>
                <a:latin typeface="Aptos"/>
                <a:ea typeface="Aptos"/>
                <a:cs typeface="Aptos"/>
              </a:defRPr>
            </a:pPr>
            <a:r>
              <a:rPr sz="923" b="0">
                <a:solidFill>
                  <a:srgbClr val="6D6262"/>
                </a:solidFill>
                <a:latin typeface="Aptos"/>
                <a:ea typeface="Aptos"/>
                <a:cs typeface="Aptos"/>
              </a:rPr>
              <a:t>The response is formatted into steps a student can follow, not a loose paragraph.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FD1CE33-EB0D-491A-BDB9-8443D8C9E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591050"/>
            <a:ext cx="52387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D8C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B887113-4CFF-4326-922E-B52EF2AE9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591050"/>
            <a:ext cx="476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001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15a54121da4912">
            <a:extLst>
              <a:ext uri="{96DAC541-7B7A-43D3-8B79-37D633B846F1}">
                <asvg:svgBlip xmlns:asvg="http://schemas.microsoft.com/office/drawing/2016/SVG/main" r:embed="R4969db84c9bb421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286250" y="4819650"/>
            <a:ext cx="247650" cy="247650"/>
          </a:xfrm>
          <a:prstGeom xmlns:a="http://schemas.openxmlformats.org/drawingml/2006/main" prst="rect">
            <a:avLst/>
          </a:prstGeom>
        </p:spPr>
      </p:pic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EC5DE2F-75D9-4605-85E4-025086F76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7053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11C1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11C1D"/>
                </a:solidFill>
                <a:latin typeface="Aptos"/>
                <a:ea typeface="Aptos"/>
                <a:cs typeface="Aptos"/>
              </a:rPr>
              <a:t>Visible citation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C334B12-932B-419D-ACC9-39C814D5E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953000"/>
            <a:ext cx="4095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6D6262"/>
                </a:solidFill>
                <a:latin typeface="Aptos"/>
                <a:ea typeface="Aptos"/>
                <a:cs typeface="Aptos"/>
              </a:defRPr>
            </a:pPr>
            <a:r>
              <a:rPr sz="923" b="0">
                <a:solidFill>
                  <a:srgbClr val="6D6262"/>
                </a:solidFill>
                <a:latin typeface="Aptos"/>
                <a:ea typeface="Aptos"/>
                <a:cs typeface="Aptos"/>
              </a:rPr>
              <a:t>The source card remains visible so Admin can see what supported the answer.</a:t>
            </a:r>
          </a:p>
        </p:txBody>
      </p:sp>
    </p:spTree>
    <p:extLst>
      <p:ext uri="{BB962C8B-B14F-4D97-AF65-F5344CB8AC3E}">
        <p14:creationId xmlns:p14="http://schemas.microsoft.com/office/powerpoint/2010/main" val="1436057112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B5E2B9F-5E02-482E-8BDA-5D5D1689D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113BCD-69BB-4295-8C23-2644B6EF0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"/>
            <a:ext cx="11163300" cy="582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E4D8C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776D97-40D4-4C45-9699-79BE9DE08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"/>
            <a:ext cx="76200" cy="582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001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5C7C30-D0A8-42AD-8E7E-2121DE0AE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763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A5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C9A000-AF00-427F-9AC1-D4EF69482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80010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A001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8A001C"/>
                </a:solidFill>
                <a:latin typeface="Aptos"/>
                <a:ea typeface="Aptos"/>
                <a:cs typeface="Aptos"/>
              </a:rPr>
              <a:t>DEMO STEP 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ADC0D4-E662-4E34-B997-893490461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181100"/>
            <a:ext cx="7429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11C1D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211C1D"/>
                </a:solidFill>
                <a:latin typeface="Aptos Display"/>
                <a:ea typeface="Aptos Display"/>
                <a:cs typeface="Aptos Display"/>
              </a:rPr>
              <a:t>The student checks where to go.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6B1027-12C4-4894-9A19-3CEC8813D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43100"/>
            <a:ext cx="685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D626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D6262"/>
                </a:solidFill>
                <a:latin typeface="Aptos"/>
                <a:ea typeface="Aptos"/>
                <a:cs typeface="Aptos"/>
              </a:rPr>
              <a:t>The campus map screenshot is kept whole so building labels, search behavior, and navigation controls remain visible.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A8C18F-61D1-40E7-B774-97D0B0B68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153150"/>
            <a:ext cx="4762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D626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D6262"/>
                </a:solidFill>
                <a:latin typeface="Aptos"/>
                <a:ea typeface="Aptos"/>
                <a:cs typeface="Aptos"/>
              </a:rPr>
              <a:t>Haki proposal for TUPT administrative review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EA5680-617C-45C3-8490-50DAC05E9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153150"/>
            <a:ext cx="400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211C1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11C1D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2A05A2-4597-4AFD-AA59-7335DD832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24100"/>
            <a:ext cx="1743075" cy="3695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C1D"/>
          </a:solidFill>
          <a:ln xmlns:a="http://schemas.openxmlformats.org/drawingml/2006/main" w="9525">
            <a:solidFill>
              <a:srgbClr val="211C1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D76E60-C75A-475B-A228-037B9F64D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381250"/>
            <a:ext cx="1628775" cy="3581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D8C8"/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25bc778a614735"/>
          <a:stretch xmlns:a="http://schemas.openxmlformats.org/drawingml/2006/main"/>
        </p:blipFill>
        <p:spPr>
          <a:xfrm xmlns:a="http://schemas.openxmlformats.org/drawingml/2006/main">
            <a:off x="1123950" y="2402706"/>
            <a:ext cx="1590675" cy="3538488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434779-FFCF-4553-8B47-4E1B59EA7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857500"/>
            <a:ext cx="5048250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1B23"/>
          </a:solidFill>
          <a:ln xmlns:a="http://schemas.openxmlformats.org/drawingml/2006/main" w="28575">
            <a:solidFill>
              <a:srgbClr val="D6A52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473417-9126-4677-BF55-5F783AF35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124200"/>
            <a:ext cx="2667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Map behavior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40951D-1BA7-46EB-84EF-CCF80F55D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638550"/>
            <a:ext cx="39433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7E8D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7E8D0"/>
                </a:solidFill>
                <a:latin typeface="Aptos"/>
                <a:ea typeface="Aptos"/>
                <a:cs typeface="Aptos"/>
              </a:rPr>
              <a:t>Students can search destinations, tap buildings, and move from location context into related screens such as Service Desk or Food.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b37e0ef30445bf">
            <a:extLst>
              <a:ext uri="{96DAC541-7B7A-43D3-8B79-37D633B846F1}">
                <asvg:svgBlip xmlns:asvg="http://schemas.microsoft.com/office/drawing/2016/SVG/main" r:embed="R3c6264fb156d45e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724900" y="3181350"/>
            <a:ext cx="457200" cy="4572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2333116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FA3FC4A-D45E-4AED-99C0-5A2D34026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8D31CD-F4B8-4FB7-BAA3-6E5AA20FD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"/>
            <a:ext cx="11163300" cy="582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E4D8C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4AFE88-AADF-4585-A1EA-45198DA13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"/>
            <a:ext cx="76200" cy="582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001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E90BC9-805A-41B5-B5C1-5B71F6AA1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763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A5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A53099-17C7-45DA-923C-1A441B33B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80010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A001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8A001C"/>
                </a:solidFill>
                <a:latin typeface="Aptos"/>
                <a:ea typeface="Aptos"/>
                <a:cs typeface="Aptos"/>
              </a:rPr>
              <a:t>DEMO STEP 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952AF6-09E6-4B1D-935C-A25258217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181100"/>
            <a:ext cx="7429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11C1D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211C1D"/>
                </a:solidFill>
                <a:latin typeface="Aptos Display"/>
                <a:ea typeface="Aptos Display"/>
                <a:cs typeface="Aptos Display"/>
              </a:rPr>
              <a:t>The student opens Service Desk when they need steps.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4923F9-BB3B-4787-858D-BA9AEAD04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43100"/>
            <a:ext cx="685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D626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D6262"/>
                </a:solidFill>
                <a:latin typeface="Aptos"/>
                <a:ea typeface="Aptos"/>
                <a:cs typeface="Aptos"/>
              </a:rPr>
              <a:t>The full Service Desk screen stays in view, including search, counters, ticket categories, and the bottom tab bar.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5A9CF9-5A2A-4384-80FE-C0382229B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153150"/>
            <a:ext cx="4762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D626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D6262"/>
                </a:solidFill>
                <a:latin typeface="Aptos"/>
                <a:ea typeface="Aptos"/>
                <a:cs typeface="Aptos"/>
              </a:rPr>
              <a:t>Haki proposal for TUPT administrative review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8E782D-F610-41B0-83BE-622620EF5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153150"/>
            <a:ext cx="400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211C1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11C1D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B96551-6BB3-49B1-AC82-FA291F5A3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24100"/>
            <a:ext cx="1743075" cy="3695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C1D"/>
          </a:solidFill>
          <a:ln xmlns:a="http://schemas.openxmlformats.org/drawingml/2006/main" w="9525">
            <a:solidFill>
              <a:srgbClr val="211C1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A92A3A-F35F-4E45-9CE6-E2CAD1541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381250"/>
            <a:ext cx="1628775" cy="3581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D8C8"/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d0820b82924ae9"/>
          <a:stretch xmlns:a="http://schemas.openxmlformats.org/drawingml/2006/main"/>
        </p:blipFill>
        <p:spPr>
          <a:xfrm xmlns:a="http://schemas.openxmlformats.org/drawingml/2006/main">
            <a:off x="1123950" y="2403642"/>
            <a:ext cx="1590675" cy="3536616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7AB781-A018-4AB9-9F53-9FA29B49A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686050"/>
            <a:ext cx="52387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D8C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F1892B-2F4E-483D-A35D-F34B4928B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686050"/>
            <a:ext cx="476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0e453a9bf84cf0">
            <a:extLst>
              <a:ext uri="{96DAC541-7B7A-43D3-8B79-37D633B846F1}">
                <asvg:svgBlip xmlns:asvg="http://schemas.microsoft.com/office/drawing/2016/SVG/main" r:embed="R9db88dd9492249d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286250" y="2914650"/>
            <a:ext cx="247650" cy="247650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5BC5FF-F989-44C1-8B2B-50B673196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8003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11C1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11C1D"/>
                </a:solidFill>
                <a:latin typeface="Aptos"/>
                <a:ea typeface="Aptos"/>
                <a:cs typeface="Aptos"/>
              </a:rPr>
              <a:t>Search by task or office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45949D-8246-4B15-B1DA-55BEC92F8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048000"/>
            <a:ext cx="4095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6D6262"/>
                </a:solidFill>
                <a:latin typeface="Aptos"/>
                <a:ea typeface="Aptos"/>
                <a:cs typeface="Aptos"/>
              </a:defRPr>
            </a:pPr>
            <a:r>
              <a:rPr sz="923" b="0">
                <a:solidFill>
                  <a:srgbClr val="6D6262"/>
                </a:solidFill>
                <a:latin typeface="Aptos"/>
                <a:ea typeface="Aptos"/>
                <a:cs typeface="Aptos"/>
              </a:rPr>
              <a:t>Students can search for a task, office, or document instead of guessing a category.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E78CFF-E07B-4B2F-BF67-7A320E150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638550"/>
            <a:ext cx="52387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D8C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F27740F-C6AF-4C62-B778-5236DB859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638550"/>
            <a:ext cx="476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a8d55680bb4fda">
            <a:extLst>
              <a:ext uri="{96DAC541-7B7A-43D3-8B79-37D633B846F1}">
                <asvg:svgBlip xmlns:asvg="http://schemas.microsoft.com/office/drawing/2016/SVG/main" r:embed="R99e20d3f6c4f495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286250" y="3867150"/>
            <a:ext cx="247650" cy="247650"/>
          </a:xfrm>
          <a:prstGeom xmlns:a="http://schemas.openxmlformats.org/drawingml/2006/main" prst="rect">
            <a:avLst/>
          </a:prstGeom>
        </p:spPr>
      </p:pic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47C2C73-9850-4DFC-8BF4-F36085F41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752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11C1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11C1D"/>
                </a:solidFill>
                <a:latin typeface="Aptos"/>
                <a:ea typeface="Aptos"/>
                <a:cs typeface="Aptos"/>
              </a:rPr>
              <a:t>Counters group concerns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7C394EB-28FC-4F23-B2F3-8C29585E6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000500"/>
            <a:ext cx="4095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6D6262"/>
                </a:solidFill>
                <a:latin typeface="Aptos"/>
                <a:ea typeface="Aptos"/>
                <a:cs typeface="Aptos"/>
              </a:defRPr>
            </a:pPr>
            <a:r>
              <a:rPr sz="923" b="0">
                <a:solidFill>
                  <a:srgbClr val="6D6262"/>
                </a:solidFill>
                <a:latin typeface="Aptos"/>
                <a:ea typeface="Aptos"/>
                <a:cs typeface="Aptos"/>
              </a:rPr>
              <a:t>Student Services, Safety, Welfare, Guidelines, Locations, and Offices become visible paths.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1A79FDE-DAA5-4C40-8281-689DCBD53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591050"/>
            <a:ext cx="52387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D8C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218F744-D6A6-4CD3-8CA2-771A48F42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591050"/>
            <a:ext cx="476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001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48929493a64eff">
            <a:extLst>
              <a:ext uri="{96DAC541-7B7A-43D3-8B79-37D633B846F1}">
                <asvg:svgBlip xmlns:asvg="http://schemas.microsoft.com/office/drawing/2016/SVG/main" r:embed="Raf796faa5658489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286250" y="4819650"/>
            <a:ext cx="247650" cy="247650"/>
          </a:xfrm>
          <a:prstGeom xmlns:a="http://schemas.openxmlformats.org/drawingml/2006/main" prst="rect">
            <a:avLst/>
          </a:prstGeom>
        </p:spPr>
      </p:pic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4A3BC10-31AC-4386-AAC9-906D063EB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7053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11C1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11C1D"/>
                </a:solidFill>
                <a:latin typeface="Aptos"/>
                <a:ea typeface="Aptos"/>
                <a:cs typeface="Aptos"/>
              </a:rPr>
              <a:t>Procedure tickets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598FE77-9275-4C18-AC70-634B6B5FF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953000"/>
            <a:ext cx="4095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6D6262"/>
                </a:solidFill>
                <a:latin typeface="Aptos"/>
                <a:ea typeface="Aptos"/>
                <a:cs typeface="Aptos"/>
              </a:defRPr>
            </a:pPr>
            <a:r>
              <a:rPr sz="923" b="0">
                <a:solidFill>
                  <a:srgbClr val="6D6262"/>
                </a:solidFill>
                <a:latin typeface="Aptos"/>
                <a:ea typeface="Aptos"/>
                <a:cs typeface="Aptos"/>
              </a:rPr>
              <a:t>Each ticket previews the topic, relevant office, update date, and number of steps.</a:t>
            </a:r>
          </a:p>
        </p:txBody>
      </p:sp>
    </p:spTree>
    <p:extLst>
      <p:ext uri="{BB962C8B-B14F-4D97-AF65-F5344CB8AC3E}">
        <p14:creationId xmlns:p14="http://schemas.microsoft.com/office/powerpoint/2010/main" val="1292670033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AB3B437-BEA9-4D8D-BEF3-9189C831F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ADCB32-923E-4553-92E2-47921F113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"/>
            <a:ext cx="11163300" cy="582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E4D8C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66D9AC-3A3C-4B92-BA56-24611A853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"/>
            <a:ext cx="76200" cy="582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001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18B8D7-4B9A-49E9-847B-CD11E865F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763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A5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B21486-D230-4982-8C31-9FF7CB76F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80010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A001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8A001C"/>
                </a:solidFill>
                <a:latin typeface="Aptos"/>
                <a:ea typeface="Aptos"/>
                <a:cs typeface="Aptos"/>
              </a:rPr>
              <a:t>DEMO STEP 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AE1047-41DB-4071-952A-77690F7E8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181100"/>
            <a:ext cx="7429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11C1D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211C1D"/>
                </a:solidFill>
                <a:latin typeface="Aptos Display"/>
                <a:ea typeface="Aptos Display"/>
                <a:cs typeface="Aptos Display"/>
              </a:rPr>
              <a:t>The student follows a procedure ticket.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D279A8-D390-473B-9706-AAE834EB6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43100"/>
            <a:ext cx="685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D626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D6262"/>
                </a:solidFill>
                <a:latin typeface="Aptos"/>
                <a:ea typeface="Aptos"/>
                <a:cs typeface="Aptos"/>
              </a:rPr>
              <a:t>The full ticket view remains visible so requirements, office context, source note, and step sequence are not cut off.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F54A4E-7D48-419C-9949-9EB2AD7F9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153150"/>
            <a:ext cx="4762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D626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D6262"/>
                </a:solidFill>
                <a:latin typeface="Aptos"/>
                <a:ea typeface="Aptos"/>
                <a:cs typeface="Aptos"/>
              </a:rPr>
              <a:t>Haki proposal for TUPT administrative review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D0F69E-F1C8-4BFF-8C2B-7FA756C7C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153150"/>
            <a:ext cx="400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211C1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11C1D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75459B-80FE-4783-904A-4A9012F32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24100"/>
            <a:ext cx="1743075" cy="3695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C1D"/>
          </a:solidFill>
          <a:ln xmlns:a="http://schemas.openxmlformats.org/drawingml/2006/main" w="9525">
            <a:solidFill>
              <a:srgbClr val="211C1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0B5EEC-5F24-4831-B475-31E7B6D47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381250"/>
            <a:ext cx="1628775" cy="3581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D8C8"/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8d9df737d94a4f"/>
          <a:stretch xmlns:a="http://schemas.openxmlformats.org/drawingml/2006/main"/>
        </p:blipFill>
        <p:spPr>
          <a:xfrm xmlns:a="http://schemas.openxmlformats.org/drawingml/2006/main">
            <a:off x="1123950" y="2403642"/>
            <a:ext cx="1590675" cy="3536616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43CCE9-D74E-45FA-8506-6190CBFA1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686050"/>
            <a:ext cx="52387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D8C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AC9F5C-A175-435A-866F-19A336C34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686050"/>
            <a:ext cx="476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001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46ab83c2064c92">
            <a:extLst>
              <a:ext uri="{96DAC541-7B7A-43D3-8B79-37D633B846F1}">
                <asvg:svgBlip xmlns:asvg="http://schemas.microsoft.com/office/drawing/2016/SVG/main" r:embed="R0c54c31bfa0840b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286250" y="2914650"/>
            <a:ext cx="247650" cy="247650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1A9919-2E0F-41C2-ADF0-A148C52EA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8003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11C1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11C1D"/>
                </a:solidFill>
                <a:latin typeface="Aptos"/>
                <a:ea typeface="Aptos"/>
                <a:cs typeface="Aptos"/>
              </a:rPr>
              <a:t>Step-by-step guide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7FE9F6-9F5C-4535-BFBC-E958206E5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048000"/>
            <a:ext cx="4095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6D6262"/>
                </a:solidFill>
                <a:latin typeface="Aptos"/>
                <a:ea typeface="Aptos"/>
                <a:cs typeface="Aptos"/>
              </a:defRPr>
            </a:pPr>
            <a:r>
              <a:rPr sz="923" b="0">
                <a:solidFill>
                  <a:srgbClr val="6D6262"/>
                </a:solidFill>
                <a:latin typeface="Aptos"/>
                <a:ea typeface="Aptos"/>
                <a:cs typeface="Aptos"/>
              </a:rPr>
              <a:t>Procedure content is broken into ordered actions, reducing confusion before the office visit.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C7FC6E-4C1D-4831-94B7-F38B1DA5D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638550"/>
            <a:ext cx="52387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D8C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EA1AE4-80A9-4AD4-9EC7-A3A7D278D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638550"/>
            <a:ext cx="476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5A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580e46ed874e4e">
            <a:extLst>
              <a:ext uri="{96DAC541-7B7A-43D3-8B79-37D633B846F1}">
                <asvg:svgBlip xmlns:asvg="http://schemas.microsoft.com/office/drawing/2016/SVG/main" r:embed="R31dde988614e4ab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286250" y="3867150"/>
            <a:ext cx="247650" cy="247650"/>
          </a:xfrm>
          <a:prstGeom xmlns:a="http://schemas.openxmlformats.org/drawingml/2006/main" prst="rect">
            <a:avLst/>
          </a:prstGeom>
        </p:spPr>
      </p:pic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EE725ED-1577-4F34-9D03-6605BBABC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752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11C1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11C1D"/>
                </a:solidFill>
                <a:latin typeface="Aptos"/>
                <a:ea typeface="Aptos"/>
                <a:cs typeface="Aptos"/>
              </a:rPr>
              <a:t>Office context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55AB9F0-9D20-46C2-976F-03EDDB5D1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000500"/>
            <a:ext cx="4095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6D6262"/>
                </a:solidFill>
                <a:latin typeface="Aptos"/>
                <a:ea typeface="Aptos"/>
                <a:cs typeface="Aptos"/>
              </a:defRPr>
            </a:pPr>
            <a:r>
              <a:rPr sz="923" b="0">
                <a:solidFill>
                  <a:srgbClr val="6D6262"/>
                </a:solidFill>
                <a:latin typeface="Aptos"/>
                <a:ea typeface="Aptos"/>
                <a:cs typeface="Aptos"/>
              </a:rPr>
              <a:t>The page names the office or offices involved, helping students route the concern.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3C2BC7F-A99E-4E88-A362-AB0D02CD5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591050"/>
            <a:ext cx="52387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D8C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9DB7499-3291-4F37-9940-7FAC0494F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591050"/>
            <a:ext cx="476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cba2b137744b48">
            <a:extLst>
              <a:ext uri="{96DAC541-7B7A-43D3-8B79-37D633B846F1}">
                <asvg:svgBlip xmlns:asvg="http://schemas.microsoft.com/office/drawing/2016/SVG/main" r:embed="Re090f6b70c7148f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286250" y="4819650"/>
            <a:ext cx="247650" cy="247650"/>
          </a:xfrm>
          <a:prstGeom xmlns:a="http://schemas.openxmlformats.org/drawingml/2006/main" prst="rect">
            <a:avLst/>
          </a:prstGeom>
        </p:spPr>
      </p:pic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6FD04A8-A0DA-4424-93B0-1314A1B71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7053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11C1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11C1D"/>
                </a:solidFill>
                <a:latin typeface="Aptos"/>
                <a:ea typeface="Aptos"/>
                <a:cs typeface="Aptos"/>
              </a:rPr>
              <a:t>Update visibility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346F07B-3BF3-4268-A8C2-E6EAF14D4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953000"/>
            <a:ext cx="4095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6D6262"/>
                </a:solidFill>
                <a:latin typeface="Aptos"/>
                <a:ea typeface="Aptos"/>
                <a:cs typeface="Aptos"/>
              </a:defRPr>
            </a:pPr>
            <a:r>
              <a:rPr sz="923" b="0">
                <a:solidFill>
                  <a:srgbClr val="6D6262"/>
                </a:solidFill>
                <a:latin typeface="Aptos"/>
                <a:ea typeface="Aptos"/>
                <a:cs typeface="Aptos"/>
              </a:rPr>
              <a:t>The update date helps Admin and maintainers reason about content freshness.</a:t>
            </a:r>
          </a:p>
        </p:txBody>
      </p:sp>
    </p:spTree>
    <p:extLst>
      <p:ext uri="{BB962C8B-B14F-4D97-AF65-F5344CB8AC3E}">
        <p14:creationId xmlns:p14="http://schemas.microsoft.com/office/powerpoint/2010/main" val="1916120093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A7BA979-D0ED-425C-B6D1-39B1A6369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9B61B2-CB0B-486C-B05B-69CEFA129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"/>
            <a:ext cx="11163300" cy="582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E4D8C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1F441E-A8DD-4043-8ECE-2E74A56B0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"/>
            <a:ext cx="76200" cy="582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001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E12B27-DD56-49A4-937D-684823DBF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763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A5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6C2935-59B1-46D6-A107-0CBB1312E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80010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A001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8A001C"/>
                </a:solidFill>
                <a:latin typeface="Aptos"/>
                <a:ea typeface="Aptos"/>
                <a:cs typeface="Aptos"/>
              </a:rPr>
              <a:t>DEMO STEP 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4062FC-6986-4AC5-A340-F03A29380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181100"/>
            <a:ext cx="7429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11C1D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211C1D"/>
                </a:solidFill>
                <a:latin typeface="Aptos Display"/>
                <a:ea typeface="Aptos Display"/>
                <a:cs typeface="Aptos Display"/>
              </a:rPr>
              <a:t>The student can continue into campus-life tools.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68C3CE-A80A-4600-8780-61B8D373F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43100"/>
            <a:ext cx="685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D626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D6262"/>
                </a:solidFill>
                <a:latin typeface="Aptos"/>
                <a:ea typeface="Aptos"/>
                <a:cs typeface="Aptos"/>
              </a:rPr>
              <a:t>These full-height screenshots show supporting utilities without cutting off their top bars, content cards, or navigation.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18862E-8132-45A3-9541-4110A6C16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153150"/>
            <a:ext cx="4762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D626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D6262"/>
                </a:solidFill>
                <a:latin typeface="Aptos"/>
                <a:ea typeface="Aptos"/>
                <a:cs typeface="Aptos"/>
              </a:rPr>
              <a:t>Haki proposal for TUPT administrative review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405C03-C4AE-4111-AB37-D4A7EF2D8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153150"/>
            <a:ext cx="400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211C1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11C1D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8BD829-AC20-4818-B360-138595981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00300"/>
            <a:ext cx="1562100" cy="327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C1D"/>
          </a:solidFill>
          <a:ln xmlns:a="http://schemas.openxmlformats.org/drawingml/2006/main" w="9525">
            <a:solidFill>
              <a:srgbClr val="211C1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7DCE47-152E-4EA7-AE71-878582A62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57450"/>
            <a:ext cx="1447800" cy="3162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D8C8"/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61b84dd9e74efb"/>
          <a:stretch xmlns:a="http://schemas.openxmlformats.org/drawingml/2006/main"/>
        </p:blipFill>
        <p:spPr>
          <a:xfrm xmlns:a="http://schemas.openxmlformats.org/drawingml/2006/main">
            <a:off x="1031869" y="2476500"/>
            <a:ext cx="1403362" cy="312420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D51DF1-BD8E-432C-A43B-024E8AC74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400300"/>
            <a:ext cx="1562100" cy="327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C1D"/>
          </a:solidFill>
          <a:ln xmlns:a="http://schemas.openxmlformats.org/drawingml/2006/main" w="9525">
            <a:solidFill>
              <a:srgbClr val="211C1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BC0A9E-CE50-457F-9F58-3BEF76EAB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457450"/>
            <a:ext cx="1447800" cy="3162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D8C8"/>
            </a:solidFill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353a044df34fe6"/>
          <a:stretch xmlns:a="http://schemas.openxmlformats.org/drawingml/2006/main"/>
        </p:blipFill>
        <p:spPr>
          <a:xfrm xmlns:a="http://schemas.openxmlformats.org/drawingml/2006/main">
            <a:off x="3584058" y="2476500"/>
            <a:ext cx="1404383" cy="3124200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2FEE6B-FF5D-456C-9418-2E2BA7564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400300"/>
            <a:ext cx="1562100" cy="327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C1D"/>
          </a:solidFill>
          <a:ln xmlns:a="http://schemas.openxmlformats.org/drawingml/2006/main" w="9525">
            <a:solidFill>
              <a:srgbClr val="211C1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8438DD-D949-4DF9-A403-657EAA569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457450"/>
            <a:ext cx="1447800" cy="3162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D8C8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3213841fa1483e"/>
          <a:stretch xmlns:a="http://schemas.openxmlformats.org/drawingml/2006/main"/>
        </p:blipFill>
        <p:spPr>
          <a:xfrm xmlns:a="http://schemas.openxmlformats.org/drawingml/2006/main">
            <a:off x="6136703" y="2476500"/>
            <a:ext cx="1404493" cy="3124200"/>
          </a:xfrm>
          <a:prstGeom xmlns:a="http://schemas.openxmlformats.org/drawingml/2006/main" prst="rect">
            <a:avLst/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4F53E5-BE33-4794-B390-F3C693998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753100"/>
            <a:ext cx="1409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D6A52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D6A528"/>
                </a:solidFill>
                <a:latin typeface="Aptos"/>
                <a:ea typeface="Aptos"/>
                <a:cs typeface="Aptos"/>
              </a:rPr>
              <a:t>Tips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50615CB-37B0-491F-B0B9-3E13655B6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5753100"/>
            <a:ext cx="1409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6B5FB5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6B5FB5"/>
                </a:solidFill>
                <a:latin typeface="Aptos"/>
                <a:ea typeface="Aptos"/>
                <a:cs typeface="Aptos"/>
              </a:rPr>
              <a:t>Org Chart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F14172E-F783-445C-9301-A32EED5D3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5753100"/>
            <a:ext cx="1409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8A001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8A001C"/>
                </a:solidFill>
                <a:latin typeface="Aptos"/>
                <a:ea typeface="Aptos"/>
                <a:cs typeface="Aptos"/>
              </a:rPr>
              <a:t>Food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9B1FE48-1610-4FF7-89A1-506BC2093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200400"/>
            <a:ext cx="200025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4E8"/>
          </a:solidFill>
          <a:ln xmlns:a="http://schemas.openxmlformats.org/drawingml/2006/main" w="9525">
            <a:solidFill>
              <a:srgbClr val="E9C9D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5C0478F-A923-44C7-8BA4-367631276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429000"/>
            <a:ext cx="1466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8A001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8A001C"/>
                </a:solidFill>
                <a:latin typeface="Aptos"/>
                <a:ea typeface="Aptos"/>
                <a:cs typeface="Aptos"/>
              </a:rPr>
              <a:t>Demo takeaway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E692DA7-075D-4BC3-8186-A04A822A1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829050"/>
            <a:ext cx="1428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38100" anchor="t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211C1D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211C1D"/>
                </a:solidFill>
                <a:latin typeface="Aptos"/>
                <a:ea typeface="Aptos"/>
                <a:cs typeface="Aptos"/>
              </a:rPr>
              <a:t>Haki behaves like a campus companion: it answers, routes, locates, and helps students prepare.</a:t>
            </a:r>
          </a:p>
        </p:txBody>
      </p:sp>
    </p:spTree>
    <p:extLst>
      <p:ext uri="{BB962C8B-B14F-4D97-AF65-F5344CB8AC3E}">
        <p14:creationId xmlns:p14="http://schemas.microsoft.com/office/powerpoint/2010/main" val="148110535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2026-06-08T02:11:50.1290000Z</dcterms:created>
  <dcterms:modified xsi:type="dcterms:W3CDTF">2026-06-08T02:11:50.1290000Z</dcterms:modified>
</coreProperties>
</file>