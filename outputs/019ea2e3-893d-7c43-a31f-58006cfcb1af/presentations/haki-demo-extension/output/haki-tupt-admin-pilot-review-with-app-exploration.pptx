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1809ddfbf64c44" /><Relationship Type="http://schemas.openxmlformats.org/officeDocument/2006/relationships/extended-properties" Target="/docProps/app.xml" Id="R05d980aea35d446c" /><Relationship Type="http://schemas.openxmlformats.org/officeDocument/2006/relationships/officeDocument" Target="/ppt/presentation.xml" Id="R99c80111130142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7d01ce3b74139"/>
  </p:sldMasterIdLst>
  <p:notesMasterIdLst>
    <p:notesMasterId xmlns:r="http://schemas.openxmlformats.org/officeDocument/2006/relationships" r:id="R4b1d98953ad24a37"/>
  </p:notesMasterIdLst>
  <p:sldIdLst>
    <p:sldId xmlns:r="http://schemas.openxmlformats.org/officeDocument/2006/relationships" id="256" r:id="Rd279a727497e47c2"/>
    <p:sldId xmlns:r="http://schemas.openxmlformats.org/officeDocument/2006/relationships" id="257" r:id="R9503064c2bb6492b"/>
    <p:sldId xmlns:r="http://schemas.openxmlformats.org/officeDocument/2006/relationships" id="258" r:id="Rb6ccad0ef26c4f99"/>
    <p:sldId xmlns:r="http://schemas.openxmlformats.org/officeDocument/2006/relationships" id="259" r:id="Rfa46d3c2ebcd46c8"/>
    <p:sldId xmlns:r="http://schemas.openxmlformats.org/officeDocument/2006/relationships" id="260" r:id="R55d1e6585b1b4659"/>
    <p:sldId xmlns:r="http://schemas.openxmlformats.org/officeDocument/2006/relationships" id="261" r:id="Rc2ae38bf13b34980"/>
    <p:sldId xmlns:r="http://schemas.openxmlformats.org/officeDocument/2006/relationships" id="262" r:id="R0506e66d2d044bc1"/>
    <p:sldId xmlns:r="http://schemas.openxmlformats.org/officeDocument/2006/relationships" id="263" r:id="R214675b32b4349a2"/>
    <p:sldId xmlns:r="http://schemas.openxmlformats.org/officeDocument/2006/relationships" id="264" r:id="R3f7aaf0c187f4e29"/>
    <p:sldId xmlns:r="http://schemas.openxmlformats.org/officeDocument/2006/relationships" id="265" r:id="R26345d8ea1b54d7b"/>
    <p:sldId xmlns:r="http://schemas.openxmlformats.org/officeDocument/2006/relationships" id="266" r:id="R46bd16eea2324914"/>
    <p:sldId xmlns:r="http://schemas.openxmlformats.org/officeDocument/2006/relationships" id="267" r:id="R12c63317cb4f40b4"/>
    <p:sldId xmlns:r="http://schemas.openxmlformats.org/officeDocument/2006/relationships" id="268" r:id="R6aff76559b664e25"/>
    <p:sldId xmlns:r="http://schemas.openxmlformats.org/officeDocument/2006/relationships" id="269" r:id="Rfcfdbcc27f12410e"/>
    <p:sldId xmlns:r="http://schemas.openxmlformats.org/officeDocument/2006/relationships" id="270" r:id="Rf5c8389e88224879"/>
    <p:sldId xmlns:r="http://schemas.openxmlformats.org/officeDocument/2006/relationships" id="271" r:id="R8d1bf99afbee4abb"/>
    <p:sldId xmlns:r="http://schemas.openxmlformats.org/officeDocument/2006/relationships" id="272" r:id="R3da800416be54b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6d49a421064ffd" /><Relationship Type="http://schemas.openxmlformats.org/officeDocument/2006/relationships/slideMaster" Target="/ppt/slideMasters/slideMaster1.xml" Id="R37e7d01ce3b74139" /><Relationship Type="http://schemas.openxmlformats.org/officeDocument/2006/relationships/notesMaster" Target="/ppt/notesMasters/notesMaster1.xml" Id="R4b1d98953ad24a37" /><Relationship Type="http://schemas.openxmlformats.org/officeDocument/2006/relationships/presProps" Target="/ppt/presProps.xml" Id="R9ca9ab02cc364a26" /><Relationship Type="http://schemas.openxmlformats.org/officeDocument/2006/relationships/viewProps" Target="/ppt/viewProps.xml" Id="R2813d7281bb74a34" /><Relationship Type="http://schemas.openxmlformats.org/officeDocument/2006/relationships/tableStyles" Target="/ppt/tableStyles.xml" Id="R8fb0ac1a6aeb4465" /><Relationship Type="http://schemas.openxmlformats.org/officeDocument/2006/relationships/slide" Target="/ppt/slides/slide1.xml" Id="Rd279a727497e47c2" /><Relationship Type="http://schemas.openxmlformats.org/officeDocument/2006/relationships/slide" Target="/ppt/slides/slide2.xml" Id="R9503064c2bb6492b" /><Relationship Type="http://schemas.openxmlformats.org/officeDocument/2006/relationships/slide" Target="/ppt/slides/slide3.xml" Id="Rb6ccad0ef26c4f99" /><Relationship Type="http://schemas.openxmlformats.org/officeDocument/2006/relationships/slide" Target="/ppt/slides/slide4.xml" Id="Rfa46d3c2ebcd46c8" /><Relationship Type="http://schemas.openxmlformats.org/officeDocument/2006/relationships/slide" Target="/ppt/slides/slide5.xml" Id="R55d1e6585b1b4659" /><Relationship Type="http://schemas.openxmlformats.org/officeDocument/2006/relationships/slide" Target="/ppt/slides/slide6.xml" Id="Rc2ae38bf13b34980" /><Relationship Type="http://schemas.openxmlformats.org/officeDocument/2006/relationships/slide" Target="/ppt/slides/slide7.xml" Id="R0506e66d2d044bc1" /><Relationship Type="http://schemas.openxmlformats.org/officeDocument/2006/relationships/slide" Target="/ppt/slides/slide8.xml" Id="R214675b32b4349a2" /><Relationship Type="http://schemas.openxmlformats.org/officeDocument/2006/relationships/slide" Target="/ppt/slides/slide9.xml" Id="R3f7aaf0c187f4e29" /><Relationship Type="http://schemas.openxmlformats.org/officeDocument/2006/relationships/slide" Target="/ppt/slides/slide10.xml" Id="R26345d8ea1b54d7b" /><Relationship Type="http://schemas.openxmlformats.org/officeDocument/2006/relationships/slide" Target="/ppt/slides/slide11.xml" Id="R46bd16eea2324914" /><Relationship Type="http://schemas.openxmlformats.org/officeDocument/2006/relationships/slide" Target="/ppt/slides/slide12.xml" Id="R12c63317cb4f40b4" /><Relationship Type="http://schemas.openxmlformats.org/officeDocument/2006/relationships/slide" Target="/ppt/slides/slide13.xml" Id="R6aff76559b664e25" /><Relationship Type="http://schemas.openxmlformats.org/officeDocument/2006/relationships/slide" Target="/ppt/slides/slide14.xml" Id="Rfcfdbcc27f12410e" /><Relationship Type="http://schemas.openxmlformats.org/officeDocument/2006/relationships/slide" Target="/ppt/slides/slide15.xml" Id="Rf5c8389e88224879" /><Relationship Type="http://schemas.openxmlformats.org/officeDocument/2006/relationships/slide" Target="/ppt/slides/slide16.xml" Id="R8d1bf99afbee4abb" /><Relationship Type="http://schemas.openxmlformats.org/officeDocument/2006/relationships/slide" Target="/ppt/slides/slide17.xml" Id="R3da800416be54b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b760ec89ea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4e0c8ebbc45d7" /><Relationship Type="http://schemas.openxmlformats.org/officeDocument/2006/relationships/notesMaster" Target="/ppt/notesMasters/notesMaster1.xml" Id="R6fd3224d492a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fc211277c451a" /><Relationship Type="http://schemas.openxmlformats.org/officeDocument/2006/relationships/notesMaster" Target="/ppt/notesMasters/notesMaster1.xml" Id="R22c31392ec6c48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24295f2c74832" /><Relationship Type="http://schemas.openxmlformats.org/officeDocument/2006/relationships/notesMaster" Target="/ppt/notesMasters/notesMaster1.xml" Id="R6842d54586aa42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d5d68222a348fa" /><Relationship Type="http://schemas.openxmlformats.org/officeDocument/2006/relationships/notesMaster" Target="/ppt/notesMasters/notesMaster1.xml" Id="Rac408f8ca21e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aba4f2360b4c42" /><Relationship Type="http://schemas.openxmlformats.org/officeDocument/2006/relationships/notesMaster" Target="/ppt/notesMasters/notesMaster1.xml" Id="Rc3af49a3a4c141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ed935fee7a498f" /><Relationship Type="http://schemas.openxmlformats.org/officeDocument/2006/relationships/notesMaster" Target="/ppt/notesMasters/notesMaster1.xml" Id="R3652e5c5ff1342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206ae3675e4b86" /><Relationship Type="http://schemas.openxmlformats.org/officeDocument/2006/relationships/notesMaster" Target="/ppt/notesMasters/notesMaster1.xml" Id="R439417ba35b440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6c253c3c834763" /><Relationship Type="http://schemas.openxmlformats.org/officeDocument/2006/relationships/notesMaster" Target="/ppt/notesMasters/notesMaster1.xml" Id="R9261c21673314e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66a6f51e14ea4" /><Relationship Type="http://schemas.openxmlformats.org/officeDocument/2006/relationships/notesMaster" Target="/ppt/notesMasters/notesMaster1.xml" Id="R1937f7d6ba724e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d45335a3a4e70" /><Relationship Type="http://schemas.openxmlformats.org/officeDocument/2006/relationships/notesMaster" Target="/ppt/notesMasters/notesMaster1.xml" Id="R937551d1c2a54a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28ced72335475f" /><Relationship Type="http://schemas.openxmlformats.org/officeDocument/2006/relationships/notesMaster" Target="/ppt/notesMasters/notesMaster1.xml" Id="R0af7fb433ab34c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35345732944f66" /><Relationship Type="http://schemas.openxmlformats.org/officeDocument/2006/relationships/notesMaster" Target="/ppt/notesMasters/notesMaster1.xml" Id="Rb9e6eab7ca934e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3c69bf949742c5" /><Relationship Type="http://schemas.openxmlformats.org/officeDocument/2006/relationships/notesMaster" Target="/ppt/notesMasters/notesMaster1.xml" Id="R7b03c65aa8054f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7b8db1310b450f" /><Relationship Type="http://schemas.openxmlformats.org/officeDocument/2006/relationships/notesMaster" Target="/ppt/notesMasters/notesMaster1.xml" Id="Rb48ebd4af1b344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efb36153bb4bbf" /><Relationship Type="http://schemas.openxmlformats.org/officeDocument/2006/relationships/notesMaster" Target="/ppt/notesMasters/notesMaster1.xml" Id="R18ffe40ba1d042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a0e0dc9e754431" /><Relationship Type="http://schemas.openxmlformats.org/officeDocument/2006/relationships/notesMaster" Target="/ppt/notesMasters/notesMaster1.xml" Id="R2e69ed2ba2fb48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55281310874b70" /><Relationship Type="http://schemas.openxmlformats.org/officeDocument/2006/relationships/notesMaster" Target="/ppt/notesMasters/notesMaster1.xml" Id="Ra5f493cf0c7a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0d2b8b036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dda4da658b462f" /><Relationship Type="http://schemas.openxmlformats.org/officeDocument/2006/relationships/slideLayout" Target="/ppt/slideLayouts/slideLayout1.xml" Id="R299d30e6a5a0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d30e6a5a0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4fd6861864d22" /><Relationship Type="http://schemas.openxmlformats.org/officeDocument/2006/relationships/image" Target="/ppt/media/image.png" Id="Rcdfca002744f4def" /><Relationship Type="http://schemas.openxmlformats.org/officeDocument/2006/relationships/notesSlide" Target="/ppt/notesSlides/notesSlide1.xml" Id="Rf6518e15db86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2b30e859a46f2" /><Relationship Type="http://schemas.openxmlformats.org/officeDocument/2006/relationships/notesSlide" Target="/ppt/notesSlides/notesSlide2.xml" Id="R58b0c8e8e9674a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a64b70dc4b66" /><Relationship Type="http://schemas.openxmlformats.org/officeDocument/2006/relationships/notesSlide" Target="/ppt/notesSlides/notesSlide3.xml" Id="R5c4ab93c43e745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69bbe5c8c4ccd" /><Relationship Type="http://schemas.openxmlformats.org/officeDocument/2006/relationships/image" Target="/ppt/media/image.jpeg" Id="R70306852c6474687" /><Relationship Type="http://schemas.openxmlformats.org/officeDocument/2006/relationships/image" Target="/ppt/media/image2.jpeg" Id="Rffe3d9646ff345ed" /><Relationship Type="http://schemas.openxmlformats.org/officeDocument/2006/relationships/image" Target="/ppt/media/image3.jpeg" Id="R6639fe69a5b84adb" /><Relationship Type="http://schemas.openxmlformats.org/officeDocument/2006/relationships/notesSlide" Target="/ppt/notesSlides/notesSlide4.xml" Id="R686ece859aa543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ab5d2e6bc437a" /><Relationship Type="http://schemas.openxmlformats.org/officeDocument/2006/relationships/image" Target="/ppt/media/image4.jpeg" Id="Rceb726d4774d4618" /><Relationship Type="http://schemas.openxmlformats.org/officeDocument/2006/relationships/notesSlide" Target="/ppt/notesSlides/notesSlide5.xml" Id="R12e42e3028ec4f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444773c5340fe" /><Relationship Type="http://schemas.openxmlformats.org/officeDocument/2006/relationships/image" Target="/ppt/media/image2.png" Id="R08fc3096eec54431" /><Relationship Type="http://schemas.openxmlformats.org/officeDocument/2006/relationships/notesSlide" Target="/ppt/notesSlides/notesSlide6.xml" Id="R0f88d572f23543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20638485447a9" /><Relationship Type="http://schemas.openxmlformats.org/officeDocument/2006/relationships/notesSlide" Target="/ppt/notesSlides/notesSlide7.xml" Id="R952b883f5bae4f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193df9e944a71" /><Relationship Type="http://schemas.openxmlformats.org/officeDocument/2006/relationships/notesSlide" Target="/ppt/notesSlides/notesSlide8.xml" Id="R903cddd84ccd4e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b590a6f9e48c9" /><Relationship Type="http://schemas.openxmlformats.org/officeDocument/2006/relationships/notesSlide" Target="/ppt/notesSlides/notesSlide9.xml" Id="R7c23ddb00f5648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048852377418f" /><Relationship Type="http://schemas.openxmlformats.org/officeDocument/2006/relationships/image" Target="/ppt/media/image5.jpeg" Id="R8fc1022b39634ea2" /><Relationship Type="http://schemas.openxmlformats.org/officeDocument/2006/relationships/notesSlide" Target="/ppt/notesSlides/notesSlide10.xml" Id="Rb54cf0608e4c46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cc7aad7ba4d62" /><Relationship Type="http://schemas.openxmlformats.org/officeDocument/2006/relationships/image" Target="/ppt/media/image3.png" Id="R11c0771b6b434300" /><Relationship Type="http://schemas.openxmlformats.org/officeDocument/2006/relationships/notesSlide" Target="/ppt/notesSlides/notesSlide11.xml" Id="R1100196f1b1e41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32fd58afe48f3" /><Relationship Type="http://schemas.openxmlformats.org/officeDocument/2006/relationships/image" Target="/ppt/media/image6.jpeg" Id="R0eed97a66c254f3b" /><Relationship Type="http://schemas.openxmlformats.org/officeDocument/2006/relationships/image" Target="/ppt/media/image4.png" Id="R1ecc67c2f2144fbf" /><Relationship Type="http://schemas.openxmlformats.org/officeDocument/2006/relationships/image" Target="/ppt/media/image.svg" Id="R47896bb225d74391" /><Relationship Type="http://schemas.openxmlformats.org/officeDocument/2006/relationships/image" Target="/ppt/media/image5.png" Id="R3ed4df1bf62c4205" /><Relationship Type="http://schemas.openxmlformats.org/officeDocument/2006/relationships/image" Target="/ppt/media/image2.svg" Id="Re7a87a64e11b4b95" /><Relationship Type="http://schemas.openxmlformats.org/officeDocument/2006/relationships/image" Target="/ppt/media/image6.png" Id="Rb7e21f23d87b4768" /><Relationship Type="http://schemas.openxmlformats.org/officeDocument/2006/relationships/image" Target="/ppt/media/image3.svg" Id="R473f22b9668c402f" /><Relationship Type="http://schemas.openxmlformats.org/officeDocument/2006/relationships/notesSlide" Target="/ppt/notesSlides/notesSlide12.xml" Id="Rda542b2b994d4f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1ff35a1544ab1" /><Relationship Type="http://schemas.openxmlformats.org/officeDocument/2006/relationships/image" Target="/ppt/media/image7.png" Id="R88766d92673641ff" /><Relationship Type="http://schemas.openxmlformats.org/officeDocument/2006/relationships/image" Target="/ppt/media/image8.png" Id="Ra6cfd89d7f7e4f6f" /><Relationship Type="http://schemas.openxmlformats.org/officeDocument/2006/relationships/image" Target="/ppt/media/image4.svg" Id="R1fd19f0320cd4484" /><Relationship Type="http://schemas.openxmlformats.org/officeDocument/2006/relationships/image" Target="/ppt/media/image9.png" Id="R32b2227ba7e44145" /><Relationship Type="http://schemas.openxmlformats.org/officeDocument/2006/relationships/image" Target="/ppt/media/image5.svg" Id="R64c4603b060142b4" /><Relationship Type="http://schemas.openxmlformats.org/officeDocument/2006/relationships/image" Target="/ppt/media/image10.png" Id="Rd138321d6b4246c8" /><Relationship Type="http://schemas.openxmlformats.org/officeDocument/2006/relationships/image" Target="/ppt/media/image6.svg" Id="R552802d2736f4cfb" /><Relationship Type="http://schemas.openxmlformats.org/officeDocument/2006/relationships/notesSlide" Target="/ppt/notesSlides/notesSlide13.xml" Id="Raf105583e31348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ed74c1d1b4e96" /><Relationship Type="http://schemas.openxmlformats.org/officeDocument/2006/relationships/image" Target="/ppt/media/image7.jpeg" Id="Ra7fd3b2bac004799" /><Relationship Type="http://schemas.openxmlformats.org/officeDocument/2006/relationships/image" Target="/ppt/media/image11.png" Id="R6f221fa835ff4e29" /><Relationship Type="http://schemas.openxmlformats.org/officeDocument/2006/relationships/image" Target="/ppt/media/image7.svg" Id="Ra06d0daae5884681" /><Relationship Type="http://schemas.openxmlformats.org/officeDocument/2006/relationships/notesSlide" Target="/ppt/notesSlides/notesSlide14.xml" Id="Reefafdfacdc047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2fa9c6fc48f8" /><Relationship Type="http://schemas.openxmlformats.org/officeDocument/2006/relationships/image" Target="/ppt/media/image8.jpeg" Id="Rdaa2a78d64d04dd8" /><Relationship Type="http://schemas.openxmlformats.org/officeDocument/2006/relationships/image" Target="/ppt/media/image12.png" Id="Rad76272435994914" /><Relationship Type="http://schemas.openxmlformats.org/officeDocument/2006/relationships/image" Target="/ppt/media/image8.svg" Id="R609c110d80d34db8" /><Relationship Type="http://schemas.openxmlformats.org/officeDocument/2006/relationships/image" Target="/ppt/media/image13.png" Id="R7b3ca4bfec974c9a" /><Relationship Type="http://schemas.openxmlformats.org/officeDocument/2006/relationships/image" Target="/ppt/media/image9.svg" Id="R220ebc7f79f242a8" /><Relationship Type="http://schemas.openxmlformats.org/officeDocument/2006/relationships/image" Target="/ppt/media/image14.png" Id="Rd0f4ec4c4c694c94" /><Relationship Type="http://schemas.openxmlformats.org/officeDocument/2006/relationships/image" Target="/ppt/media/image10.svg" Id="Rb1e5fed3ca5d4a85" /><Relationship Type="http://schemas.openxmlformats.org/officeDocument/2006/relationships/notesSlide" Target="/ppt/notesSlides/notesSlide15.xml" Id="R9c10cf982c3044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3cc15ef74c9e" /><Relationship Type="http://schemas.openxmlformats.org/officeDocument/2006/relationships/image" Target="/ppt/media/image15.png" Id="Ra294d79fdae6414e" /><Relationship Type="http://schemas.openxmlformats.org/officeDocument/2006/relationships/image" Target="/ppt/media/image16.png" Id="Rcc83f78ddd1e4ed8" /><Relationship Type="http://schemas.openxmlformats.org/officeDocument/2006/relationships/image" Target="/ppt/media/image11.svg" Id="Rd30f76c26f6f4807" /><Relationship Type="http://schemas.openxmlformats.org/officeDocument/2006/relationships/image" Target="/ppt/media/image17.png" Id="R92e5eeb2ae114c71" /><Relationship Type="http://schemas.openxmlformats.org/officeDocument/2006/relationships/image" Target="/ppt/media/image12.svg" Id="Rd99a22c852664511" /><Relationship Type="http://schemas.openxmlformats.org/officeDocument/2006/relationships/image" Target="/ppt/media/image18.png" Id="R9e29d6cd4427468f" /><Relationship Type="http://schemas.openxmlformats.org/officeDocument/2006/relationships/image" Target="/ppt/media/image13.svg" Id="R38726ca4293540ed" /><Relationship Type="http://schemas.openxmlformats.org/officeDocument/2006/relationships/notesSlide" Target="/ppt/notesSlides/notesSlide16.xml" Id="R12c2d6238f2a4a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d2b1b73ec4ccb" /><Relationship Type="http://schemas.openxmlformats.org/officeDocument/2006/relationships/image" Target="/ppt/media/image9.jpeg" Id="Rddb4f678fb8b425f" /><Relationship Type="http://schemas.openxmlformats.org/officeDocument/2006/relationships/image" Target="/ppt/media/image19.png" Id="R2f82ecd537834337" /><Relationship Type="http://schemas.openxmlformats.org/officeDocument/2006/relationships/image" Target="/ppt/media/image20.png" Id="R742c907049004c40" /><Relationship Type="http://schemas.openxmlformats.org/officeDocument/2006/relationships/notesSlide" Target="/ppt/notesSlides/notesSlide17.xml" Id="R435c3fe95b3b48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38D24-EF0C-4E65-ADAF-3E58831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3D198-6655-41EF-A654-1C80E93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7D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45948-58BB-440B-AB41-594A465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9E7C5-B83E-42B3-B5C8-07E9A86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D5FDE-E939-49B6-A629-28593B7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D3731-9E57-4201-886F-97793901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rPr>
              <a:t>Haki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0EB3-B595-4992-B24E-7E87EDE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Offline student information assistant for TUP Taguig.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0CE71-311F-4A03-B7BE-3032E1F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 source-referenced, admin-governed campus guide proposed for supervised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022E-3E39-4556-B254-60C5C5C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A900B-EB29-4956-97F9-6C0A7D5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B05D1-A435-4962-A234-8FCDA72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57D1-5EEE-4AC6-8D49-3B8C582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D7A1-4436-4084-8F25-A4DF605F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14CF-56F0-41F1-A376-430A24D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89713-88B6-4979-ACFC-478E691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C3670-A55C-4359-8679-FFF11CA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DD297-A8D5-4001-B386-4D7E267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Joshua Retrita | BSIT 2025-2026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617EB-9191-450A-8846-15D7B52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25F29-1BB3-48E6-AE26-91A04D5E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9FA8B-E90B-47D5-878F-76A0AB2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5908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9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ca002744f4def"/>
          <a:stretch xmlns:a="http://schemas.openxmlformats.org/drawingml/2006/main"/>
        </p:blipFill>
        <p:spPr>
          <a:xfrm xmlns:a="http://schemas.openxmlformats.org/drawingml/2006/main">
            <a:off x="7279343" y="685800"/>
            <a:ext cx="3253064" cy="5200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03004-BAB5-4D36-8DB6-BA94397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App-matched Haki mascot artwork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660F5-276C-4CAC-A047-6D5539B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4443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90658-0184-476C-B299-DD9E6B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2CBAE98-0910-4A17-8F55-DAA7529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4819C39-8271-4D34-A410-C9B0F4E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A1975-0837-411B-8590-19E204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The friction is not a lack of information. It is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7ED53-6A71-46BA-AF35-1359CB7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Students often need simple guidance, but the answer may live across office posts, pages, documents, and informal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51D4-A3EF-4B8B-8151-29B3A41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E161-B691-4D28-9FF5-DCCE95B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2BC2-BBF3-470E-B51C-028FB3C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292F6-DF77-4313-8C27-2473968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Information is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750B-E2DE-4350-892A-A3145CF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Office posts, pages, handbooks, room lists, and student hearsay are not one searchable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9737-F1F7-48FB-A06E-98BC665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2C2F7-D579-49F2-9307-6396DF48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D240D-39F3-42D5-858E-1C8ECC3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CF4E-BD90-4E58-9CE2-DC738767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Students ask repeatedly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723EA-B463-4755-90DF-44DC482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Basic questions reach front desks, classmates, group chats, or the wrong office.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EDD0D-C295-4351-95C7-26C7BBA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62045-0FC6-4B10-9969-CACCD38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F851-254C-4182-8DD5-348EBA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FD45D-F510-46A0-85B4-CBD0E35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Offices absorb avoidable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703A6-5F7C-4F60-AC6D-924F158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Staff still become the last-mile explanation layer for routine campus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80546-F54E-4E59-9B6E-0831229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F3AB-01D4-42C6-95E3-C45C93A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69E9D-98F2-4F75-82E9-55978A8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A2A90-19BD-4C84-9765-650FAA2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70E7F-E352-4582-AC3D-9888217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782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505D8-5D54-4903-9E2C-F060900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Presentation 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0FA9-CA9E-4904-940D-0536022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Evaluate Haki as a student service layer first; treat AI as optional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D5221-3828-4E63-95AC-8FC8B6E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This framing keeps the discussion practical: accuracy, ownership, privacy, maintainability, and pilot governance.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C9BDD-4F79-4637-90EE-04B4C21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EA7A3-57F3-4081-A22F-A140A67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99636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F356E-4C92-4E19-BEED-8DF2EFA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DE7567E-A02F-45AE-95AB-D33DCFC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98EF9E1-C646-49FB-A2BE-94B000C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WHAT HAKI ACTUALLY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6DD3-7BA2-4E15-8637-964CF3A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Haki answers from approved local sources before it ever needs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709E-FC24-42ED-A7B9-4CC9251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5E41-693F-479F-883F-2F060D6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C816-A21E-4BB2-A14D-008913A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TUPT-approved source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71D15-6433-4F42-A565-777FE4A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Documents, procedures, office guidance, citations, and update dates selected by Administration.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DDAA-2B12-43EB-9143-B0F42AC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31D45-3669-4078-B750-0CCBEA53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3D6F-91A3-41B7-9B5E-66F4BE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On-device SQLite + 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FAB93-8EB5-431C-8BBA-6D649E5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Searchable local index works offline and remains the baseline even without a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86AE-22BF-46C3-B3F2-C54A934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2F41C-D84D-4D40-9377-ABA8F03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EF0D-7BC9-48E7-84B7-6714947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Source answer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7C20-A5B7-440D-AA2F-D65B0B3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Ranks results, checks confidence, and formats the answer with citations.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41711-33AA-4779-90B5-A3DCDB0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6DD7A-A9A8-4F9A-A1F3-1C90A16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EDCC7-48C5-4B1F-B35B-0DDD64C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surfaces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1D721-05B3-4239-9BB8-31B2252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40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Chat, Service Desk, Library, Map, and other app screens expose the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A0851-E9DF-470A-B589-4709080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9CBDE-8B47-43BB-8BD8-9FE7041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5271A-7E3B-45FF-9902-3DE07F1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38C56-C662-4084-BFFF-6CE292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E72B-92E3-403E-9421-7959937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C3FF8-698A-4BFC-B719-4CCCF16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6B3B1-8233-4F46-BB25-1B61EE6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2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C491-2033-472D-BB6C-A0ACB45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Optional local AI 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5D1E1-E1BE-4593-974D-53F2096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Compatible downloaded model -&gt; supportive/general chat and local summarization only when safe. Official campus procedures still come from saved sources.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1192F-21E7-4D7F-97D0-516D58D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0932C-92A1-47DA-BEAC-CC167A39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01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AI is 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AD33-9832-40B6-A758-75EB61A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BE60E-FF0F-45DF-8117-655116F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290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B57F-1D2F-4F2E-8634-59FE8EF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D96F415-63E4-4FE8-A8C1-5E731FE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8698C9-5B68-46D0-A264-DE30C8C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C58A-B788-4318-B67E-52B7B53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student can move from question to source-backed next step in one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E3F5-CBF7-489A-BB8C-22DD1407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06852c6474687"/>
          <a:stretch xmlns:a="http://schemas.openxmlformats.org/drawingml/2006/main"/>
        </p:blipFill>
        <p:spPr>
          <a:xfrm xmlns:a="http://schemas.openxmlformats.org/drawingml/2006/main">
            <a:off x="1112610" y="2076450"/>
            <a:ext cx="1584781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61FE-9B26-44EB-854B-9CA1291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3d9646ff345ed"/>
          <a:stretch xmlns:a="http://schemas.openxmlformats.org/drawingml/2006/main"/>
        </p:blipFill>
        <p:spPr>
          <a:xfrm xmlns:a="http://schemas.openxmlformats.org/drawingml/2006/main">
            <a:off x="5208592" y="1847850"/>
            <a:ext cx="175576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48F28-F506-446D-B642-440A6CA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9fe69a5b84adb"/>
          <a:stretch xmlns:a="http://schemas.openxmlformats.org/drawingml/2006/main"/>
        </p:blipFill>
        <p:spPr>
          <a:xfrm xmlns:a="http://schemas.openxmlformats.org/drawingml/2006/main">
            <a:off x="9361093" y="2076450"/>
            <a:ext cx="1585113" cy="3524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C9D8-84EF-49B5-89D4-35030FE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1413"/>
            <a:ext cx="1514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8CBF-DBF7-4AE9-B322-27AC745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FFE9-B7D3-4200-9BA2-9FF92A5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1413"/>
            <a:ext cx="1400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9955-1A4E-4CA2-81A9-78C50C6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2178-03D8-4A8C-860E-F0F03A9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1. Student 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E17D4-C700-4084-8EF6-E8A494B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6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2. Source-backed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69A52-4950-4558-BF38-97207D2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3. Service desk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7790F-0DEF-421A-90D8-C1270B3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172200"/>
            <a:ext cx="483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EF9CD-AC87-4736-A31B-C681D97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388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No backend required for campus source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14542-C037-4BA5-8FDF-CEB4B6F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E8EE0-01A4-433B-BC0C-5D01B9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879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19236-2119-42FD-A702-F284AC4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35AFF6A-D526-4A0E-88C1-36AB236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717107F-51E9-4293-B8CC-AF12196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7A0-37B8-4CBF-B42E-2F293E2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Citations make Haki auditable instead of a black-box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F807-D4C7-4A36-89C8-12C3C72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726d4774d4618"/>
          <a:stretch xmlns:a="http://schemas.openxmlformats.org/drawingml/2006/main"/>
        </p:blipFill>
        <p:spPr>
          <a:xfrm xmlns:a="http://schemas.openxmlformats.org/drawingml/2006/main">
            <a:off x="1294777" y="2019300"/>
            <a:ext cx="1772896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3BDA1-14CC-4D10-9F49-0160CB8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34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Campus answer with source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34CA0-1C76-43FB-9E98-4CA725E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87AE5-A1D1-42C5-A791-FC491DC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8733-D031-48F3-897F-F93D344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sees 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B6D6A-ECDB-413C-BC53-E169FB7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response is phrased for student action, not as raw database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7AF5-8B75-4B17-B4FC-A6A018F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C40B-AA84-4186-AC7A-F7BBACC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F994D-5A7C-4058-ABBF-54A129C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 can inspect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1D416-895C-4ED6-9FBE-B79767F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0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source card names the campus document, office, and citation used by the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2C063-7C23-4AE3-95BB-BB95D7B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035D-E372-4FE9-A52A-C0B557B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A275E-7C31-4971-A9D2-D1D9E02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Missing source is a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5C1C6-E5C0-405D-AA42-1CE097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If official content is weak or absent, the right response is review or clarification, not guessing.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8F5F2-FE5B-4238-8158-55CE493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5ACE8-1EF4-4741-86F1-2CBD3A3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58F80-F5B8-4DED-81A3-BEC9989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C0DD6-34AF-45F7-8E42-D84AE6E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pitch point: Haki is safer when it behaves like a controlled reference system, not a model pretending to know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163F7-2A00-464B-A128-5DD27BB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E427F-6156-4CE4-B14C-E7BDEA7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4247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2B410-7ABA-42E6-A1F4-13C80D0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B3060A7-0ED0-4F63-8F24-28F49CE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DA9C5-54FC-451B-BACD-A02E29C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E901-7E42-42D3-B3B0-528127B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Offline-first design lowers privacy and infrastructure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9B04-BEAE-4AED-83D3-A69200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2E8"/>
                </a:solidFill>
                <a:latin typeface="Aptos"/>
                <a:ea typeface="Aptos"/>
                <a:cs typeface="Aptos"/>
              </a:rPr>
              <a:t>The proposal positions Haki as a local device app: no external chat API, no cloud database, and no server dependency for campus source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BE63-D44D-4EFA-A461-D1A7A1D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7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9F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E4A3-B364-40EE-BDB3-0404BB0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Inside the student's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B9F7C-CF40-4B64-B702-42E1BCC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E7C6F-BD3A-4A47-8922-88B6342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campus guide: Approved documents and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3C8AA-0B3E-4CDA-AFAC-37A85C5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61B9E-1C48-414D-88AE-2475EEF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source search: Fast offline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EEE5-19BD-4D00-A423-871003F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0786-46FA-491C-BC1D-6FA31F1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local model: Downloaded only on compatible devices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8FC2-9CE1-48B3-A176-78BF67D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FDDD-EADE-4070-9F85-C39D4DD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Profile/history controls: Local settings, not external server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682C-52A2-463F-9893-BE6093C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Official web pages remain the source for real-time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67019-0A2D-4AD4-967F-EE9BF26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3622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3096eec54431"/>
          <a:stretch xmlns:a="http://schemas.openxmlformats.org/drawingml/2006/main"/>
        </p:blipFill>
        <p:spPr>
          <a:xfrm xmlns:a="http://schemas.openxmlformats.org/drawingml/2006/main">
            <a:off x="8224467" y="1257300"/>
            <a:ext cx="2105767" cy="4686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CE41-A7CF-450B-8848-70A2FFC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1505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E2E8"/>
                </a:solidFill>
                <a:latin typeface="Aptos"/>
                <a:ea typeface="Aptos"/>
                <a:cs typeface="Aptos"/>
              </a:rPr>
              <a:t>Device-aware local model 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42FF-6DBD-4757-9990-534007A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D5628-497D-4A7F-9651-F146397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314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69066-255E-407C-AFEA-B1B5E10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D98DB69-2003-471E-80AD-11AE395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07E463C-8BF6-4690-BE25-2F9BC8C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AAD4-C519-435E-8265-9CC966D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TUPT keeps ownership of the content and release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92D4-8E63-4760-BCFB-3F46838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C0E0C-86AC-47F9-91B4-C6C0D90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98FC-64AF-4A08-8056-29EDA05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9F03C-1737-4341-9281-AE953C3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Decides whether Haki is appropriate, what content is allowed, and how distribution should be governed.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96028-4F47-4387-9073-7F3155C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269DE-9F86-4FD8-AD14-BA8E4FA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48620-42F6-46A5-85B8-30B5646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Responsible office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8659B-F105-48FB-B80D-0140CF1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Coordinates official source review, update cadence, and policy ownership across offices.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47F5-82DF-455C-8563-94FB098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50746-A55D-4AC4-A071-3412A20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B556-514A-49F1-A074-2F3DD48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or staff maintainers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C361-69BE-4DEB-AD55-E65DAC4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Prepare source packages, perform updates, and preserve technical continuity under supervision.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93D7A-CB38-4DFE-8A22-3A88615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6AE31-6611-4179-86D4-5D3B59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9E811-5F48-49C8-8691-E2BBD23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5234D-7F0A-4434-B44A-9D7DBB0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Publishes only the approved local guide to students through chat, search, map, and library screens.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92188-06CB-4181-80C2-FC8BAD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50257-128A-493F-B635-8A2FB57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AA38D-0709-40F0-AD85-67D4E0A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F32FE-369F-4CD1-B4F8-5169048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F05EE-FE46-49D8-AADE-0E7B3B8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6A948-E3CD-49BB-B419-010C0AD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48B99-431F-4608-8FA4-331A1B7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5217-D858-46A0-8202-4A70C0E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05450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 role: build, hand over, guide first maintainers, and request attribution only if Haki is deployed or promoted.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8FDD-A64E-468E-843B-0020BFC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8BBDE-2149-42F4-B8B7-6B66A9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2203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E8D21-9F59-4E5F-91EF-299CEDC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8926E93-2E2A-4FA9-BAB6-CF5C562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52D99F2-4578-4A1C-967F-0321AE0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COMMUNITY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F202-80EF-4CA5-BFA4-67E7EC2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One student app can improve service quality across the community.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EE80A-85B9-4DF4-B7FA-EF70D1C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4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C86EB-1A7E-4502-A039-265E5BA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2085-B487-433D-AB3F-FB3E62E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6BCB-3A22-4938-945A-B175D5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What Haki improves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84F85-1CCC-43DA-8F6C-ED6CEB7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D9B09-44BE-44E8-A7DA-F0AD148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36E7C-09EA-41DB-A514-4BFF210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9409-79B6-4A16-9514-9B69804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Unsure which office to approach, what to prepare, or where to 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7997-0143-4C92-B54E-4894B90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Faster self-service guidance with source references and map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0B1B-5097-458C-AB7C-5991668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C3AE-60B5-4714-9F2D-7DDCB4F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C3160-A667-49A2-B7BD-EEDCF71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6A2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21E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23675-B3AE-41F2-A000-3A57502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Routine questions repeat at counters and through informal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7ADF-B2D8-4AC1-98C7-45A24F2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Better-prepared students and fewer basic inquiries for staff.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28FA-D316-4DF2-8A13-A50EC4C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02BDD-9540-4448-B170-C673208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3C7D7-39DF-4B9D-83EF-65FCF4C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35818-DFEE-428C-A651-A55E928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Official guidance can be hard to keep consistent across channels.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C803-8608-4695-A034-2808746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Central content authority with local, auditable student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CD38-A4F1-40C6-9A0A-B45A86C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EBBE5-A501-475A-A1DC-585B5EB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67638-3C13-4EC4-9169-5AEDE9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5E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E7D"/>
                </a:solidFill>
                <a:latin typeface="Aptos"/>
                <a:ea typeface="Aptos"/>
                <a:cs typeface="Aptos"/>
              </a:rPr>
              <a:t>TUPT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6D74B-0F20-41BE-95D5-1A82986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Student-led innovation is often hard to convert into institutional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29A75-57CB-459F-A556-735A6EE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 visible responsible AI-era service project with controlled pilot scope.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BA5A7-24A2-496E-B7F6-D03344A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value is operational first: clearer guidance, less repetition, and a governable path to adoption.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32079-7C3C-4E8F-810F-F2FBD5B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EF051-DC3B-4BCF-99F1-9C7F4E04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8374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12C95-0C64-4F03-AD4D-2768470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0A28F99-E85E-4385-8177-299FAC8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B27584A-0D9B-455E-BB5B-195A1B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LOW-RISK ADOPTION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F88B-9AFB-4EE8-B616-3260742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pilot review turns adoption into a controlled administrative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E20D9-5229-4E78-B5BE-DD648B2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ask is not a blind launch. It is permission to evaluate Haki with official content, supervision, and measured student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308A-B837-4D6A-8B3C-28951C3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F018-B185-4C64-A9F6-5D5D8F0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AC92-ADB0-4058-9CEE-7BB9B9E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B6DF-4334-442A-B4BE-B238E7A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Content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2530-6472-4268-B2C3-682E3EFD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Administration identifies approved offices, documents, citations,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B318-2EDE-42F6-9472-435609B3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13B7-0B76-4A90-A345-32F1BDF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4BDDB-05FA-4FDB-A63D-CF147CD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C230-0971-4C64-8D16-D5B2E98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08276-0E2A-40A7-8C83-EA4EB24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Internal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A8CD8-5ADB-4EE9-B890-9EB1BD6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Reviewing office and maintainers test answers, missing-source behavior, and update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452A-DB91-4B5A-9251-D73525E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536DB-6BC7-441C-98B9-D04C963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BFDB-1E50-4D85-9A9E-75B22F6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C1BFE-E381-4C53-9D8C-42B60D1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8411D-51C9-4040-B363-0F88DE4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A90A5-F36F-4D4C-AE88-8AB8290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Small student group tests common tasks: office concern, map, service desk, and source clarity.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C37A3-1314-43D7-89F4-77FCFFD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F2A26-7C32-4471-9BA4-590E2DF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362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EC67A-3814-49AF-B49E-EDFD8D11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BBAF7-FD28-41FC-ABB1-9DFD67C4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176B5-2BFB-46B7-91ED-3DB1AE3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C1906-B443-4C00-9916-147B973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 decides whether to publish, how to govern distribution, and who maintains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A680F-352D-4E06-BAA7-8C0169B7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10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A8454-0AA7-489D-BD54-8F39B4D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84D75-05F7-44B9-8605-DFE8DE5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3D2BE-02D0-4964-83C9-11CA220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B9703-2155-484E-8838-A30CBA9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AF542-3114-4A98-8C46-418C539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D6514-8F90-4BBA-AF6E-CAA0E2B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7DFC1-C3C8-4499-8798-E95E10B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6D7CF-2AC2-4120-A8C7-6D88EA4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2925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Decision gate after each phase: continue, revise, limit scope, or stop.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412D2-2508-4297-852A-07B4B8E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E7BE6-EBFC-4DA4-B979-353C194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91F12-1043-464A-8C8A-5319B40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E12CBFD-D10F-46EB-A925-5144489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33CFA40-723C-4ED8-8070-F6BA2FE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5FCC-277F-4EB5-ACF7-3CFAEEE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A75D-9EB7-4DC3-B61C-4351658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The proposal letter can carry the formal terms. The presentation should close on the next practical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284D-9D04-4CCC-A0C6-C90F25CB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EAD2A-FF54-4B34-8C08-0008CF2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25607-4B00-4745-AB8A-9DFACB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a reviewing office or evaluation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3DC19-0888-401F-82EC-AD0AC86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9FD72-2BEE-4924-88D4-DDD2BE1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528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63B5-ADDD-4E42-A835-1ABC2DF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which campus information can be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86AAA-EB3B-4FE2-B88C-7DDFEB3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2280-65A7-4C07-90AC-FB36CE1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8320-D0D9-4732-9419-42EDB7D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small, supervised student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910A2-B0CB-466E-8230-BD700EE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5C82F-FB98-4EC5-9EAA-FE4A6403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BD441-804A-4871-A1C6-563AE71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distribution and maintenance after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5E273-452E-4D08-AD78-9ED61D6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65203-525B-4CE6-8E36-B95673B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B9A93-EA60-4887-B677-B10686F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acceptable developer attribution if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DEF21-53FD-414E-B7F5-4D507EE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21336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1022b39634ea2"/>
          <a:stretch xmlns:a="http://schemas.openxmlformats.org/drawingml/2006/main"/>
        </p:blipFill>
        <p:spPr>
          <a:xfrm xmlns:a="http://schemas.openxmlformats.org/drawingml/2006/main">
            <a:off x="8915400" y="1245772"/>
            <a:ext cx="1981200" cy="4404556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AFBE7-2475-4DFC-909B-52E9B60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6EC"/>
                </a:solidFill>
                <a:latin typeface="Aptos"/>
                <a:ea typeface="Aptos"/>
                <a:cs typeface="Aptos"/>
              </a:rPr>
              <a:t>Haki remains a TUPT-controlled service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F2FB1-4AEB-42EF-A5CD-97408CA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8F843-7E89-4A39-BEE4-E0BE9FA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Suggested closing line: I built Haki for the TUPT community, but the Administration should decide how it is reviewed, governed, and released.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B090A-8E60-43AB-9CF5-943B7506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C8E93-B1B3-4E90-B863-6339ADD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6323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12838E-7DC0-4D14-9FA6-74BC3E1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E1C98-4B1D-4490-ABB7-3F2A58CC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EC753-2058-455D-AD6A-EB5EF7F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E40F8-F704-4FAC-A035-467FEAA6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5CB64-5753-4447-95EC-86C4366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FB220-06BA-465C-B3F1-2B4D5CE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E3B1F-5987-40DD-9495-893EBD4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9AF36-ADEC-41E5-8CEB-D83293F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95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477AF-86A4-4908-8F6D-F936D4D6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4290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0771b6b434300"/>
          <a:stretch xmlns:a="http://schemas.openxmlformats.org/drawingml/2006/main"/>
        </p:blipFill>
        <p:spPr>
          <a:xfrm xmlns:a="http://schemas.openxmlformats.org/drawingml/2006/main">
            <a:off x="6514298" y="438150"/>
            <a:ext cx="4497403" cy="5619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78F87-EC9B-4FD3-B35D-D6C069B0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rPr>
              <a:t>Haki App Exploration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EA6D1-4BC4-4DF6-B164-43259247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A student walkthrough from question to campus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75D2F-C314-4DCB-B6F6-D469753F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next slides mimic how a TUPian could use Haki during a normal campus task: ask, verify, locate, prepare, then use student-life tools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652E6-1A77-4A4F-887B-FBC9BC2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73BDC-0E47-4D24-9EC7-2199C8B8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B2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336CE-ED99-4A2A-A9B2-316DB54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90333-06A1-45E5-8B55-B22BFD38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3D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E477E-79DD-4E92-A1FE-EEA03E0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B5017-D254-4C0A-A587-F42079CA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A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5A1B"/>
                </a:solidFill>
                <a:latin typeface="Aptos"/>
                <a:ea typeface="Aptos"/>
                <a:cs typeface="Aptos"/>
              </a:rPr>
              <a:t>Locate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64599-3CEE-4FE8-84BC-0657B73A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10029-B3A9-4450-96CA-68A295F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</p:spTree>
    <p:extLst>
      <p:ext uri="{BB962C8B-B14F-4D97-AF65-F5344CB8AC3E}">
        <p14:creationId xmlns:p14="http://schemas.microsoft.com/office/powerpoint/2010/main" val="1387786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51EA1A-E412-4376-8227-9EA88046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A67BE-7DA0-4433-BF2B-BCB9ED7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A20D8-8239-4D58-9D5E-A095202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0E63A-62F5-47F7-9DE1-ABC718C3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3AF5C-C5A5-4396-85A7-08F1FB5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AA82C-04CF-4F78-88A0-2526A280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04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A student starts from the Haki home screen.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33092-7D68-4CA7-AEAF-2F3EB42F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first screen gives quick paths into common campus tasks instead of making the student search blindly.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8BF3E-0F9A-4322-80AD-CDDAC87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122EF-EBBE-465C-B067-66ED617D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B5B70-713F-47E0-B4D9-F3FE93D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800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833D9-B073-4B0A-B371-42DFB0AC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6479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d97a66c254f3b"/>
          <a:srcRect xmlns:a="http://schemas.openxmlformats.org/drawingml/2006/main" l="0" t="20459" r="0" b="20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2514600"/>
            <a:ext cx="2609850" cy="3429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94855-21DA-41A5-87FB-61C72B7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352D5-120D-48BF-B9DA-22AE2C0D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c67c2f2144fbf">
            <a:extLst>
              <a:ext uri="{96DAC541-7B7A-43D3-8B79-37D633B846F1}">
                <asvg:svgBlip xmlns:asvg="http://schemas.microsoft.com/office/drawing/2016/SVG/main" r:embed="R47896bb225d743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350" y="2971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A9EBD-2807-444A-976A-4111A365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765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One tap to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790F3-DB55-463C-8BEC-1DEBB3F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432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main call to action is direct: message Haki about enrollment, offices, clinic help, rules, and more.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7BBDE-C945-4F5F-9809-FB76A8D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4988E-F3B1-46DD-915F-267AC0FA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4df1bf62c4205">
            <a:extLst>
              <a:ext uri="{96DAC541-7B7A-43D3-8B79-37D633B846F1}">
                <asvg:svgBlip xmlns:asvg="http://schemas.microsoft.com/office/drawing/2016/SVG/main" r:embed="Re7a87a64e11b4b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350" y="3905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F5EF7-C614-4B8E-B50C-91DAB3E3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100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Suggested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5CF60-6263-4626-8249-C09B59D0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767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Common tasks are visible immediately, helping new students ask in the right direction.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49778-552A-44E9-8E4B-11009391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65534-8A63-4484-A017-98AC4466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21f23d87b4768">
            <a:extLst>
              <a:ext uri="{96DAC541-7B7A-43D3-8B79-37D633B846F1}">
                <asvg:svgBlip xmlns:asvg="http://schemas.microsoft.com/office/drawing/2016/SVG/main" r:embed="R473f22b9668c40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86350" y="4838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2F6C0-16E1-4C1A-9692-DBEC65D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Friendly 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71E0A-FAC1-4BC0-A675-A8C52A47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mascot makes the app approachable while still keeping the content source-grounded.</a:t>
            </a:r>
          </a:p>
        </p:txBody>
      </p:sp>
    </p:spTree>
    <p:extLst>
      <p:ext uri="{BB962C8B-B14F-4D97-AF65-F5344CB8AC3E}">
        <p14:creationId xmlns:p14="http://schemas.microsoft.com/office/powerpoint/2010/main" val="20768741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29348-87C1-4A27-AB41-21A1ADBE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B28F3-12AC-4A69-B0A6-92970E9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DC574-4C71-4969-BDC3-0B0F82AF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12D3A-A7FF-479C-8598-540A904F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6CA6C-2431-4479-83EE-6012714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4E2D7-2780-41BC-92FC-92E81B0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04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asks Haki for help.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75FA6-5259-4A0A-91DB-984CD7C4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chat screen turns a campus question into a concise, source-backed answer with a visible verification trail.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8E8BB-D5E6-477C-9A44-68C58707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C8F05-422B-4B10-B414-A45DDA5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9B865-1ACC-4638-A652-1D505C29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762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6B2DA-BEFC-4608-9106-0B7BA474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6098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66d92673641ff"/>
          <a:srcRect xmlns:a="http://schemas.openxmlformats.org/drawingml/2006/main" l="0" t="19854" r="0" b="19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495550"/>
            <a:ext cx="2571750" cy="3448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C6984-E082-4E77-8E9E-DC0F49E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B7182-3E2B-43D0-B368-7B3EBD2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fd89d7f7e4f6f">
            <a:extLst>
              <a:ext uri="{96DAC541-7B7A-43D3-8B79-37D633B846F1}">
                <asvg:svgBlip xmlns:asvg="http://schemas.microsoft.com/office/drawing/2016/SVG/main" r:embed="R1fd19f0320cd44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0150" y="2933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4EBD6-8A72-4F6C-939D-F84D929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38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Saved sources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C6EB9-AD5D-4E24-8575-68F2CE16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app warns that campus information comes from saved sources and important details should be verified.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5CA76-24EB-4105-B026-1C2A44B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E12DD-C5CC-4536-9475-4D6581A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2227ba7e44145">
            <a:extLst>
              <a:ext uri="{96DAC541-7B7A-43D3-8B79-37D633B846F1}">
                <asvg:svgBlip xmlns:asvg="http://schemas.microsoft.com/office/drawing/2016/SVG/main" r:embed="R64c4603b060142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015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C7E7D-332E-40D7-9061-D6D745E7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Actionable 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FC037-890A-474A-9117-B50DC51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response is formatted as steps a student can follow, not just a loose paragraph.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BE1FE-4134-4163-81A1-E5D233B5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910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7101A-D570-44BD-83C3-820A93B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910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8321d6b4246c8">
            <a:extLst>
              <a:ext uri="{96DAC541-7B7A-43D3-8B79-37D633B846F1}">
                <asvg:svgBlip xmlns:asvg="http://schemas.microsoft.com/office/drawing/2016/SVG/main" r:embed="R552802d2736f4c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0150" y="4800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92CC2-B823-48E2-AC31-DF8700EF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Visible citation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909E9-6F68-4CD8-8A64-D12527F8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720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source card shows what document or office guidance supported the answer.</a:t>
            </a:r>
          </a:p>
        </p:txBody>
      </p:sp>
    </p:spTree>
    <p:extLst>
      <p:ext uri="{BB962C8B-B14F-4D97-AF65-F5344CB8AC3E}">
        <p14:creationId xmlns:p14="http://schemas.microsoft.com/office/powerpoint/2010/main" val="11860561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D9EBD-9504-4C3D-826C-BE9C594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0D75F-98A9-4337-8DEB-09D8C56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D51C9-83D1-42B3-9461-DB27533C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004A9-7630-4F06-92DC-90353958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99A9F-5973-436C-AAC2-941E7672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6F28F-CAF6-4F71-B7C6-48A225AA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04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checks where to 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C456-EF9B-4EA5-A75F-9EF9A20A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After getting guidance, the student can move into the campus map to search, tap buildings, and orient themselves offline.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E67C8-5F8C-41B6-BCA0-F014BB4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E3C52-A476-4F0B-A307-805DE199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7DB2B-7EF1-4784-83E0-D6E6FDF5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048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ACCE0-58FE-46E8-9950-34C3F73F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8956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d3b2bac004799"/>
          <a:srcRect xmlns:a="http://schemas.openxmlformats.org/drawingml/2006/main" l="0" t="21529" r="0" b="21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438400"/>
            <a:ext cx="2857500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AE77D-2335-4835-BD34-D965BB1B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49149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B23"/>
          </a:solidFill>
          <a:ln xmlns:a="http://schemas.openxmlformats.org/drawingml/2006/main" w="28575">
            <a:solidFill>
              <a:srgbClr val="D6A5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D737D-A1FF-4B0D-BAD4-91857F9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776E6-DBD3-41D0-A6A6-9069C1B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3943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8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E8D0"/>
                </a:solidFill>
                <a:latin typeface="Aptos"/>
                <a:ea typeface="Aptos"/>
                <a:cs typeface="Aptos"/>
              </a:rPr>
              <a:t>Students can walk around the campus map, search destinations, tap buildings, and use shortcuts to related screens such as Service Desk or Food.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21fa835ff4e29">
            <a:extLst>
              <a:ext uri="{96DAC541-7B7A-43D3-8B79-37D633B846F1}">
                <asvg:svgBlip xmlns:asvg="http://schemas.microsoft.com/office/drawing/2016/SVG/main" r:embed="Ra06d0daae58846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96350" y="3143250"/>
            <a:ext cx="476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03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D7977-76E3-440C-AEAB-5570117C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73F59-81C0-4B78-B1F8-3C0636C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9A2C0-A12A-4FB7-B1CC-A061094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C0AA1-0574-4505-BA3A-2B471D9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AA3D4-66F1-4536-ABF2-546B74EF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0CFE7-1600-404A-9A99-F012818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04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opens Service Desk when they need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B6956-C94F-4C95-B177-8FF11047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Service Desk organizes campus tasks into counters and procedure tickets so students can prepare before visiting an office.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07D1C-DA35-4232-B970-E9B06945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C6EDA-8905-46A6-9D79-53E18EA5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D26BE-CCB5-45B6-931D-E4C38245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8765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0389C-B91C-4B19-B6C2-CF52244B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7241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2a78d64d04dd8"/>
          <a:srcRect xmlns:a="http://schemas.openxmlformats.org/drawingml/2006/main" l="0" t="19537" r="0" b="19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438400"/>
            <a:ext cx="2686050" cy="3638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46063-2A6B-40AB-B005-0E5A95BF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7FFD9-5424-4DF6-B8A9-CF934A2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6272435994914">
            <a:extLst>
              <a:ext uri="{96DAC541-7B7A-43D3-8B79-37D633B846F1}">
                <asvg:svgBlip xmlns:asvg="http://schemas.microsoft.com/office/drawing/2016/SVG/main" r:embed="R609c110d80d34d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5400" y="2990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DF3CD-E975-4BC7-98A5-6CC7C2D8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Search by task or office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2D9FC-A991-4C7E-B3BE-8945ED8A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623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Students can search for a task, office, or document rather than guessing a category.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DCDF8-8F9E-4A80-BE30-845FDBF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147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B2E03-55AB-49F5-8B6E-B4809583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14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ca4bfec974c9a">
            <a:extLst>
              <a:ext uri="{96DAC541-7B7A-43D3-8B79-37D633B846F1}">
                <asvg:svgBlip xmlns:asvg="http://schemas.microsoft.com/office/drawing/2016/SVG/main" r:embed="R220ebc7f79f242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5400" y="3924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0C920-1492-4A24-A05B-23023F5D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Counters group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BA5F3-301A-4341-AF0D-9FE4E24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957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Services, Safety, Welfare, Guidelines, Locations, and Offices become visible paths.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27DD3-A900-474F-874B-CE60E6B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482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55235-B14D-4295-97CC-C31AE8A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482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4ec4c4c694c94">
            <a:extLst>
              <a:ext uri="{96DAC541-7B7A-43D3-8B79-37D633B846F1}">
                <asvg:svgBlip xmlns:asvg="http://schemas.microsoft.com/office/drawing/2016/SVG/main" r:embed="Rb1e5fed3ca5d4a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5400" y="4857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4E8B0-830E-4B61-AF60-70E84D29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25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Procedure tickets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D6FA45-6FF9-411A-937D-2BF5A18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292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Each ticket previews the topic, relevant office, update date, and number of steps.</a:t>
            </a:r>
          </a:p>
        </p:txBody>
      </p:sp>
    </p:spTree>
    <p:extLst>
      <p:ext uri="{BB962C8B-B14F-4D97-AF65-F5344CB8AC3E}">
        <p14:creationId xmlns:p14="http://schemas.microsoft.com/office/powerpoint/2010/main" val="19986035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40AEE-C052-45D6-BBE7-5B053AC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AAF8-E3C8-4B7B-B86F-70DEE1CA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C4275-4581-4554-A136-D7DC4754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F12A5-2599-4515-91C4-DBE01564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2C3B5-84E0-45A1-BA10-098437D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FC618-86E6-41C9-8C4D-52142432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04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follows a procedure ticket.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C4F8D-CEF3-43E3-9C85-3D897695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ticket detail page converts a campus concern into requirements, offices, and steps that the student can act 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F775A-C5B5-495A-9358-0B4843AD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DED9F-7918-413F-BE5D-B09A976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2FF7A-31DA-41B6-99A9-B445D5BD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9146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78AFE-CC89-487C-BAA8-988A852E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622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4d79fdae6414e"/>
          <a:srcRect xmlns:a="http://schemas.openxmlformats.org/drawingml/2006/main" l="0" t="20592" r="0" b="205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514600"/>
            <a:ext cx="2724150" cy="3562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E0C2B-09FE-475B-BECE-7BE6C712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249B1-B311-42A3-916C-79791BDB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3f78ddd1e4ed8">
            <a:extLst>
              <a:ext uri="{96DAC541-7B7A-43D3-8B79-37D633B846F1}">
                <asvg:svgBlip xmlns:asvg="http://schemas.microsoft.com/office/drawing/2016/SVG/main" r:embed="Rd30f76c26f6f48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0" y="2933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FB326-B8B2-4C9C-8833-A22D76C0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38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Step-by-step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00B75-B991-4D97-8A0B-549690DF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051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Procedure content is broken into ordered actions, reducing confusion before the office visit.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1A632-7C8C-447A-8741-92608B5E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7CC6F-91F1-48DE-AC4C-4332CC88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5eeb2ae114c71">
            <a:extLst>
              <a:ext uri="{96DAC541-7B7A-43D3-8B79-37D633B846F1}">
                <asvg:svgBlip xmlns:asvg="http://schemas.microsoft.com/office/drawing/2016/SVG/main" r:embed="Rd99a22c8526645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0" y="3867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A6BEB-C770-4097-937F-C6E97B4A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719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Office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12824-4F54-4596-8192-0D130349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386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page names the office or offices involved, helping students route the concern.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A6656-F778-4E80-9DC1-E4CB7A0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858C6-0A8F-4E63-B3BA-B1FABFCA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9d6cd4427468f">
            <a:extLst>
              <a:ext uri="{96DAC541-7B7A-43D3-8B79-37D633B846F1}">
                <asvg:svgBlip xmlns:asvg="http://schemas.microsoft.com/office/drawing/2016/SVG/main" r:embed="R38726ca4293540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0" y="4800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972F3-FB85-44F8-8127-84ED9FE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053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Update visibility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40947-362E-4966-807C-C9515619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720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update date helps Admin and maintainers reason about freshness during review.</a:t>
            </a:r>
          </a:p>
        </p:txBody>
      </p:sp>
    </p:spTree>
    <p:extLst>
      <p:ext uri="{BB962C8B-B14F-4D97-AF65-F5344CB8AC3E}">
        <p14:creationId xmlns:p14="http://schemas.microsoft.com/office/powerpoint/2010/main" val="2650823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78875-D7D3-486B-A479-5B5077B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B058-0D99-411A-8FE7-F2C47059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76A83-7291-4F63-B6D9-D4A3F69B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1B565-57DB-48E5-85EF-476F5260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1FDA2-FC94-4CC1-9AF0-116B2A4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87059-09A6-49F2-A19F-15A90EA0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04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can continue into campus-life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FE655-126A-43F2-9F3A-06C904EB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After the main task, Haki still supports everyday campus needs without making every interaction a chat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D8C02-9754-40D2-9DC6-8102ABD0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3C427-7B26-40E3-B231-3EB23D3C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50224-0066-46CB-B7E1-212B5968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190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66B97-9D37-4C20-97B7-337DF4F0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383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4f678fb8b425f"/>
          <a:srcRect xmlns:a="http://schemas.openxmlformats.org/drawingml/2006/main" l="0" t="17915" r="0" b="17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647950"/>
            <a:ext cx="200025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5F7F5-EBCD-47D8-830D-1DB6AB6B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2190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1469A-935F-48A4-8F96-C386E7B4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20383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2ecd537834337"/>
          <a:srcRect xmlns:a="http://schemas.openxmlformats.org/drawingml/2006/main" l="0" t="17892" r="0" b="17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2647950"/>
            <a:ext cx="2000250" cy="2857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3A880-F6AD-414D-8CCD-9BF2ABF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2190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8D570-7078-4885-BFB7-17A804EF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20383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c907049004c40"/>
          <a:srcRect xmlns:a="http://schemas.openxmlformats.org/drawingml/2006/main" l="0" t="17889" r="0" b="17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647950"/>
            <a:ext cx="2000250" cy="2857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1A3F7-BB4C-4797-B23E-E0DF1E07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38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0313F-79E0-46C4-B565-DA88794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38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5FB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5FB5"/>
                </a:solidFill>
                <a:latin typeface="Aptos"/>
                <a:ea typeface="Aptos"/>
                <a:cs typeface="Aptos"/>
              </a:rPr>
              <a:t>Org Chart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B22BF-5FDC-4418-8FF6-4AC48501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38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9A426-0701-4CF1-B051-F5D0925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1619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E8"/>
          </a:solidFill>
          <a:ln xmlns:a="http://schemas.openxmlformats.org/drawingml/2006/main" w="9525">
            <a:solidFill>
              <a:srgbClr val="E9C9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07003-6FEF-473E-88FA-C65DE70E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28269-6A73-4EC1-AECB-79ED1CF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Haki behaves like a campus companion: it answers, routes, locates, and helps students prepare.</a:t>
            </a:r>
          </a:p>
        </p:txBody>
      </p:sp>
    </p:spTree>
    <p:extLst>
      <p:ext uri="{BB962C8B-B14F-4D97-AF65-F5344CB8AC3E}">
        <p14:creationId xmlns:p14="http://schemas.microsoft.com/office/powerpoint/2010/main" val="1458152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2026-06-08T01:59:37.2400000Z</dcterms:created>
  <dcterms:modified xsi:type="dcterms:W3CDTF">2026-06-08T01:59:37.2400000Z</dcterms:modified>
</coreProperties>
</file>