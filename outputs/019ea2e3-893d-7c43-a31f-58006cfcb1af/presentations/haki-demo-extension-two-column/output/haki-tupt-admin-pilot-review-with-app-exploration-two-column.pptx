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5e2c0ce0ff499c" /><Relationship Type="http://schemas.openxmlformats.org/officeDocument/2006/relationships/extended-properties" Target="/docProps/app.xml" Id="Rc6c257e88d4d41df" /><Relationship Type="http://schemas.openxmlformats.org/officeDocument/2006/relationships/officeDocument" Target="/ppt/presentation.xml" Id="R5c444ce9e9d84a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4ff20d403249d9"/>
  </p:sldMasterIdLst>
  <p:notesMasterIdLst>
    <p:notesMasterId xmlns:r="http://schemas.openxmlformats.org/officeDocument/2006/relationships" r:id="R4d50279074b14fcb"/>
  </p:notesMasterIdLst>
  <p:sldIdLst>
    <p:sldId xmlns:r="http://schemas.openxmlformats.org/officeDocument/2006/relationships" id="256" r:id="R6db0fcabaa8c4bac"/>
    <p:sldId xmlns:r="http://schemas.openxmlformats.org/officeDocument/2006/relationships" id="257" r:id="R33701187841140bf"/>
    <p:sldId xmlns:r="http://schemas.openxmlformats.org/officeDocument/2006/relationships" id="258" r:id="R95cbe5b2d1114354"/>
    <p:sldId xmlns:r="http://schemas.openxmlformats.org/officeDocument/2006/relationships" id="259" r:id="R8569563b5fde4763"/>
    <p:sldId xmlns:r="http://schemas.openxmlformats.org/officeDocument/2006/relationships" id="260" r:id="Rc33ca2e4c2244d72"/>
    <p:sldId xmlns:r="http://schemas.openxmlformats.org/officeDocument/2006/relationships" id="261" r:id="R16625e46b8714f75"/>
    <p:sldId xmlns:r="http://schemas.openxmlformats.org/officeDocument/2006/relationships" id="262" r:id="R3bcb9948e71748eb"/>
    <p:sldId xmlns:r="http://schemas.openxmlformats.org/officeDocument/2006/relationships" id="263" r:id="Rdf58e29dbc7d4900"/>
    <p:sldId xmlns:r="http://schemas.openxmlformats.org/officeDocument/2006/relationships" id="264" r:id="R3ad759feedd841ab"/>
    <p:sldId xmlns:r="http://schemas.openxmlformats.org/officeDocument/2006/relationships" id="265" r:id="Rf18e1de987ed4a2b"/>
    <p:sldId xmlns:r="http://schemas.openxmlformats.org/officeDocument/2006/relationships" id="266" r:id="R706f4a09c4274d34"/>
    <p:sldId xmlns:r="http://schemas.openxmlformats.org/officeDocument/2006/relationships" id="267" r:id="Ra3c2096b33ad48fc"/>
    <p:sldId xmlns:r="http://schemas.openxmlformats.org/officeDocument/2006/relationships" id="268" r:id="Rcdd1b2fbf2864145"/>
    <p:sldId xmlns:r="http://schemas.openxmlformats.org/officeDocument/2006/relationships" id="269" r:id="Rc6307755bda74503"/>
    <p:sldId xmlns:r="http://schemas.openxmlformats.org/officeDocument/2006/relationships" id="270" r:id="R66d0bbfca53a421a"/>
    <p:sldId xmlns:r="http://schemas.openxmlformats.org/officeDocument/2006/relationships" id="271" r:id="R90efe79f6fda4385"/>
    <p:sldId xmlns:r="http://schemas.openxmlformats.org/officeDocument/2006/relationships" id="272" r:id="R7e9eff3fa71a49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8e80af21be49b2" /><Relationship Type="http://schemas.openxmlformats.org/officeDocument/2006/relationships/slideMaster" Target="/ppt/slideMasters/slideMaster1.xml" Id="Re84ff20d403249d9" /><Relationship Type="http://schemas.openxmlformats.org/officeDocument/2006/relationships/notesMaster" Target="/ppt/notesMasters/notesMaster1.xml" Id="R4d50279074b14fcb" /><Relationship Type="http://schemas.openxmlformats.org/officeDocument/2006/relationships/presProps" Target="/ppt/presProps.xml" Id="Rcf58ea307dd348bc" /><Relationship Type="http://schemas.openxmlformats.org/officeDocument/2006/relationships/viewProps" Target="/ppt/viewProps.xml" Id="R91dc54e447424e45" /><Relationship Type="http://schemas.openxmlformats.org/officeDocument/2006/relationships/tableStyles" Target="/ppt/tableStyles.xml" Id="R2cf53bb141904676" /><Relationship Type="http://schemas.openxmlformats.org/officeDocument/2006/relationships/slide" Target="/ppt/slides/slide1.xml" Id="R6db0fcabaa8c4bac" /><Relationship Type="http://schemas.openxmlformats.org/officeDocument/2006/relationships/slide" Target="/ppt/slides/slide2.xml" Id="R33701187841140bf" /><Relationship Type="http://schemas.openxmlformats.org/officeDocument/2006/relationships/slide" Target="/ppt/slides/slide3.xml" Id="R95cbe5b2d1114354" /><Relationship Type="http://schemas.openxmlformats.org/officeDocument/2006/relationships/slide" Target="/ppt/slides/slide4.xml" Id="R8569563b5fde4763" /><Relationship Type="http://schemas.openxmlformats.org/officeDocument/2006/relationships/slide" Target="/ppt/slides/slide5.xml" Id="Rc33ca2e4c2244d72" /><Relationship Type="http://schemas.openxmlformats.org/officeDocument/2006/relationships/slide" Target="/ppt/slides/slide6.xml" Id="R16625e46b8714f75" /><Relationship Type="http://schemas.openxmlformats.org/officeDocument/2006/relationships/slide" Target="/ppt/slides/slide7.xml" Id="R3bcb9948e71748eb" /><Relationship Type="http://schemas.openxmlformats.org/officeDocument/2006/relationships/slide" Target="/ppt/slides/slide8.xml" Id="Rdf58e29dbc7d4900" /><Relationship Type="http://schemas.openxmlformats.org/officeDocument/2006/relationships/slide" Target="/ppt/slides/slide9.xml" Id="R3ad759feedd841ab" /><Relationship Type="http://schemas.openxmlformats.org/officeDocument/2006/relationships/slide" Target="/ppt/slides/slide10.xml" Id="Rf18e1de987ed4a2b" /><Relationship Type="http://schemas.openxmlformats.org/officeDocument/2006/relationships/slide" Target="/ppt/slides/slide11.xml" Id="R706f4a09c4274d34" /><Relationship Type="http://schemas.openxmlformats.org/officeDocument/2006/relationships/slide" Target="/ppt/slides/slide12.xml" Id="Ra3c2096b33ad48fc" /><Relationship Type="http://schemas.openxmlformats.org/officeDocument/2006/relationships/slide" Target="/ppt/slides/slide13.xml" Id="Rcdd1b2fbf2864145" /><Relationship Type="http://schemas.openxmlformats.org/officeDocument/2006/relationships/slide" Target="/ppt/slides/slide14.xml" Id="Rc6307755bda74503" /><Relationship Type="http://schemas.openxmlformats.org/officeDocument/2006/relationships/slide" Target="/ppt/slides/slide15.xml" Id="R66d0bbfca53a421a" /><Relationship Type="http://schemas.openxmlformats.org/officeDocument/2006/relationships/slide" Target="/ppt/slides/slide16.xml" Id="R90efe79f6fda4385" /><Relationship Type="http://schemas.openxmlformats.org/officeDocument/2006/relationships/slide" Target="/ppt/slides/slide17.xml" Id="R7e9eff3fa71a49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9ad5266cf647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45aef5f1f84eb7" /><Relationship Type="http://schemas.openxmlformats.org/officeDocument/2006/relationships/notesMaster" Target="/ppt/notesMasters/notesMaster1.xml" Id="R6f603e1adcac4b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568d639f6e45e5" /><Relationship Type="http://schemas.openxmlformats.org/officeDocument/2006/relationships/notesMaster" Target="/ppt/notesMasters/notesMaster1.xml" Id="R6500f3f28a1d40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6af277ed7343a4" /><Relationship Type="http://schemas.openxmlformats.org/officeDocument/2006/relationships/notesMaster" Target="/ppt/notesMasters/notesMaster1.xml" Id="Rbc80ce549fdf48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a2cbb032b2426d" /><Relationship Type="http://schemas.openxmlformats.org/officeDocument/2006/relationships/notesMaster" Target="/ppt/notesMasters/notesMaster1.xml" Id="R01da3143021b48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2a64d44bf045a8" /><Relationship Type="http://schemas.openxmlformats.org/officeDocument/2006/relationships/notesMaster" Target="/ppt/notesMasters/notesMaster1.xml" Id="R7932e0b2374441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c52e02cd7c43df" /><Relationship Type="http://schemas.openxmlformats.org/officeDocument/2006/relationships/notesMaster" Target="/ppt/notesMasters/notesMaster1.xml" Id="Red9394f75cc44c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bdf807f4164518" /><Relationship Type="http://schemas.openxmlformats.org/officeDocument/2006/relationships/notesMaster" Target="/ppt/notesMasters/notesMaster1.xml" Id="R4bd9c40b90ea4b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09b731111c4980" /><Relationship Type="http://schemas.openxmlformats.org/officeDocument/2006/relationships/notesMaster" Target="/ppt/notesMasters/notesMaster1.xml" Id="Rca140e0c244a4c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a55888100440e6" /><Relationship Type="http://schemas.openxmlformats.org/officeDocument/2006/relationships/notesMaster" Target="/ppt/notesMasters/notesMaster1.xml" Id="R57b98a377d2944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c1781fdf8046ab" /><Relationship Type="http://schemas.openxmlformats.org/officeDocument/2006/relationships/notesMaster" Target="/ppt/notesMasters/notesMaster1.xml" Id="R773118afe4d249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dd21e49b05488b" /><Relationship Type="http://schemas.openxmlformats.org/officeDocument/2006/relationships/notesMaster" Target="/ppt/notesMasters/notesMaster1.xml" Id="R62a109e0815f4a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834e9fcf6743d9" /><Relationship Type="http://schemas.openxmlformats.org/officeDocument/2006/relationships/notesMaster" Target="/ppt/notesMasters/notesMaster1.xml" Id="R41c2379dff3a42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e517d41c7a4cf0" /><Relationship Type="http://schemas.openxmlformats.org/officeDocument/2006/relationships/notesMaster" Target="/ppt/notesMasters/notesMaster1.xml" Id="R0dee5b575e8a49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27ce79fc104e19" /><Relationship Type="http://schemas.openxmlformats.org/officeDocument/2006/relationships/notesMaster" Target="/ppt/notesMasters/notesMaster1.xml" Id="Rf79fd550905b4be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60fc5dd39343b2" /><Relationship Type="http://schemas.openxmlformats.org/officeDocument/2006/relationships/notesMaster" Target="/ppt/notesMasters/notesMaster1.xml" Id="R3871dd0265254d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08849c7acaf44a4" /><Relationship Type="http://schemas.openxmlformats.org/officeDocument/2006/relationships/notesMaster" Target="/ppt/notesMasters/notesMaster1.xml" Id="Re64044e8e8944e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aab11911be04c5a" /><Relationship Type="http://schemas.openxmlformats.org/officeDocument/2006/relationships/notesMaster" Target="/ppt/notesMasters/notesMaster1.xml" Id="Rb9298fd1d2d644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68a8845fef47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678440865f43a1" /><Relationship Type="http://schemas.openxmlformats.org/officeDocument/2006/relationships/slideLayout" Target="/ppt/slideLayouts/slideLayout1.xml" Id="R5bead29feb0c49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ead29feb0c49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c2620e4564dad" /><Relationship Type="http://schemas.openxmlformats.org/officeDocument/2006/relationships/image" Target="/ppt/media/image.png" Id="Rfd595da6cc9f46f6" /><Relationship Type="http://schemas.openxmlformats.org/officeDocument/2006/relationships/notesSlide" Target="/ppt/notesSlides/notesSlide1.xml" Id="R668f9bbb90524b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98364ee6e43e3" /><Relationship Type="http://schemas.openxmlformats.org/officeDocument/2006/relationships/notesSlide" Target="/ppt/notesSlides/notesSlide2.xml" Id="Re9aa20ac9fc44c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91b87cdcb4e1f" /><Relationship Type="http://schemas.openxmlformats.org/officeDocument/2006/relationships/notesSlide" Target="/ppt/notesSlides/notesSlide3.xml" Id="R2dc03ef9045441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57fb56a494c8f" /><Relationship Type="http://schemas.openxmlformats.org/officeDocument/2006/relationships/image" Target="/ppt/media/image.jpeg" Id="R1ccb0be46f554b98" /><Relationship Type="http://schemas.openxmlformats.org/officeDocument/2006/relationships/image" Target="/ppt/media/image2.jpeg" Id="Rf2a5022c3d2e401e" /><Relationship Type="http://schemas.openxmlformats.org/officeDocument/2006/relationships/image" Target="/ppt/media/image3.jpeg" Id="Re01a95f2ed69406a" /><Relationship Type="http://schemas.openxmlformats.org/officeDocument/2006/relationships/notesSlide" Target="/ppt/notesSlides/notesSlide4.xml" Id="R8b399c9c9c3545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d2b48add74871" /><Relationship Type="http://schemas.openxmlformats.org/officeDocument/2006/relationships/image" Target="/ppt/media/image4.jpeg" Id="R2118eb4751aa407d" /><Relationship Type="http://schemas.openxmlformats.org/officeDocument/2006/relationships/notesSlide" Target="/ppt/notesSlides/notesSlide5.xml" Id="R1ffe99dcb97e4c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049d4083942a6" /><Relationship Type="http://schemas.openxmlformats.org/officeDocument/2006/relationships/image" Target="/ppt/media/image2.png" Id="R4f1afeb784a0430c" /><Relationship Type="http://schemas.openxmlformats.org/officeDocument/2006/relationships/notesSlide" Target="/ppt/notesSlides/notesSlide6.xml" Id="R36cfd63a0c334b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cddd2d14646b7" /><Relationship Type="http://schemas.openxmlformats.org/officeDocument/2006/relationships/notesSlide" Target="/ppt/notesSlides/notesSlide7.xml" Id="R935ed02ecf2a42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9c5531a984554" /><Relationship Type="http://schemas.openxmlformats.org/officeDocument/2006/relationships/notesSlide" Target="/ppt/notesSlides/notesSlide8.xml" Id="R3cbc4494e7964f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53018c3824528" /><Relationship Type="http://schemas.openxmlformats.org/officeDocument/2006/relationships/notesSlide" Target="/ppt/notesSlides/notesSlide9.xml" Id="R02c659befbb745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6dc7fd7e94ff5" /><Relationship Type="http://schemas.openxmlformats.org/officeDocument/2006/relationships/image" Target="/ppt/media/image5.jpeg" Id="R4f18569f06204e8f" /><Relationship Type="http://schemas.openxmlformats.org/officeDocument/2006/relationships/notesSlide" Target="/ppt/notesSlides/notesSlide10.xml" Id="R9e1f494474594d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f9e250a184bea" /><Relationship Type="http://schemas.openxmlformats.org/officeDocument/2006/relationships/image" Target="/ppt/media/image3.png" Id="Rc151be5387d54da8" /><Relationship Type="http://schemas.openxmlformats.org/officeDocument/2006/relationships/notesSlide" Target="/ppt/notesSlides/notesSlide11.xml" Id="R826a9197d73445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6c8eb55df4975" /><Relationship Type="http://schemas.openxmlformats.org/officeDocument/2006/relationships/image" Target="/ppt/media/image6.jpeg" Id="R8ccc8c756bc44059" /><Relationship Type="http://schemas.openxmlformats.org/officeDocument/2006/relationships/image" Target="/ppt/media/image4.png" Id="R33bed1486ac34056" /><Relationship Type="http://schemas.openxmlformats.org/officeDocument/2006/relationships/image" Target="/ppt/media/image.svg" Id="R4e02b2fb930448e2" /><Relationship Type="http://schemas.openxmlformats.org/officeDocument/2006/relationships/image" Target="/ppt/media/image5.png" Id="Rece22b5925e141af" /><Relationship Type="http://schemas.openxmlformats.org/officeDocument/2006/relationships/image" Target="/ppt/media/image2.svg" Id="R20caaef9cff44a37" /><Relationship Type="http://schemas.openxmlformats.org/officeDocument/2006/relationships/image" Target="/ppt/media/image6.png" Id="Rd0c8370b9b0a4f24" /><Relationship Type="http://schemas.openxmlformats.org/officeDocument/2006/relationships/image" Target="/ppt/media/image3.svg" Id="R192d44cb62ea424f" /><Relationship Type="http://schemas.openxmlformats.org/officeDocument/2006/relationships/notesSlide" Target="/ppt/notesSlides/notesSlide12.xml" Id="Rcdcb2ee7787949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224b659cc4d2c" /><Relationship Type="http://schemas.openxmlformats.org/officeDocument/2006/relationships/image" Target="/ppt/media/image7.png" Id="Rb75f02b8cd2746a8" /><Relationship Type="http://schemas.openxmlformats.org/officeDocument/2006/relationships/image" Target="/ppt/media/image8.png" Id="R44e9998f03274dd8" /><Relationship Type="http://schemas.openxmlformats.org/officeDocument/2006/relationships/image" Target="/ppt/media/image4.svg" Id="R6ce08fe6a6724fc1" /><Relationship Type="http://schemas.openxmlformats.org/officeDocument/2006/relationships/image" Target="/ppt/media/image9.png" Id="Rb5aa6d10383a4829" /><Relationship Type="http://schemas.openxmlformats.org/officeDocument/2006/relationships/image" Target="/ppt/media/image5.svg" Id="Re6ecccd63ee246d6" /><Relationship Type="http://schemas.openxmlformats.org/officeDocument/2006/relationships/image" Target="/ppt/media/image10.png" Id="R69dba1e9748f49d4" /><Relationship Type="http://schemas.openxmlformats.org/officeDocument/2006/relationships/image" Target="/ppt/media/image6.svg" Id="R22fa14a595564301" /><Relationship Type="http://schemas.openxmlformats.org/officeDocument/2006/relationships/notesSlide" Target="/ppt/notesSlides/notesSlide13.xml" Id="R5a5b9226d19c47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ce3d5851c4f2e" /><Relationship Type="http://schemas.openxmlformats.org/officeDocument/2006/relationships/image" Target="/ppt/media/image7.jpeg" Id="R1914dccd7d174e52" /><Relationship Type="http://schemas.openxmlformats.org/officeDocument/2006/relationships/image" Target="/ppt/media/image11.png" Id="Re7ebda5d6f2e40db" /><Relationship Type="http://schemas.openxmlformats.org/officeDocument/2006/relationships/image" Target="/ppt/media/image7.svg" Id="R4c53f2411b4146cd" /><Relationship Type="http://schemas.openxmlformats.org/officeDocument/2006/relationships/notesSlide" Target="/ppt/notesSlides/notesSlide14.xml" Id="R4545504888e142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a463a5b834d87" /><Relationship Type="http://schemas.openxmlformats.org/officeDocument/2006/relationships/image" Target="/ppt/media/image8.jpeg" Id="R319aa4675a4c4702" /><Relationship Type="http://schemas.openxmlformats.org/officeDocument/2006/relationships/image" Target="/ppt/media/image12.png" Id="Ra0778767dcb04fd4" /><Relationship Type="http://schemas.openxmlformats.org/officeDocument/2006/relationships/image" Target="/ppt/media/image8.svg" Id="Rdcbbcdd8e2274387" /><Relationship Type="http://schemas.openxmlformats.org/officeDocument/2006/relationships/image" Target="/ppt/media/image13.png" Id="R6dea83a0341c46cf" /><Relationship Type="http://schemas.openxmlformats.org/officeDocument/2006/relationships/image" Target="/ppt/media/image9.svg" Id="R9f8d3b6e56ae4fd6" /><Relationship Type="http://schemas.openxmlformats.org/officeDocument/2006/relationships/image" Target="/ppt/media/image14.png" Id="Rb454faf9b29d469b" /><Relationship Type="http://schemas.openxmlformats.org/officeDocument/2006/relationships/image" Target="/ppt/media/image10.svg" Id="Rc6d106ec750b434a" /><Relationship Type="http://schemas.openxmlformats.org/officeDocument/2006/relationships/notesSlide" Target="/ppt/notesSlides/notesSlide15.xml" Id="R339a3ef036b0472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c96a081754e37" /><Relationship Type="http://schemas.openxmlformats.org/officeDocument/2006/relationships/image" Target="/ppt/media/image15.png" Id="R47ed99e52b204b98" /><Relationship Type="http://schemas.openxmlformats.org/officeDocument/2006/relationships/image" Target="/ppt/media/image16.png" Id="Rf0c471265c3a4293" /><Relationship Type="http://schemas.openxmlformats.org/officeDocument/2006/relationships/image" Target="/ppt/media/image11.svg" Id="Re7c1db2d5abb4006" /><Relationship Type="http://schemas.openxmlformats.org/officeDocument/2006/relationships/image" Target="/ppt/media/image17.png" Id="Ra7aa5e819b904ecf" /><Relationship Type="http://schemas.openxmlformats.org/officeDocument/2006/relationships/image" Target="/ppt/media/image12.svg" Id="R4b68172a60b545a7" /><Relationship Type="http://schemas.openxmlformats.org/officeDocument/2006/relationships/image" Target="/ppt/media/image18.png" Id="Rcfcd06d14c864351" /><Relationship Type="http://schemas.openxmlformats.org/officeDocument/2006/relationships/image" Target="/ppt/media/image13.svg" Id="Rec1f88902d164c82" /><Relationship Type="http://schemas.openxmlformats.org/officeDocument/2006/relationships/notesSlide" Target="/ppt/notesSlides/notesSlide16.xml" Id="R92a066761fcb49f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cdcfa62074248" /><Relationship Type="http://schemas.openxmlformats.org/officeDocument/2006/relationships/image" Target="/ppt/media/image9.jpeg" Id="R0a4b63dc65da448e" /><Relationship Type="http://schemas.openxmlformats.org/officeDocument/2006/relationships/image" Target="/ppt/media/image19.png" Id="R2684d81173304d50" /><Relationship Type="http://schemas.openxmlformats.org/officeDocument/2006/relationships/image" Target="/ppt/media/image20.png" Id="R60787cc090e64be7" /><Relationship Type="http://schemas.openxmlformats.org/officeDocument/2006/relationships/notesSlide" Target="/ppt/notesSlides/notesSlide17.xml" Id="Rc21f2f52156a45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E38D24-EF0C-4E65-ADAF-3E58831B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3D198-6655-41EF-A654-1C80E939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7D9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45948-58BB-440B-AB41-594A4650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9E7C5-B83E-42B3-B5C8-07E9A868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D5FDE-E939-49B6-A629-28593B7A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382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PROPOSAL FOR PILOT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D3731-9E57-4201-886F-97793901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7A0019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7A0019"/>
                </a:solidFill>
                <a:latin typeface="Aptos Display"/>
                <a:ea typeface="Aptos Display"/>
                <a:cs typeface="Aptos Display"/>
              </a:rPr>
              <a:t>Haki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00EB3-B595-4992-B24E-7E87EDEF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1416"/>
                </a:solidFill>
                <a:latin typeface="Aptos"/>
                <a:ea typeface="Aptos"/>
                <a:cs typeface="Aptos"/>
              </a:rPr>
              <a:t>Offline student information assistant for TUP Taguig.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0CE71-311F-4A03-B7BE-3032E1F2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A source-referenced, admin-governed campus guide proposed for supervised evaluation.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2022E-3E39-4556-B254-60C5C5CB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A900B-EB29-4956-97F9-6C0A7D5F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Offline-first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B05D1-A435-4962-A234-8FCDA726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100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F57D1-5EEE-4AC6-8D49-3B8C5820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Source-referenced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AD7A1-4436-4084-8F25-A4DF605F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D14CF-56F0-41F1-A376-430A24D5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862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Admin-governed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89713-88B6-4979-ACFC-478E6915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C3670-A55C-4359-8679-FFF11CA8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Prepared for TUPT administrative 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DD297-A8D5-4001-B386-4D7E2671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Joshua Retrita | BSIT 2025-2026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617EB-9191-450A-8846-15D7B523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0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25F29-1BB3-48E6-AE26-91A04D5E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9906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9FA8B-E90B-47D5-878F-76A0AB2F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259080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9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95da6cc9f46f6"/>
          <a:stretch xmlns:a="http://schemas.openxmlformats.org/drawingml/2006/main"/>
        </p:blipFill>
        <p:spPr>
          <a:xfrm xmlns:a="http://schemas.openxmlformats.org/drawingml/2006/main">
            <a:off x="7279343" y="685800"/>
            <a:ext cx="3253064" cy="52006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E03004-BAB5-4D36-8DB6-BA943975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App-matched Haki mascot artwork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660F5-276C-4CAC-A047-6D5539BC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096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454443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090658-0184-476C-B299-DD9E6B97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A2CBAE98-0910-4A17-8F55-DAA75292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44819C39-8271-4D34-A410-C9B0F4E4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THE CAMPUS SERVICE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A1975-0837-411B-8590-19E2042D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The friction is not a lack of information. It is access.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7ED53-6A71-46BA-AF35-1359CB74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Students often need simple guidance, but the answer may live across office posts, pages, documents, and informal advice.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851D4-A3EF-4B8B-8151-29B3A41B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24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3E161-B691-4D28-9FF5-DCCE95B2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72BC2-BBF3-470E-B51C-028FB3C1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670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292F6-DF77-4313-8C27-24739689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00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Information is scattered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0750B-E2DE-4350-892A-A3145CF4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Office posts, pages, handbooks, room lists, and student hearsay are not one searchable service.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79737-F1F7-48FB-A06E-98BC6658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3124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2C2F7-D579-49F2-9307-6396DF48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D240D-39F3-42D5-858E-1C8ECC30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670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8CF4E-BD90-4E58-9CE2-DC738767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Students ask repeatedly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723EA-B463-4755-90DF-44DC4824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86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Basic questions reach front desks, classmates, group chats, or the wrong office.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EDD0D-C295-4351-95C7-26C7BBAD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3124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F62045-0FC6-4B10-9969-CACCD38E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6F851-254C-4182-8DD5-348EBA43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670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FD45D-F510-46A0-85B4-CBD0E355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0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Offices absorb avoidable 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703A6-5F7C-4F60-AC6D-924F1587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86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Staff still become the last-mile explanation layer for routine campus guidance.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80546-F54E-4E59-9B6E-08312298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67063"/>
            <a:ext cx="638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3F3AB-01D4-42C6-95E3-C45C93A9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33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069E9D-98F2-4F75-82E9-55978A8D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67063"/>
            <a:ext cx="638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EA2A90-19BD-4C84-9765-650FAA2D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133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A70E7F-E352-4582-AC3D-98882172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0782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9525">
            <a:solidFill>
              <a:srgbClr val="7A001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505D8-5D54-4903-9E2C-F060900C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Presentation stance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F30FA9-CA9E-4904-940D-0536022E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Evaluate Haki as a student service layer first; treat AI as optional support.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ED5221-3828-4E63-95AC-8FC8B6E5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8E6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E6EC"/>
                </a:solidFill>
                <a:latin typeface="Aptos"/>
                <a:ea typeface="Aptos"/>
                <a:cs typeface="Aptos"/>
              </a:rPr>
              <a:t>This framing keeps the discussion practical: accuracy, ownership, privacy, maintainability, and pilot governance.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7C9BDD-4F79-4637-90EE-04B4C217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7EA7A3-57F3-4081-A22F-A140A671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99636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CF356E-4C92-4E19-BEED-8DF2EFA2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8DE7567E-A02F-45AE-95AB-D33DCFCE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698EF9E1-C646-49FB-A2BE-94B000C7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WHAT HAKI ACTUALLY 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36DD3-7BA2-4E15-8637-964CF3A9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Haki answers from approved local sources before it ever needs AI.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D709E-FC24-42ED-A7B9-4CC92519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55E41-693F-479F-883F-2F060D66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CC816-A21E-4BB2-A14D-008913A7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TUPT-approved source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71D15-6433-4F42-A565-777FE4AB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Documents, procedures, office guidance, citations, and update dates selected by Administration.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EDDAA-2B12-43EB-9143-B0F42AC8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31D45-3669-4078-B750-0CCBEA53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B3D6F-91A3-41B7-9B5E-66F4BE2C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On-device SQLite + FTS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FAB93-8EB5-431C-8BBA-6D649E51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3370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Searchable local index works offline and remains the baseline even without a model.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886AE-22BF-46C3-B3F2-C54A934E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2F41C-D84D-4D40-9377-ABA8F03D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BEF0D-7BC9-48E7-84B7-6714947E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Source answer builder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C7C20-A5B7-440D-AA2F-D65B0B34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3370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Ranks results, checks confidence, and formats the answer with citations.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41711-33AA-4779-90B5-A3DCDB05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050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6DD7A-A9A8-4F9A-A1F3-1C90A162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EDCC7-48C5-4B1F-B35B-0DDD64C5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765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surfaces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61D721-05B3-4239-9BB8-31B22523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33700"/>
            <a:ext cx="1409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Chat, Service Desk, Library, Map, and other app screens expose the guidance.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A0851-E9DF-470A-B589-4709080E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5138"/>
            <a:ext cx="581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9CBDE-8B47-43BB-8BD8-9FE7041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7180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35271A-7E3B-45FF-9902-3DE07F11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5138"/>
            <a:ext cx="581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38C56-C662-4084-BFFF-6CE2929B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97180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5E72B-92E3-403E-9421-79599375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5138"/>
            <a:ext cx="581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CC3FF8-698A-4BFC-B719-4CCCF168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97180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6B3B1-8233-4F46-BB25-1B61EE6F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20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7"/>
          </a:solidFill>
          <a:ln xmlns:a="http://schemas.openxmlformats.org/drawingml/2006/main" w="9525">
            <a:solidFill>
              <a:srgbClr val="E3C4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6C491-2033-472D-BB6C-A0ACB45C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720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Optional local AI lane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65D1E1-E1BE-4593-974D-53F20962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1416"/>
                </a:solidFill>
                <a:latin typeface="Aptos"/>
                <a:ea typeface="Aptos"/>
                <a:cs typeface="Aptos"/>
              </a:rPr>
              <a:t>Compatible downloaded model -&gt; supportive/general chat and local summarization only when safe. Official campus procedures still come from saved sources.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A1192F-21E7-4D7F-97D0-516D58DD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863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A21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40932C-92A1-47DA-BEAC-CC167A39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10125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AI is optional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B7AD33-9832-40B6-A758-75EB61A9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2BE60E-FF0F-45DF-8117-655116FA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32901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0DB57F-1D2F-4F2E-8634-59FE8EFC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1D96F415-63E4-4FE8-A8C1-5E731FED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BC8698C9-5B68-46D0-A264-DE30C8C2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STUDENT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CC58A-B788-4318-B67E-52B7B53A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A student can move from question to source-backed next step in one 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CE3F5-CBF7-489A-BB8C-22DD1407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0574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b0be46f554b98"/>
          <a:stretch xmlns:a="http://schemas.openxmlformats.org/drawingml/2006/main"/>
        </p:blipFill>
        <p:spPr>
          <a:xfrm xmlns:a="http://schemas.openxmlformats.org/drawingml/2006/main">
            <a:off x="1112610" y="2076450"/>
            <a:ext cx="1584781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761FE-9B26-44EB-854B-9CA12919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71650"/>
            <a:ext cx="22669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5022c3d2e401e"/>
          <a:stretch xmlns:a="http://schemas.openxmlformats.org/drawingml/2006/main"/>
        </p:blipFill>
        <p:spPr>
          <a:xfrm xmlns:a="http://schemas.openxmlformats.org/drawingml/2006/main">
            <a:off x="5208592" y="1847850"/>
            <a:ext cx="1755766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48F28-F506-446D-B642-440A6CA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20574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a95f2ed69406a"/>
          <a:stretch xmlns:a="http://schemas.openxmlformats.org/drawingml/2006/main"/>
        </p:blipFill>
        <p:spPr>
          <a:xfrm xmlns:a="http://schemas.openxmlformats.org/drawingml/2006/main">
            <a:off x="9361093" y="2076450"/>
            <a:ext cx="1585113" cy="3524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0C9D8-84EF-49B5-89D4-35030FE7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81413"/>
            <a:ext cx="1514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F8CBF-DBF7-4AE9-B322-27AC7451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4807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AFFE9-B7D3-4200-9BA2-9FF92A56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81413"/>
            <a:ext cx="1400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89955-1A4E-4CA2-81A9-78C50C6F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4807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22178-03D8-4A8C-860E-F0F03A92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1. Student home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E17D4-C700-4084-8EF6-E8A494BD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6265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2. Source-backed chat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469A52-4950-4558-BF38-97207D2A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102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3. Service desk topics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67790F-0DEF-421A-90D8-C1270B3A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172200"/>
            <a:ext cx="483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A21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EF9CD-AC87-4736-A31B-C681D97B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23887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No backend required for campus source 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14542-C037-4BA5-8FDF-CEB4B6F6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E8EE0-01A4-433B-BC0C-5D01B965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38798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219236-2119-42FD-A702-F284AC4A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935AFF6A-D526-4A0E-88C1-36AB236E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8717107F-51E9-4293-B8CC-AF121960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TRUST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007A0-37B8-4CBF-B42E-2F293E2C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Citations make Haki auditable instead of a black-box chatbot.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9F807-D4C7-4A36-89C8-12C3C72F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571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8eb4751aa407d"/>
          <a:stretch xmlns:a="http://schemas.openxmlformats.org/drawingml/2006/main"/>
        </p:blipFill>
        <p:spPr>
          <a:xfrm xmlns:a="http://schemas.openxmlformats.org/drawingml/2006/main">
            <a:off x="1294777" y="2019300"/>
            <a:ext cx="1772896" cy="3943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3BDA1-14CC-4D10-9F49-0160CB83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341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Campus answer with source panel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34CA0-1C76-43FB-9E98-4CA725E2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87AE5-A1D1-42C5-A791-FC491DC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78733-D031-48F3-897F-F93D3444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sees the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B6D6A-ECDB-413C-BC53-E169FB74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9825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The response is phrased for student action, not as raw database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27AF5-8B75-4B17-B4FC-A6A018F2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AC40B-AA84-4186-AC7A-F7BBACC3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F994D-5A7C-4058-ABBF-54A129CF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Admin can inspect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1D416-895C-4ED6-9FBE-B79767FD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0425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The source card names the campus document, office, and citation used by the answer.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2C063-7C23-4AE3-95BB-BB95D7BF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2910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A035D-E372-4FE9-A52A-C0B557B1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291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A275E-7C31-4971-A9D2-D1D9E02B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005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Missing source is a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C5C1C6-E5C0-405D-AA42-1CE09725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57725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If official content is weak or absent, the right response is review or clarification, not guessing.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8F5F2-FE5B-4238-8158-55CE493C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241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5ACE8-1EF4-4741-86F1-2CBD3A30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434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58F80-F5B8-4DED-81A3-BEC9989D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957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EC0DD6-34AF-45F7-8E42-D84AE6E5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57850"/>
            <a:ext cx="657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The pitch point: Haki is safer when it behaves like a controlled reference system, not a model pretending to know policy.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163F7-2A00-464B-A128-5DD27BB6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5E427F-6156-4CE4-B14C-E7BDEA74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24247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42B410-7ABA-42E6-A1F4-13C80D05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3B3060A7-0ED0-4F63-8F24-28F49CE6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309DA9C5-54FC-451B-BACD-A02E29CE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PRIVACY AND INFRASTRUCTURE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7E901-7E42-42D3-B3B0-528127BA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Offline-first design lowers privacy and infrastructure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A9B04-BEAE-4AED-83D3-A6920053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6E2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E2E8"/>
                </a:solidFill>
                <a:latin typeface="Aptos"/>
                <a:ea typeface="Aptos"/>
                <a:cs typeface="Aptos"/>
              </a:rPr>
              <a:t>The proposal positions Haki as a local device app: no external chat API, no cloud database, and no server dependency for campus source 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5BE63-D44D-4EFA-A461-D1A7A1D7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61722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0012"/>
          </a:solidFill>
          <a:ln xmlns:a="http://schemas.openxmlformats.org/drawingml/2006/main" w="9525">
            <a:solidFill>
              <a:srgbClr val="9F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AE4A3-B364-40EE-BDB3-0404BB0E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Inside the student's phone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B9F7C-CF40-4B64-B702-42E1BCCF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E7C6F-BD3A-4A47-8922-88B6342C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Saved campus guide: Approved documents and citations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3C8AA-0B3E-4CDA-AFAC-37A85C52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61B9E-1C48-414D-88AE-2475EEFB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SQLite source search: Fast offline 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AEEE5-19BD-4D00-A423-871003FE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A0786-46FA-491C-BC1D-6FA31F1F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290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Optional local model: Downloaded only on compatible devices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B8FC2-9CE1-48B3-A176-78BF67D2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6FDDD-EADE-4070-9F85-C39D4DD6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Profile/history controls: Local settings, not external server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C682C-52A2-463F-9893-BE6093CC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Official web pages remain the source for real-time announcements.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67019-0A2D-4AD4-967F-EE9BF26C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81100"/>
            <a:ext cx="2362200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afeb784a0430c"/>
          <a:stretch xmlns:a="http://schemas.openxmlformats.org/drawingml/2006/main"/>
        </p:blipFill>
        <p:spPr>
          <a:xfrm xmlns:a="http://schemas.openxmlformats.org/drawingml/2006/main">
            <a:off x="8224467" y="1257300"/>
            <a:ext cx="2105767" cy="46863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3CE41-A7CF-450B-8848-70A2FFC8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15050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6E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E2E8"/>
                </a:solidFill>
                <a:latin typeface="Aptos"/>
                <a:ea typeface="Aptos"/>
                <a:cs typeface="Aptos"/>
              </a:rPr>
              <a:t>Device-aware local model screen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842FF-6DBD-4757-9990-534007AC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DCE3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D5628-497D-4A7F-9651-F1463979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CE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33143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969066-255E-407C-AFEA-B1B5E103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8D98DB69-2003-471E-80AD-11AE395D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807E463C-8BF6-4690-BE25-2F9BC8CB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ADMIN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7AAD4-C519-435E-8265-9CC966D6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TUPT keeps ownership of the content and release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992D4-8E63-4760-BCFB-3F468380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381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C0E0C-86AC-47F9-91B4-C6C0D909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698FC-64AF-4A08-8056-29EDA05E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Administration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9F03C-1737-4341-9281-AE953C36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038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Decides whether Haki is appropriate, what content is allowed, and how distribution should be governed.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96028-4F47-4387-9073-7F3155C8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2381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269DE-9F86-4FD8-AD14-BA8E4FA4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48620-42F6-46A5-85B8-30B5646B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003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Responsible office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8659B-F105-48FB-B80D-0140CF1B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2038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Coordinates official source review, update cadence, and policy ownership across offices.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B47F5-82DF-455C-8563-94FB0981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2381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150746-A55D-4AC4-A071-3412A204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7B556-514A-49F1-A074-2F3DD481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or staff maintainers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AC361-69BE-4DEB-AD55-E65DAC42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2038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Prepare source packages, perform updates, and preserve technical continuity under supervision.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93D7A-CB38-4DFE-8A22-3A88615F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71700"/>
            <a:ext cx="21717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6AE31-6611-4179-86D4-5D3B59AC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71700"/>
            <a:ext cx="217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9E811-5F48-49C8-8691-E2BBD23E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Haki 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95234D-7F0A-4434-B44A-9D7DBB08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14650"/>
            <a:ext cx="1828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Publishes only the approved local guide to students through chat, search, map, and library screens.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92188-06CB-4181-80C2-FC8BAD56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19488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50257-128A-493F-B635-8A2FB572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8615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5AA38D-0709-40F0-AD85-67D4E0AC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19488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F32FE-369F-4CD1-B4F8-51690485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8615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AF05EE-FE46-49D8-AADE-0E7B3B89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19488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6A948-E3CD-49BB-B419-010C0ADC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8615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F48B99-431F-4608-8FA4-331A1B7D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922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9525">
            <a:solidFill>
              <a:srgbClr val="7A001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165217-D858-46A0-8202-4A70C0E4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505450"/>
            <a:ext cx="864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Developer role: build, hand over, guide first maintainers, and request attribution only if Haki is deployed or promoted.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4A8FDD-A64E-468E-843B-0020BFC1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58BBDE-2149-42F4-B8B7-6B66A904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22039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8E8D21-9F59-4E5F-91EF-299CEDC4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E8926E93-2E2A-4FA9-BAB6-CF5C5628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352D99F2-4578-4A1C-967F-0321AE01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COMMUNITY BENEFIT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8F202-80EF-4CA5-BFA4-67E7EC2B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One student app can improve service quality across the community.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EE80A-85B9-4DF4-B7FA-EF70D1CD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0648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9525">
            <a:solidFill>
              <a:srgbClr val="7A001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C86EB-1A7E-4502-A039-265E5BA4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Stakeholder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B2085-B487-433D-AB3F-FB3E62EE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145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Current friction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86BCB-3A22-4938-945A-B175D540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145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What Haki improves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84F85-1CCC-43DA-8F6C-ED6CEB73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D9B09-44BE-44E8-A7DA-F0AD1488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36E7C-09EA-41DB-A514-4BFF2102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59409-79B6-4A16-9514-9B69804D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4320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Unsure which office to approach, what to prepare, or where to go.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07997-0143-4C92-B54E-4894B90F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4320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Faster self-service guidance with source references and map support.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A0B1B-5097-458C-AB7C-59916680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EC3AE-60B5-4714-9F2D-7DDCB4FD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C3160-A667-49A2-B7BD-EEDCF714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6A21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6A21E"/>
                </a:solidFill>
                <a:latin typeface="Aptos"/>
                <a:ea typeface="Aptos"/>
                <a:cs typeface="Aptos"/>
              </a:rPr>
              <a:t>Offices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23675-B3AE-41F2-A000-3A57502B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6235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Routine questions repeat at counters and through informal channels.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27ADF-B2D8-4AC1-98C7-45A24F24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6235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Better-prepared students and fewer basic inquiries for staff.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128FA-D316-4DF2-8A13-A50EC4C0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02BDD-9540-4448-B170-C6732083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43C7D7-39DF-4B9D-83EF-65FCF4CD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E7D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7D4F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E35818-DFEE-428C-A651-A55E9283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8150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Official guidance can be hard to keep consistent across channels.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E8C803-8608-4695-A034-2808746C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8150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Central content authority with local, auditable student access.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A3CD38-A4F1-40C6-9A0A-B45A86C3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EBBE5-A501-475A-A1DC-585B5EB8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667638-3C13-4EC4-9169-5AEDE9BD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E5E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5E7D"/>
                </a:solidFill>
                <a:latin typeface="Aptos"/>
                <a:ea typeface="Aptos"/>
                <a:cs typeface="Aptos"/>
              </a:rPr>
              <a:t>TUPT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26D74B-0F20-41BE-95D5-1A829864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0065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Student-led innovation is often hard to convert into institutional value.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529A75-57CB-459F-A556-735A6EEC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0065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A visible responsible AI-era service project with controlled pilot scope.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5BA5A7-24A2-496E-B7F6-D03344A6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57900"/>
            <a:ext cx="952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The value is operational first: clearer guidance, less repetition, and a governable path to adoption.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832079-7C3C-4E8F-810F-F2FBD5BD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1EF051-DC3B-4BCF-99F1-9C7F4E04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783743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F12C95-0C64-4F03-AD4D-2768470C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40A28F99-E85E-4385-8177-299FAC89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AB27584A-0D9B-455E-BB5B-195A1B08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LOW-RISK ADOPTION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5F88B-9AFB-4EE8-B616-32607424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A pilot review turns adoption into a controlled administrative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E20D9-5229-4E78-B5BE-DD648B2D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The ask is not a blind launch. It is permission to evaluate Haki with official content, supervision, and measured student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4308A-B837-4D6A-8B3C-28951C30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2438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CF018-B185-4C64-A9F6-5D5D8F0A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FAC92-ADB0-4058-9CEE-7BB9B9EF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BB6DF-4334-442A-B4BE-B238E7A6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765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Content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32530-6472-4268-B2C3-682E3EFD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Administration identifies approved offices, documents, citations, and exclusions.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AB318-2EDE-42F6-9472-435609B3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213B7-0B76-4A90-A345-32F1BDF5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2438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4BDDB-05FA-4FDB-A63D-CF147CD3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7C230-0971-4C64-8D16-D5B2E98D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08276-0E2A-40A7-8C83-EA4EB241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765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Internal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A8CD8-5ADB-4EE9-B890-9EB1BD6C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671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Reviewing office and maintainers test answers, missing-source behavior, and update process.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9452A-DB91-4B5A-9251-D73525ED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536DB-6BC7-441C-98B9-D04C9631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438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25BFDB-1E50-4D85-9A9E-75B22F65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C1BFE-E381-4C53-9D8C-42B60D19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8411D-51C9-4040-B363-0F88DE49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A90A5-F36F-4D4C-AE88-8AB8290A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671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Small student group tests common tasks: office concern, map, service desk, and source clarity.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C37A3-1314-43D7-89F4-77FCFFD6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3F2A26-7C32-4471-9BA4-590E2DFF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86050"/>
            <a:ext cx="2362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8EC67A-3814-49AF-B49E-EDFD8D11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EBBAF7-FD28-41FC-ABB1-9DFD67C4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B176B5-2BFB-46B7-91ED-3DB1AE38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7655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Deployment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9C1906-B443-4C00-9916-147B973D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671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Admin decides whether to publish, how to govern distribution, and who maintains it.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0A680F-352D-4E06-BAA7-8C0169B7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9100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5A8454-0AA7-489D-BD54-8F39B4D3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48063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284D75-05F7-44B9-8605-DFE8DE56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14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F3D2BE-02D0-4964-83C9-11CA220A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48063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EB9703-2155-484E-8838-A30CBA97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14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2AF542-3114-4A98-8C46-418C539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8063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2D6514-8F90-4BBA-AF6E-CAA0E2BF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14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07DFC1-C3C8-4499-8798-E95E10BB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7"/>
          </a:solidFill>
          <a:ln xmlns:a="http://schemas.openxmlformats.org/drawingml/2006/main" w="9525">
            <a:solidFill>
              <a:srgbClr val="E3C45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36D7CF-2AC2-4120-A8C7-6D88EA47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29250"/>
            <a:ext cx="834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Decision gate after each phase: continue, revise, limit scope, or stop.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1412D2-2508-4297-852A-07B4B8E3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9E7BE6-EBFC-4DA4-B979-353C194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096749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791F12-1043-464A-8C8A-5319B408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6E12CBFD-D10F-46EB-A925-51444894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533CFA40-723C-4ED8-8070-F6BA2FEC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REQUESTED ADMINISTRATIVE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45FCC-277F-4EB5-ACF7-3CFAEEE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52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Approve a supervised pilot review, not a blind launch.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AA75D-9EB7-4DC3-B61C-4351658A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8E6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E6EC"/>
                </a:solidFill>
                <a:latin typeface="Aptos"/>
                <a:ea typeface="Aptos"/>
                <a:cs typeface="Aptos"/>
              </a:rPr>
              <a:t>The proposal letter can carry the formal terms. The presentation should close on the next practical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4284D-9D04-4CCC-A0C6-C90F25CB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EAD2A-FF54-4B34-8C08-0008CF2D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194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25607-4B00-4745-AB8A-9DFACBFF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Assign a reviewing office or evaluation 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3DC19-0888-401F-82EC-AD0AC86B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9FD72-2BEE-4924-88D4-DDD2BE1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528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363B5-ADDD-4E42-A835-1ABC2DFF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 which campus information can be included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86AAA-EB3B-4FE2-B88C-7DDFEB39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92280-65A7-4C07-90AC-FB36CE1D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862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B8320-D0D9-4732-9419-42EDB7D0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 a small, supervised student 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910A2-B0CB-466E-8230-BD700EE2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5C82F-FB98-4EC5-9EAA-FE4A6403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196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7BD441-804A-4871-A1C6-563AE719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Decide distribution and maintenance after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5E273-452E-4D08-AD78-9ED61D60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65203-525B-4CE6-8E36-B95673B5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530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B9A93-EA60-4887-B677-B10686F5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 acceptable developer attribution if deployed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DEF21-53FD-414E-B7F5-4D507EEB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066800"/>
            <a:ext cx="21336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8569f06204e8f"/>
          <a:stretch xmlns:a="http://schemas.openxmlformats.org/drawingml/2006/main"/>
        </p:blipFill>
        <p:spPr>
          <a:xfrm xmlns:a="http://schemas.openxmlformats.org/drawingml/2006/main">
            <a:off x="8915400" y="1245772"/>
            <a:ext cx="1981200" cy="4404556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AFBE7-2475-4DFC-909B-52E9B60D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924550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8E6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E6EC"/>
                </a:solidFill>
                <a:latin typeface="Aptos"/>
                <a:ea typeface="Aptos"/>
                <a:cs typeface="Aptos"/>
              </a:rPr>
              <a:t>Haki remains a TUPT-controlled service candidate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CF2FB1-4AEB-42EF-A5CD-97408CA0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98F843-7E89-4A39-BEE4-E0BE9FA0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Suggested closing line: I built Haki for the TUPT community, but the Administration should decide how it is reviewed, governed, and released.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4B090A-8E60-43AB-9CF5-943B7506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DCE3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3C8E93-B1B3-4E90-B863-6339ADDE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CE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96323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CB09E6-EFC0-4F07-8E61-B861D97E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D22B2-7A06-4659-88DE-46F1CAD8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94038-607A-4DBF-B6ED-46382C4D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CE769-A1CB-43BA-A9FB-868B71FA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DD94F-2206-41AF-8D80-AD92721E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9EDE1-897B-4D93-A777-24075425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892C7-191B-4767-A613-79CBEF8F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EF0F3-B82C-4BA2-8ACA-E46DE45D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89535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A9C66-7119-4280-9C91-BEE0EB04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34290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6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1be5387d54da8"/>
          <a:stretch xmlns:a="http://schemas.openxmlformats.org/drawingml/2006/main"/>
        </p:blipFill>
        <p:spPr>
          <a:xfrm xmlns:a="http://schemas.openxmlformats.org/drawingml/2006/main">
            <a:off x="6514298" y="438150"/>
            <a:ext cx="4497403" cy="5619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69675-58F4-4285-8AAD-DF9C7B58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A001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8A001C"/>
                </a:solidFill>
                <a:latin typeface="Aptos Display"/>
                <a:ea typeface="Aptos Display"/>
                <a:cs typeface="Aptos Display"/>
              </a:rPr>
              <a:t>Haki App Exploration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309C2-0655-4C39-AC9D-53DE85CC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A student walkthrough from question to campus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38DE2-392F-4E14-87C7-430B5869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next slides mimic how a TUPian could use Haki during a normal campus task: ask, verify, locate, prepare, then use student-life tools when needed.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F6183-92FA-4E94-ABA6-BF167D76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20DFB-8014-44D3-8A35-B183AD91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DB2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9B097-9F15-442D-9513-DD2F080F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243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B0089-4B50-4552-A66D-1985A6A6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00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7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A3D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99EA66-A941-4BFC-A8AE-9B84D06B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243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820984-7340-433B-B145-58F62B1B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00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A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5A1B"/>
                </a:solidFill>
                <a:latin typeface="Aptos"/>
                <a:ea typeface="Aptos"/>
                <a:cs typeface="Aptos"/>
              </a:rPr>
              <a:t>Locate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03C17-E34A-4E9C-BC4C-F30245FF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243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6135A2-DED9-458C-A39A-46E7FB4F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00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</p:spTree>
    <p:extLst>
      <p:ext uri="{BB962C8B-B14F-4D97-AF65-F5344CB8AC3E}">
        <p14:creationId xmlns:p14="http://schemas.microsoft.com/office/powerpoint/2010/main" val="166275539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3DFDB3-95A4-42F1-9E0B-487B68C3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C5162-2A79-451F-A505-02559E4D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925CB-7A11-4D4A-AD11-3CDE2945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B667E-42E5-4E14-9825-DE7F6441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FE4B1-C771-4C99-A336-6E3098D5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CB678-9E23-451B-850A-0339AA8A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A student starts from the Haki home screen.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667AA-C568-4AE7-8976-B7701F1B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36EE9-9574-4F46-97B9-581A4EDA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827C4-D669-416A-9E90-D948CD63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71650"/>
            <a:ext cx="20002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19ADD-7FC0-46B5-960B-2B0676C9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28800"/>
            <a:ext cx="1885950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c8c756bc44059"/>
          <a:stretch xmlns:a="http://schemas.openxmlformats.org/drawingml/2006/main"/>
        </p:blipFill>
        <p:spPr>
          <a:xfrm xmlns:a="http://schemas.openxmlformats.org/drawingml/2006/main">
            <a:off x="1257300" y="1850617"/>
            <a:ext cx="1847850" cy="4109266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DB8F0-8735-483B-A18A-EEAD9D94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28800"/>
            <a:ext cx="14288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8C8"/>
          </a:solidFill>
          <a:ln xmlns:a="http://schemas.openxmlformats.org/drawingml/2006/main" w="0">
            <a:solidFill>
              <a:srgbClr val="E4D8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021F0-5A90-4B1D-A3D9-DFAAB980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43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STUDENT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CBDFA-C753-4628-A1DF-8998EEB2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66950"/>
            <a:ext cx="6324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The home screen gives students a starting point without hiding the app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D345F-C394-4A2B-AC28-C5EDA731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6324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BF773-7476-4AF4-A014-4CCF7B3E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ed1486ac34056">
            <a:extLst>
              <a:ext uri="{96DAC541-7B7A-43D3-8B79-37D633B846F1}">
                <asvg:svgBlip xmlns:asvg="http://schemas.microsoft.com/office/drawing/2016/SVG/main" r:embed="R4e02b2fb930448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24350" y="33623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2C71E0-1D5C-43AF-BA71-F07D7A73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48025"/>
            <a:ext cx="539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Direct path to Chat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D6E74-43D9-4F1A-9FE7-18202A32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05200"/>
            <a:ext cx="539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first action points students toward asking Haki about routine campus concerns.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D2E525-1367-4BE6-BF7A-CB60517C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81450"/>
            <a:ext cx="6324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F3672-9231-443F-931F-A6491787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814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22b5925e141af">
            <a:extLst>
              <a:ext uri="{96DAC541-7B7A-43D3-8B79-37D633B846F1}">
                <asvg:svgBlip xmlns:asvg="http://schemas.microsoft.com/office/drawing/2016/SVG/main" r:embed="R20caaef9cff44a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24350" y="42005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48D4E-4676-47C2-BF4D-5FB0A82B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86225"/>
            <a:ext cx="539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Suggested prompts stay visible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DA77A-0ECA-4665-A77F-57B9FC8E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43400"/>
            <a:ext cx="539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Common questions help new students ask in the right direction.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6B063A-E043-426C-9DD8-92666BB7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19650"/>
            <a:ext cx="6324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5F994-F9C1-4A0A-8AF5-3A3441C8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196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8370b9b0a4f24">
            <a:extLst>
              <a:ext uri="{96DAC541-7B7A-43D3-8B79-37D633B846F1}">
                <asvg:svgBlip xmlns:asvg="http://schemas.microsoft.com/office/drawing/2016/SVG/main" r:embed="R192d44cb62ea42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24350" y="50387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019878-5548-454C-B118-280F46B0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24425"/>
            <a:ext cx="539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Navigation remains available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7F6D0E-F0D0-4D5C-8DD3-FD4A440B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181600"/>
            <a:ext cx="539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full screenshot shows the bottom tabs and home context together.</a:t>
            </a:r>
          </a:p>
        </p:txBody>
      </p:sp>
    </p:spTree>
    <p:extLst>
      <p:ext uri="{BB962C8B-B14F-4D97-AF65-F5344CB8AC3E}">
        <p14:creationId xmlns:p14="http://schemas.microsoft.com/office/powerpoint/2010/main" val="29468418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4C457A-80B9-4147-9A1F-5A20E4F7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58BF2-45E1-42CF-A06A-4B4AD296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EE378-23F8-4C16-B054-4E581CEA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04A2D-949F-4D83-BB4A-0CE62F1C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7B1F4-8B52-426F-A3E8-70CBFFFA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F25A7-C201-4A22-AEEB-4E35EF99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asks Haki for help.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3D33D-932E-4435-8A96-71300F64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D9787-2B22-4AAA-A7A9-96C446B2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550CE-FE33-4F63-A91E-4F9B9617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71650"/>
            <a:ext cx="20002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5672C-9300-46C6-A6B6-C8BCCE0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28800"/>
            <a:ext cx="1885950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f02b8cd2746a8"/>
          <a:stretch xmlns:a="http://schemas.openxmlformats.org/drawingml/2006/main"/>
        </p:blipFill>
        <p:spPr>
          <a:xfrm xmlns:a="http://schemas.openxmlformats.org/drawingml/2006/main">
            <a:off x="1257300" y="1850696"/>
            <a:ext cx="1847850" cy="410910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5E3EF-7D99-4643-A515-2A0C4843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28800"/>
            <a:ext cx="14288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8C8"/>
          </a:solidFill>
          <a:ln xmlns:a="http://schemas.openxmlformats.org/drawingml/2006/main" w="0">
            <a:solidFill>
              <a:srgbClr val="E4D8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5B466-E584-48BA-9B18-DB673CAD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43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STUDENT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F820B-07CE-4EAB-902C-69D1C13E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66950"/>
            <a:ext cx="6324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The chat screen keeps the answer, warning, source card, and input area in 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7C032-A657-4DED-8DB5-E7658447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6324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679F5-88EB-4BF8-8F43-4D34A70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9998f03274dd8">
            <a:extLst>
              <a:ext uri="{96DAC541-7B7A-43D3-8B79-37D633B846F1}">
                <asvg:svgBlip xmlns:asvg="http://schemas.microsoft.com/office/drawing/2016/SVG/main" r:embed="R6ce08fe6a6724f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24350" y="33623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BA36C4-B1A3-4B01-B1E8-8947A9BD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48025"/>
            <a:ext cx="539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Saved sources 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E250D0-2D45-434F-B4C4-98237799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05200"/>
            <a:ext cx="539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warning explains that official content should still be verified for important details.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980EAF-AFE5-4BBF-9A4E-29731448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81450"/>
            <a:ext cx="6324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0DB8F-4B01-4051-8DB2-1155F409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814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a6d10383a4829">
            <a:extLst>
              <a:ext uri="{96DAC541-7B7A-43D3-8B79-37D633B846F1}">
                <asvg:svgBlip xmlns:asvg="http://schemas.microsoft.com/office/drawing/2016/SVG/main" r:embed="Re6ecccd63ee246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24350" y="42005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630FE0-B48E-49B8-9905-D7113DD0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86225"/>
            <a:ext cx="539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Answer is actionable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EE988C-7C83-420F-9870-5411B7E3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43400"/>
            <a:ext cx="539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response is structured as steps a student can follow.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821A95-FA44-4CCE-8C10-A19F2075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19650"/>
            <a:ext cx="6324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ECF11F-A0E1-4234-A94E-F6A63F33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196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ba1e9748f49d4">
            <a:extLst>
              <a:ext uri="{96DAC541-7B7A-43D3-8B79-37D633B846F1}">
                <asvg:svgBlip xmlns:asvg="http://schemas.microsoft.com/office/drawing/2016/SVG/main" r:embed="R22fa14a5955643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24350" y="50387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8243E3-B024-436B-AB77-6FCB39C6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24425"/>
            <a:ext cx="539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Citation is visible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AE8E01-DA02-41EA-9EF7-5D1FE1A9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181600"/>
            <a:ext cx="539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source card stays on screen so Admin can see what supported the answer.</a:t>
            </a:r>
          </a:p>
        </p:txBody>
      </p:sp>
    </p:spTree>
    <p:extLst>
      <p:ext uri="{BB962C8B-B14F-4D97-AF65-F5344CB8AC3E}">
        <p14:creationId xmlns:p14="http://schemas.microsoft.com/office/powerpoint/2010/main" val="70490206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996FE8-443C-47D8-99C7-B450F7B8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83639-143D-408A-99F9-C1615C6D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B43D1-D678-49BE-9A03-E13569D1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53C70-C4DB-4047-8316-1494EFD6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3B9A3-7F42-42F1-91D9-08D46D4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895A4-9BF5-4E49-BC78-9B33F16D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checks where to go.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95C86-26D0-4F40-B895-B287F2D9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507E0-BF25-4760-A793-DE46F871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6EDF8-CECC-47A5-BEAD-5A43C760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71650"/>
            <a:ext cx="20002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77127-9A45-476F-AB4B-15EF76A6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28800"/>
            <a:ext cx="1885950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4dccd7d174e52"/>
          <a:stretch xmlns:a="http://schemas.openxmlformats.org/drawingml/2006/main"/>
        </p:blipFill>
        <p:spPr>
          <a:xfrm xmlns:a="http://schemas.openxmlformats.org/drawingml/2006/main">
            <a:off x="1257300" y="1849960"/>
            <a:ext cx="1847850" cy="4110579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B6844-F487-4B87-99D2-CF57624B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28800"/>
            <a:ext cx="14288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8C8"/>
          </a:solidFill>
          <a:ln xmlns:a="http://schemas.openxmlformats.org/drawingml/2006/main" w="0">
            <a:solidFill>
              <a:srgbClr val="E4D8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CDCED-67EA-4AB6-9639-81567D1E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43150"/>
            <a:ext cx="63246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1B23"/>
          </a:solidFill>
          <a:ln xmlns:a="http://schemas.openxmlformats.org/drawingml/2006/main" w="28575">
            <a:solidFill>
              <a:srgbClr val="D6A52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75713-FEA8-4FA2-BAC4-370BEBAB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28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A5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A528"/>
                </a:solidFill>
                <a:latin typeface="Aptos"/>
                <a:ea typeface="Aptos"/>
                <a:cs typeface="Aptos"/>
              </a:rPr>
              <a:t>MAP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27EAD-AE2B-4B04-B71E-6B3FFA4A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449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map becomes the next step after getting guidance.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C3EC4-285A-4210-83EE-09FD0BB0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2905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E8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E8D0"/>
                </a:solidFill>
                <a:latin typeface="Aptos"/>
                <a:ea typeface="Aptos"/>
                <a:cs typeface="Aptos"/>
              </a:rPr>
              <a:t>Students can search destinations, tap buildings, and move from location context into related screens such as Service Desk or Food.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bda5d6f2e40db">
            <a:extLst>
              <a:ext uri="{96DAC541-7B7A-43D3-8B79-37D633B846F1}">
                <asvg:svgBlip xmlns:asvg="http://schemas.microsoft.com/office/drawing/2016/SVG/main" r:embed="R4c53f2411b4146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05950" y="3028950"/>
            <a:ext cx="552450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60062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A9825E-950B-49B9-8986-8AB07B7D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7ACD2-FB6F-46F9-8732-234886D0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1CAB8-7C7E-4044-B6D5-F04A9DD0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DF189-5CCE-4875-8709-ACC41306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FC9AE-43E4-4B4A-8EDB-72A691CA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F2E0A-335C-4937-AFFB-B94E0EEB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opens Service Desk when they need steps.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44C78-856A-44CC-B33B-FE12599F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E0057-5E98-4421-BC70-43185A35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11053-6079-414F-A927-0D4A4CF4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71650"/>
            <a:ext cx="20002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99D89-EB45-424F-AFE3-0F0BC6DE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28800"/>
            <a:ext cx="1885950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aa4675a4c4702"/>
          <a:stretch xmlns:a="http://schemas.openxmlformats.org/drawingml/2006/main"/>
        </p:blipFill>
        <p:spPr>
          <a:xfrm xmlns:a="http://schemas.openxmlformats.org/drawingml/2006/main">
            <a:off x="1257300" y="1851048"/>
            <a:ext cx="1847850" cy="4108404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FB2E0-2C7E-47EE-8ECF-360757A5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28800"/>
            <a:ext cx="14288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8C8"/>
          </a:solidFill>
          <a:ln xmlns:a="http://schemas.openxmlformats.org/drawingml/2006/main" w="0">
            <a:solidFill>
              <a:srgbClr val="E4D8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A0275-B2D9-4B09-8138-7FFEFDAF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43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STUDENT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A3997-4FCE-4D11-90DB-01F727C0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66950"/>
            <a:ext cx="6324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Service Desk turns campus concerns into browsable office and procedure paths.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704A0-5DBD-44FC-B4F1-53E7EAA3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6324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803A4-1882-42B6-BEFB-E53608D2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78767dcb04fd4">
            <a:extLst>
              <a:ext uri="{96DAC541-7B7A-43D3-8B79-37D633B846F1}">
                <asvg:svgBlip xmlns:asvg="http://schemas.microsoft.com/office/drawing/2016/SVG/main" r:embed="Rdcbbcdd8e22743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24350" y="33623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2C0D7-5E3F-4613-BA88-6150916E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48025"/>
            <a:ext cx="539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Search by task or office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1632C-4F92-4845-B503-98F6B110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05200"/>
            <a:ext cx="539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Students can search for a task, office, or document instead of guessing a category.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BE2D2C-AB65-47F5-A8AB-489421E3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81450"/>
            <a:ext cx="6324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B0445F-9A41-4918-B117-16BD240D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814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a83a0341c46cf">
            <a:extLst>
              <a:ext uri="{96DAC541-7B7A-43D3-8B79-37D633B846F1}">
                <asvg:svgBlip xmlns:asvg="http://schemas.microsoft.com/office/drawing/2016/SVG/main" r:embed="R9f8d3b6e56ae4f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24350" y="42005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9EAAA8-2B5E-465F-9DD5-C3E2E456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86225"/>
            <a:ext cx="539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Counters group concerns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71E5CD-FD31-471E-9F05-814AF2AF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43400"/>
            <a:ext cx="539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Student Services, Safety, Welfare, Guidelines, Locations, and Offices become visible paths.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C0FACE-4C93-4F1A-91C9-E6DA7A34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19650"/>
            <a:ext cx="6324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9479B3-9DFE-4CAB-8933-BBD8AB99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196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4faf9b29d469b">
            <a:extLst>
              <a:ext uri="{96DAC541-7B7A-43D3-8B79-37D633B846F1}">
                <asvg:svgBlip xmlns:asvg="http://schemas.microsoft.com/office/drawing/2016/SVG/main" r:embed="Rc6d106ec750b434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24350" y="50387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74188C-A2FD-4FF2-A52C-002FA619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24425"/>
            <a:ext cx="539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Procedure tickets are previewed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59DE18-C3D7-4153-B4C3-94C74629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181600"/>
            <a:ext cx="539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Tickets show topic, office context, update date, and number of steps.</a:t>
            </a:r>
          </a:p>
        </p:txBody>
      </p:sp>
    </p:spTree>
    <p:extLst>
      <p:ext uri="{BB962C8B-B14F-4D97-AF65-F5344CB8AC3E}">
        <p14:creationId xmlns:p14="http://schemas.microsoft.com/office/powerpoint/2010/main" val="37997817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5D473E-8078-43FD-9EDC-FFBAD4E1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20B37-F550-4F42-8E70-FBC8D018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3259A-C267-4083-978B-EB7DC999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A7245-436B-46B5-A01F-7DEF419E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6B510-7C3B-4FB3-8C1C-B4DAFAF1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8D7B0-064B-4A3F-9A25-78C65DEB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follows a procedure ticket.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60F2A-31D7-43B1-BB64-FD43BA91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B908C-B21D-467A-9C9E-B62224E2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440FC-2076-429C-848C-981B761C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71650"/>
            <a:ext cx="20002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44952-9EB2-4F23-8A1F-788DEC39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28800"/>
            <a:ext cx="1885950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d99e52b204b98"/>
          <a:stretch xmlns:a="http://schemas.openxmlformats.org/drawingml/2006/main"/>
        </p:blipFill>
        <p:spPr>
          <a:xfrm xmlns:a="http://schemas.openxmlformats.org/drawingml/2006/main">
            <a:off x="1257300" y="1851048"/>
            <a:ext cx="1847850" cy="4108404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5518F-0574-4CE8-A638-67746241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28800"/>
            <a:ext cx="14288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8C8"/>
          </a:solidFill>
          <a:ln xmlns:a="http://schemas.openxmlformats.org/drawingml/2006/main" w="0">
            <a:solidFill>
              <a:srgbClr val="E4D8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90D11-E8BF-4D54-9BB8-96335EE0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43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STUDENT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4A945-25D9-435F-A97E-A3CF9FFA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66950"/>
            <a:ext cx="6324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The ticket detail view keeps requirements and step sequence visible in one place.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7D978-0A35-426C-A5FF-5573369F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6324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76DEE-5E23-431F-A707-F5F565B9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471265c3a4293">
            <a:extLst>
              <a:ext uri="{96DAC541-7B7A-43D3-8B79-37D633B846F1}">
                <asvg:svgBlip xmlns:asvg="http://schemas.microsoft.com/office/drawing/2016/SVG/main" r:embed="Re7c1db2d5abb40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24350" y="33623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675DA3-D7D1-42E0-884C-9BCBCA0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48025"/>
            <a:ext cx="539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Step-by-step guide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8BAE0D-C9EF-4CDF-8216-66843274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05200"/>
            <a:ext cx="539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Procedure content is broken into ordered actions before the office visit.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BCB2B7-9AFE-43B8-96FA-C719C555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81450"/>
            <a:ext cx="6324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D9771F-7741-4122-BD15-098F003D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814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a5e819b904ecf">
            <a:extLst>
              <a:ext uri="{96DAC541-7B7A-43D3-8B79-37D633B846F1}">
                <asvg:svgBlip xmlns:asvg="http://schemas.microsoft.com/office/drawing/2016/SVG/main" r:embed="R4b68172a60b545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24350" y="42005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683E1C-70CB-4161-B113-909B1A07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86225"/>
            <a:ext cx="539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Office context is shown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55F9C4-6133-4F48-8D68-88CA0C2D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43400"/>
            <a:ext cx="539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page names the office or offices involved in the concern.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056D75-01F4-4EAA-ACA7-56432F53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19650"/>
            <a:ext cx="6324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F6627F-B23D-4146-8F0D-2623447D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196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d06d14c864351">
            <a:extLst>
              <a:ext uri="{96DAC541-7B7A-43D3-8B79-37D633B846F1}">
                <asvg:svgBlip xmlns:asvg="http://schemas.microsoft.com/office/drawing/2016/SVG/main" r:embed="Rec1f88902d164c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24350" y="50387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742073-A7C2-413C-A160-707F4730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24425"/>
            <a:ext cx="539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Freshness is easier to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A15C5F-8EE3-4590-98F9-8CF11479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181600"/>
            <a:ext cx="539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update date helps Admin and maintainers reason about content freshness.</a:t>
            </a:r>
          </a:p>
        </p:txBody>
      </p:sp>
    </p:spTree>
    <p:extLst>
      <p:ext uri="{BB962C8B-B14F-4D97-AF65-F5344CB8AC3E}">
        <p14:creationId xmlns:p14="http://schemas.microsoft.com/office/powerpoint/2010/main" val="164394832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B2C201-4FEA-41E7-93A0-F1910176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E724B-CEE3-4F99-8877-B4985234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417A6-A6DF-41A9-AD1F-CA13BA02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C793A-9A0B-40D9-BD34-506C0219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E811C-6404-4CB3-B622-47C050E7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A5F49-101F-4D99-A55E-A6A23AF3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can continue into campus-life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038F0-B6B8-4819-A1A8-25665B3E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69C57-7D51-4B6B-92D3-15A25917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F368E-ABEE-4492-9A5E-465DAEC8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1952625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54183-0AE8-4219-9662-CAA8224F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0"/>
            <a:ext cx="183832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b63dc65da448e"/>
          <a:stretch xmlns:a="http://schemas.openxmlformats.org/drawingml/2006/main"/>
        </p:blipFill>
        <p:spPr>
          <a:xfrm xmlns:a="http://schemas.openxmlformats.org/drawingml/2006/main">
            <a:off x="1144618" y="1924050"/>
            <a:ext cx="1796988" cy="4000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BBC67-E1E2-4ECE-B0FD-D697BB54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81700"/>
            <a:ext cx="1800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6A5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A528"/>
                </a:solidFill>
                <a:latin typeface="Aptos"/>
                <a:ea typeface="Aptos"/>
                <a:cs typeface="Aptos"/>
              </a:rPr>
              <a:t>Tips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6BB48-A7D4-45EF-ACA1-E209BCB2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847850"/>
            <a:ext cx="1952625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A20F2-5820-40AD-AB1B-4331EB88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905000"/>
            <a:ext cx="183832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4d81173304d50"/>
          <a:stretch xmlns:a="http://schemas.openxmlformats.org/drawingml/2006/main"/>
        </p:blipFill>
        <p:spPr>
          <a:xfrm xmlns:a="http://schemas.openxmlformats.org/drawingml/2006/main">
            <a:off x="5192090" y="1924050"/>
            <a:ext cx="1798295" cy="40005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C099A-0794-4270-8231-A269FEC9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981700"/>
            <a:ext cx="1800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5FB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5FB5"/>
                </a:solidFill>
                <a:latin typeface="Aptos"/>
                <a:ea typeface="Aptos"/>
                <a:cs typeface="Aptos"/>
              </a:rPr>
              <a:t>Org Chart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93B24-9D44-401F-847E-481FFD82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47850"/>
            <a:ext cx="1952625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0BA57-731C-44F9-8625-4633872B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05000"/>
            <a:ext cx="183832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87cc090e64be7"/>
          <a:stretch xmlns:a="http://schemas.openxmlformats.org/drawingml/2006/main"/>
        </p:blipFill>
        <p:spPr>
          <a:xfrm xmlns:a="http://schemas.openxmlformats.org/drawingml/2006/main">
            <a:off x="9240144" y="1924050"/>
            <a:ext cx="1798437" cy="40005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28CD0C-16F6-4812-B95A-65584B00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981700"/>
            <a:ext cx="1800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</p:spTree>
    <p:extLst>
      <p:ext uri="{BB962C8B-B14F-4D97-AF65-F5344CB8AC3E}">
        <p14:creationId xmlns:p14="http://schemas.microsoft.com/office/powerpoint/2010/main" val="11826816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2026-06-08T02:52:00.0870000Z</dcterms:created>
  <dcterms:modified xsi:type="dcterms:W3CDTF">2026-06-08T02:52:00.0870000Z</dcterms:modified>
</coreProperties>
</file>