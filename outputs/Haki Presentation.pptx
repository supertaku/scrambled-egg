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E38D24-EF0C-4E65-ADAF-3E58831B8F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C3D198-6655-41EF-A654-1C80E939B1D7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5829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7D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945948-58BB-440B-AB41-594A4650CF2B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76200" cy="58293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809E7C5-B83E-42B3-B5C8-07E9A8680AE0}"/>
              </a:ext>
            </a:extLst>
          </p:cNvPr>
          <p:cNvSpPr>
            <a:spLocks noGrp="1"/>
          </p:cNvSpPr>
          <p:nvPr/>
        </p:nvSpPr>
        <p:spPr>
          <a:xfrm>
            <a:off x="819150" y="876300"/>
            <a:ext cx="76200" cy="76200"/>
          </a:xfrm>
          <a:prstGeom prst="ellipse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DD5FDE-E939-49B6-A629-28593B7A77C8}"/>
              </a:ext>
            </a:extLst>
          </p:cNvPr>
          <p:cNvSpPr>
            <a:spLocks noGrp="1"/>
          </p:cNvSpPr>
          <p:nvPr/>
        </p:nvSpPr>
        <p:spPr>
          <a:xfrm>
            <a:off x="990600" y="8382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7A0019"/>
                </a:solidFill>
                <a:latin typeface="Aptos"/>
                <a:ea typeface="Aptos"/>
                <a:cs typeface="Aptos"/>
              </a:rPr>
              <a:t>PROPOSAL FOR PILOT REVIEW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7D3731-9E57-4201-886F-97793901E64A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3238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00" b="1">
                <a:solidFill>
                  <a:srgbClr val="7A0019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7A0019"/>
                </a:solidFill>
                <a:latin typeface="Aptos Display"/>
                <a:ea typeface="Aptos Display"/>
                <a:cs typeface="Aptos Display"/>
              </a:rPr>
              <a:t>Haki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E00EB3-B595-4992-B24E-7E87EDEF66E6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476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0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1416"/>
                </a:solidFill>
                <a:latin typeface="Aptos"/>
                <a:ea typeface="Aptos"/>
                <a:cs typeface="Aptos"/>
              </a:rPr>
              <a:t>Offline student information assistant for TUP Taguig.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A0CE71-311F-4A03-B7BE-3032E1F292EE}"/>
              </a:ext>
            </a:extLst>
          </p:cNvPr>
          <p:cNvSpPr>
            <a:spLocks noGrp="1"/>
          </p:cNvSpPr>
          <p:nvPr/>
        </p:nvSpPr>
        <p:spPr>
          <a:xfrm>
            <a:off x="838200" y="3009900"/>
            <a:ext cx="4476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 source-referenced, admin-governed campus guide proposed for supervised evaluation.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52022E-3E39-4556-B254-60C5C5CB20A0}"/>
              </a:ext>
            </a:extLst>
          </p:cNvPr>
          <p:cNvSpPr>
            <a:spLocks noGrp="1"/>
          </p:cNvSpPr>
          <p:nvPr/>
        </p:nvSpPr>
        <p:spPr>
          <a:xfrm>
            <a:off x="838200" y="3810000"/>
            <a:ext cx="1352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FA900B-EB29-4956-97F9-6C0A7D5FC826}"/>
              </a:ext>
            </a:extLst>
          </p:cNvPr>
          <p:cNvSpPr>
            <a:spLocks noGrp="1"/>
          </p:cNvSpPr>
          <p:nvPr/>
        </p:nvSpPr>
        <p:spPr>
          <a:xfrm>
            <a:off x="952500" y="3886200"/>
            <a:ext cx="1123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Offline-first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BB05D1-A435-4962-A234-8FCDA726C891}"/>
              </a:ext>
            </a:extLst>
          </p:cNvPr>
          <p:cNvSpPr>
            <a:spLocks noGrp="1"/>
          </p:cNvSpPr>
          <p:nvPr/>
        </p:nvSpPr>
        <p:spPr>
          <a:xfrm>
            <a:off x="2343150" y="3810000"/>
            <a:ext cx="16954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2F57D1-5EEE-4AC6-8D49-3B8C58202321}"/>
              </a:ext>
            </a:extLst>
          </p:cNvPr>
          <p:cNvSpPr>
            <a:spLocks noGrp="1"/>
          </p:cNvSpPr>
          <p:nvPr/>
        </p:nvSpPr>
        <p:spPr>
          <a:xfrm>
            <a:off x="2457450" y="3886200"/>
            <a:ext cx="1466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Source-referenced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9AD7A1-4436-4084-8F25-A4DF605FB787}"/>
              </a:ext>
            </a:extLst>
          </p:cNvPr>
          <p:cNvSpPr>
            <a:spLocks noGrp="1"/>
          </p:cNvSpPr>
          <p:nvPr/>
        </p:nvSpPr>
        <p:spPr>
          <a:xfrm>
            <a:off x="4191000" y="3810000"/>
            <a:ext cx="15621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5D14CF-56F0-41F1-A376-430A24D5337E}"/>
              </a:ext>
            </a:extLst>
          </p:cNvPr>
          <p:cNvSpPr>
            <a:spLocks noGrp="1"/>
          </p:cNvSpPr>
          <p:nvPr/>
        </p:nvSpPr>
        <p:spPr>
          <a:xfrm>
            <a:off x="4305300" y="388620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Admin-governed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789713-88B6-4979-ACFC-478E69154A1D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4095750" cy="190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2C3670-A55C-4359-8679-FFF11CA8AF9A}"/>
              </a:ext>
            </a:extLst>
          </p:cNvPr>
          <p:cNvSpPr>
            <a:spLocks noGrp="1"/>
          </p:cNvSpPr>
          <p:nvPr/>
        </p:nvSpPr>
        <p:spPr>
          <a:xfrm>
            <a:off x="838200" y="52578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Prepared for TUPT administrative evaluation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EDD297-A8D5-4001-B386-4D7E2671F868}"/>
              </a:ext>
            </a:extLst>
          </p:cNvPr>
          <p:cNvSpPr>
            <a:spLocks noGrp="1"/>
          </p:cNvSpPr>
          <p:nvPr/>
        </p:nvSpPr>
        <p:spPr>
          <a:xfrm>
            <a:off x="838200" y="5505450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F6262"/>
                </a:solidFill>
                <a:latin typeface="Aptos"/>
                <a:ea typeface="Aptos"/>
                <a:cs typeface="Aptos"/>
              </a:rPr>
              <a:t>Joshua Retrita | BSIT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B617EB-9191-450A-8846-15D7B52351AD}"/>
              </a:ext>
            </a:extLst>
          </p:cNvPr>
          <p:cNvSpPr>
            <a:spLocks noGrp="1"/>
          </p:cNvSpPr>
          <p:nvPr/>
        </p:nvSpPr>
        <p:spPr>
          <a:xfrm>
            <a:off x="838200" y="60960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9D25F29-1BB3-48E6-AE26-91A04D5ED021}"/>
              </a:ext>
            </a:extLst>
          </p:cNvPr>
          <p:cNvSpPr>
            <a:spLocks noGrp="1"/>
          </p:cNvSpPr>
          <p:nvPr/>
        </p:nvSpPr>
        <p:spPr>
          <a:xfrm>
            <a:off x="7124700" y="990600"/>
            <a:ext cx="3429000" cy="3429000"/>
          </a:xfrm>
          <a:prstGeom prst="ellipse">
            <a:avLst/>
          </a:prstGeom>
          <a:solidFill>
            <a:srgbClr val="FFF6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F79FA8B-E90B-47D5-878F-76A0AB2FCF2D}"/>
              </a:ext>
            </a:extLst>
          </p:cNvPr>
          <p:cNvSpPr>
            <a:spLocks noGrp="1"/>
          </p:cNvSpPr>
          <p:nvPr/>
        </p:nvSpPr>
        <p:spPr>
          <a:xfrm>
            <a:off x="7848600" y="4476750"/>
            <a:ext cx="2590800" cy="285750"/>
          </a:xfrm>
          <a:prstGeom prst="ellipse">
            <a:avLst/>
          </a:prstGeom>
          <a:solidFill>
            <a:srgbClr val="E9D9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79343" y="685800"/>
            <a:ext cx="3253064" cy="52006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6B660F5-276C-4CAC-A047-6D5539BC2BD0}"/>
              </a:ext>
            </a:extLst>
          </p:cNvPr>
          <p:cNvSpPr>
            <a:spLocks noGrp="1"/>
          </p:cNvSpPr>
          <p:nvPr/>
        </p:nvSpPr>
        <p:spPr>
          <a:xfrm>
            <a:off x="11277600" y="60960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5444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7090658-0184-476C-B299-DD9E6B97C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A2CBAE98-0910-4A17-8F55-DAA7529273FC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76200" cy="76200"/>
          </a:xfrm>
          <a:prstGeom prst="ellipse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44819C39-8271-4D34-A410-C9B0F4E446A8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000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THE CAMPUS SERVICE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AA1975-0837-411B-8590-19E2042D4303}"/>
              </a:ext>
            </a:extLst>
          </p:cNvPr>
          <p:cNvSpPr>
            <a:spLocks noGrp="1"/>
          </p:cNvSpPr>
          <p:nvPr/>
        </p:nvSpPr>
        <p:spPr>
          <a:xfrm>
            <a:off x="514350" y="838200"/>
            <a:ext cx="7239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22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The friction is not a lack of information. It is access.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57ED53-6A71-46BA-AF35-1359CB74A9B2}"/>
              </a:ext>
            </a:extLst>
          </p:cNvPr>
          <p:cNvSpPr>
            <a:spLocks noGrp="1"/>
          </p:cNvSpPr>
          <p:nvPr/>
        </p:nvSpPr>
        <p:spPr>
          <a:xfrm>
            <a:off x="514350" y="1866900"/>
            <a:ext cx="609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Students often need simple guidance, but the answer may live across office posts, pages, documents, and informal advice.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2851D4-A3EF-4B8B-8151-29B3A41BD981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31242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C3E161-B691-4D28-9FF5-DCCE95B238BF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323850" cy="323850"/>
          </a:xfrm>
          <a:prstGeom prst="ellipse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472BC2-BBF3-470E-B51C-028FB3C1DB32}"/>
              </a:ext>
            </a:extLst>
          </p:cNvPr>
          <p:cNvSpPr>
            <a:spLocks noGrp="1"/>
          </p:cNvSpPr>
          <p:nvPr/>
        </p:nvSpPr>
        <p:spPr>
          <a:xfrm>
            <a:off x="838200" y="286702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7292F6-DF77-4313-8C27-247396890CD7}"/>
              </a:ext>
            </a:extLst>
          </p:cNvPr>
          <p:cNvSpPr>
            <a:spLocks noGrp="1"/>
          </p:cNvSpPr>
          <p:nvPr/>
        </p:nvSpPr>
        <p:spPr>
          <a:xfrm>
            <a:off x="1276350" y="28003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Information is scattered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00750B-E2DE-4350-892A-A3145CF4C37E}"/>
              </a:ext>
            </a:extLst>
          </p:cNvPr>
          <p:cNvSpPr>
            <a:spLocks noGrp="1"/>
          </p:cNvSpPr>
          <p:nvPr/>
        </p:nvSpPr>
        <p:spPr>
          <a:xfrm>
            <a:off x="1276350" y="3086100"/>
            <a:ext cx="238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Office posts, pages, handbooks, room lists, and student hearsay are not one searchable service.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379737-F1F7-48FB-A06E-98BC66582DA2}"/>
              </a:ext>
            </a:extLst>
          </p:cNvPr>
          <p:cNvSpPr>
            <a:spLocks noGrp="1"/>
          </p:cNvSpPr>
          <p:nvPr/>
        </p:nvSpPr>
        <p:spPr>
          <a:xfrm>
            <a:off x="4533900" y="2647950"/>
            <a:ext cx="31242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9C2C2F7-D579-49F2-9307-6396DF48A422}"/>
              </a:ext>
            </a:extLst>
          </p:cNvPr>
          <p:cNvSpPr>
            <a:spLocks noGrp="1"/>
          </p:cNvSpPr>
          <p:nvPr/>
        </p:nvSpPr>
        <p:spPr>
          <a:xfrm>
            <a:off x="4686300" y="2800350"/>
            <a:ext cx="323850" cy="323850"/>
          </a:xfrm>
          <a:prstGeom prst="ellipse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8D240D-39F3-42D5-858E-1C8ECC305BB8}"/>
              </a:ext>
            </a:extLst>
          </p:cNvPr>
          <p:cNvSpPr>
            <a:spLocks noGrp="1"/>
          </p:cNvSpPr>
          <p:nvPr/>
        </p:nvSpPr>
        <p:spPr>
          <a:xfrm>
            <a:off x="4686300" y="286702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98CF4E-BD90-4E58-9CE2-DC7387671F93}"/>
              </a:ext>
            </a:extLst>
          </p:cNvPr>
          <p:cNvSpPr>
            <a:spLocks noGrp="1"/>
          </p:cNvSpPr>
          <p:nvPr/>
        </p:nvSpPr>
        <p:spPr>
          <a:xfrm>
            <a:off x="5124450" y="28003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Students ask repeatedly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B723EA-B463-4755-90DF-44DC48244243}"/>
              </a:ext>
            </a:extLst>
          </p:cNvPr>
          <p:cNvSpPr>
            <a:spLocks noGrp="1"/>
          </p:cNvSpPr>
          <p:nvPr/>
        </p:nvSpPr>
        <p:spPr>
          <a:xfrm>
            <a:off x="5124450" y="3086100"/>
            <a:ext cx="238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Basic questions reach front desks, classmates, group chats, or the wrong office.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DEDD0D-C295-4351-95C7-26C7BBADD106}"/>
              </a:ext>
            </a:extLst>
          </p:cNvPr>
          <p:cNvSpPr>
            <a:spLocks noGrp="1"/>
          </p:cNvSpPr>
          <p:nvPr/>
        </p:nvSpPr>
        <p:spPr>
          <a:xfrm>
            <a:off x="8382000" y="2647950"/>
            <a:ext cx="31242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9F62045-0FC6-4B10-9969-CACCD38E3AF9}"/>
              </a:ext>
            </a:extLst>
          </p:cNvPr>
          <p:cNvSpPr>
            <a:spLocks noGrp="1"/>
          </p:cNvSpPr>
          <p:nvPr/>
        </p:nvSpPr>
        <p:spPr>
          <a:xfrm>
            <a:off x="8534400" y="2800350"/>
            <a:ext cx="323850" cy="323850"/>
          </a:xfrm>
          <a:prstGeom prst="ellipse">
            <a:avLst/>
          </a:prstGeom>
          <a:solidFill>
            <a:srgbClr val="2E5E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16F851-254C-4182-8DD5-348EBA431DA7}"/>
              </a:ext>
            </a:extLst>
          </p:cNvPr>
          <p:cNvSpPr>
            <a:spLocks noGrp="1"/>
          </p:cNvSpPr>
          <p:nvPr/>
        </p:nvSpPr>
        <p:spPr>
          <a:xfrm>
            <a:off x="8534400" y="286702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1FD45D-F510-46A0-85B4-CBD0E3558AA2}"/>
              </a:ext>
            </a:extLst>
          </p:cNvPr>
          <p:cNvSpPr>
            <a:spLocks noGrp="1"/>
          </p:cNvSpPr>
          <p:nvPr/>
        </p:nvSpPr>
        <p:spPr>
          <a:xfrm>
            <a:off x="8972550" y="28003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Offices absorb avoidable load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6703A6-5F7C-4F60-AC6D-924F15878710}"/>
              </a:ext>
            </a:extLst>
          </p:cNvPr>
          <p:cNvSpPr>
            <a:spLocks noGrp="1"/>
          </p:cNvSpPr>
          <p:nvPr/>
        </p:nvSpPr>
        <p:spPr>
          <a:xfrm>
            <a:off x="8972550" y="3086100"/>
            <a:ext cx="238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Staff still become the last-mile explanation layer for routine campus guidance.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880546-F54E-4E59-9B6E-0831229827D4}"/>
              </a:ext>
            </a:extLst>
          </p:cNvPr>
          <p:cNvSpPr>
            <a:spLocks noGrp="1"/>
          </p:cNvSpPr>
          <p:nvPr/>
        </p:nvSpPr>
        <p:spPr>
          <a:xfrm>
            <a:off x="3810000" y="3167063"/>
            <a:ext cx="638175" cy="28575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93F3AB-01D4-42C6-95E3-C45C93A9711D}"/>
              </a:ext>
            </a:extLst>
          </p:cNvPr>
          <p:cNvSpPr>
            <a:spLocks noGrp="1"/>
          </p:cNvSpPr>
          <p:nvPr/>
        </p:nvSpPr>
        <p:spPr>
          <a:xfrm>
            <a:off x="4448175" y="3133725"/>
            <a:ext cx="85725" cy="952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069E9D-98F2-4F75-82E9-55978A8D0BD4}"/>
              </a:ext>
            </a:extLst>
          </p:cNvPr>
          <p:cNvSpPr>
            <a:spLocks noGrp="1"/>
          </p:cNvSpPr>
          <p:nvPr/>
        </p:nvSpPr>
        <p:spPr>
          <a:xfrm>
            <a:off x="7658100" y="3167063"/>
            <a:ext cx="638175" cy="28575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EA2A90-19BD-4C84-9765-650FAA2D32D6}"/>
              </a:ext>
            </a:extLst>
          </p:cNvPr>
          <p:cNvSpPr>
            <a:spLocks noGrp="1"/>
          </p:cNvSpPr>
          <p:nvPr/>
        </p:nvSpPr>
        <p:spPr>
          <a:xfrm>
            <a:off x="8296275" y="3133725"/>
            <a:ext cx="85725" cy="952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A70E7F-E352-4582-AC3D-988821725E3A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10782300" cy="1409700"/>
          </a:xfrm>
          <a:prstGeom prst="rect">
            <a:avLst/>
          </a:prstGeom>
          <a:solidFill>
            <a:srgbClr val="7A0019"/>
          </a:solidFill>
          <a:ln w="9525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7505D8-5D54-4903-9E2C-F060900CC73C}"/>
              </a:ext>
            </a:extLst>
          </p:cNvPr>
          <p:cNvSpPr>
            <a:spLocks noGrp="1"/>
          </p:cNvSpPr>
          <p:nvPr/>
        </p:nvSpPr>
        <p:spPr>
          <a:xfrm>
            <a:off x="990600" y="46672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FFF3C7"/>
                </a:solidFill>
                <a:latin typeface="Aptos"/>
                <a:ea typeface="Aptos"/>
                <a:cs typeface="Aptos"/>
              </a:rPr>
              <a:t>Stance</a:t>
            </a:r>
            <a:endParaRPr sz="975" b="1" dirty="0">
              <a:solidFill>
                <a:srgbClr val="FFF3C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F30FA9-CA9E-4904-940D-0536022E6CED}"/>
              </a:ext>
            </a:extLst>
          </p:cNvPr>
          <p:cNvSpPr>
            <a:spLocks noGrp="1"/>
          </p:cNvSpPr>
          <p:nvPr/>
        </p:nvSpPr>
        <p:spPr>
          <a:xfrm>
            <a:off x="990600" y="49339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Haki </a:t>
            </a:r>
            <a:r>
              <a:rPr lang="en-US" sz="1875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</a:t>
            </a:r>
            <a:r>
              <a:rPr sz="1875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 a student service layer first; treat AI as optional support.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7C9BDD-4F79-4637-90EE-04B4C21793FD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7EA7A3-57F3-4081-A22F-A140A6717573}"/>
              </a:ext>
            </a:extLst>
          </p:cNvPr>
          <p:cNvSpPr>
            <a:spLocks noGrp="1"/>
          </p:cNvSpPr>
          <p:nvPr/>
        </p:nvSpPr>
        <p:spPr>
          <a:xfrm>
            <a:off x="11277600" y="648652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9963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1CF356E-4C92-4E19-BEED-8DF2EFA20B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8DE7567E-A02F-45AE-95AB-D33DCFCED21A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76200" cy="76200"/>
          </a:xfrm>
          <a:prstGeom prst="ellipse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698EF9E1-C646-49FB-A2BE-94B000C71306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000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WHAT HAKI ACTUALLY 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A36DD3-7BA2-4E15-8637-964CF3A9F235}"/>
              </a:ext>
            </a:extLst>
          </p:cNvPr>
          <p:cNvSpPr>
            <a:spLocks noGrp="1"/>
          </p:cNvSpPr>
          <p:nvPr/>
        </p:nvSpPr>
        <p:spPr>
          <a:xfrm>
            <a:off x="514350" y="838200"/>
            <a:ext cx="8001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Haki answers from approved local sources before it ever needs AI.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DD709E-FC24-42ED-A7B9-4CC92519A3B3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2381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755E41-693F-479F-883F-2F060D66CAEA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66675" cy="142875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BCC816-A21E-4BB2-A14D-008913A74179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2076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TUPT-approved source package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871D15-6433-4F42-A565-777FE4ABB723}"/>
              </a:ext>
            </a:extLst>
          </p:cNvPr>
          <p:cNvSpPr>
            <a:spLocks noGrp="1"/>
          </p:cNvSpPr>
          <p:nvPr/>
        </p:nvSpPr>
        <p:spPr>
          <a:xfrm>
            <a:off x="838200" y="2933700"/>
            <a:ext cx="2076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Documents, procedures, office guidance, citations, and update dates selected by Administration.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9EDDAA-2B12-43EB-9143-B0F42AC83FBC}"/>
              </a:ext>
            </a:extLst>
          </p:cNvPr>
          <p:cNvSpPr>
            <a:spLocks noGrp="1"/>
          </p:cNvSpPr>
          <p:nvPr/>
        </p:nvSpPr>
        <p:spPr>
          <a:xfrm>
            <a:off x="3714750" y="2305050"/>
            <a:ext cx="2381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E31D45-3669-4078-B750-0CCBEA53C701}"/>
              </a:ext>
            </a:extLst>
          </p:cNvPr>
          <p:cNvSpPr>
            <a:spLocks noGrp="1"/>
          </p:cNvSpPr>
          <p:nvPr/>
        </p:nvSpPr>
        <p:spPr>
          <a:xfrm>
            <a:off x="3714750" y="2305050"/>
            <a:ext cx="66675" cy="14287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1B3D6F-91A3-41B7-9B5E-66F4BE2C3428}"/>
              </a:ext>
            </a:extLst>
          </p:cNvPr>
          <p:cNvSpPr>
            <a:spLocks noGrp="1"/>
          </p:cNvSpPr>
          <p:nvPr/>
        </p:nvSpPr>
        <p:spPr>
          <a:xfrm>
            <a:off x="3886200" y="2476500"/>
            <a:ext cx="2076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On-device SQLite + FTS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6FAB93-8EB5-431C-8BBA-6D649E519C25}"/>
              </a:ext>
            </a:extLst>
          </p:cNvPr>
          <p:cNvSpPr>
            <a:spLocks noGrp="1"/>
          </p:cNvSpPr>
          <p:nvPr/>
        </p:nvSpPr>
        <p:spPr>
          <a:xfrm>
            <a:off x="3886200" y="2933700"/>
            <a:ext cx="2076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Searchable local index works offline and remains the baseline even without a model.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0886AE-22BF-46C3-B3F2-C54A934EDE91}"/>
              </a:ext>
            </a:extLst>
          </p:cNvPr>
          <p:cNvSpPr>
            <a:spLocks noGrp="1"/>
          </p:cNvSpPr>
          <p:nvPr/>
        </p:nvSpPr>
        <p:spPr>
          <a:xfrm>
            <a:off x="6762750" y="2305050"/>
            <a:ext cx="2381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E2F41C-D84D-4D40-9377-ABA8F03D9180}"/>
              </a:ext>
            </a:extLst>
          </p:cNvPr>
          <p:cNvSpPr>
            <a:spLocks noGrp="1"/>
          </p:cNvSpPr>
          <p:nvPr/>
        </p:nvSpPr>
        <p:spPr>
          <a:xfrm>
            <a:off x="6762750" y="2305050"/>
            <a:ext cx="66675" cy="1428750"/>
          </a:xfrm>
          <a:prstGeom prst="rect">
            <a:avLst/>
          </a:prstGeom>
          <a:solidFill>
            <a:srgbClr val="2E7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BEF0D-7BC9-48E7-84B7-6714947E17CC}"/>
              </a:ext>
            </a:extLst>
          </p:cNvPr>
          <p:cNvSpPr>
            <a:spLocks noGrp="1"/>
          </p:cNvSpPr>
          <p:nvPr/>
        </p:nvSpPr>
        <p:spPr>
          <a:xfrm>
            <a:off x="6934200" y="2476500"/>
            <a:ext cx="2076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Source answer builder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7C7C20-A5B7-440D-AA2F-D65B0B349389}"/>
              </a:ext>
            </a:extLst>
          </p:cNvPr>
          <p:cNvSpPr>
            <a:spLocks noGrp="1"/>
          </p:cNvSpPr>
          <p:nvPr/>
        </p:nvSpPr>
        <p:spPr>
          <a:xfrm>
            <a:off x="6934200" y="2933700"/>
            <a:ext cx="2076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Ranks results, checks confidence, and formats the answer with citations.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A41711-33AA-4779-90B5-A3DCDB05E842}"/>
              </a:ext>
            </a:extLst>
          </p:cNvPr>
          <p:cNvSpPr>
            <a:spLocks noGrp="1"/>
          </p:cNvSpPr>
          <p:nvPr/>
        </p:nvSpPr>
        <p:spPr>
          <a:xfrm>
            <a:off x="9810750" y="2305050"/>
            <a:ext cx="1714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D6DD7A-A9A8-4F9A-A1F3-1C90A162BF50}"/>
              </a:ext>
            </a:extLst>
          </p:cNvPr>
          <p:cNvSpPr>
            <a:spLocks noGrp="1"/>
          </p:cNvSpPr>
          <p:nvPr/>
        </p:nvSpPr>
        <p:spPr>
          <a:xfrm>
            <a:off x="9810750" y="2305050"/>
            <a:ext cx="66675" cy="1428750"/>
          </a:xfrm>
          <a:prstGeom prst="rect">
            <a:avLst/>
          </a:prstGeom>
          <a:solidFill>
            <a:srgbClr val="2E5E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7EDCC7-48C5-4B1F-B35B-0DDD64C59B63}"/>
              </a:ext>
            </a:extLst>
          </p:cNvPr>
          <p:cNvSpPr>
            <a:spLocks noGrp="1"/>
          </p:cNvSpPr>
          <p:nvPr/>
        </p:nvSpPr>
        <p:spPr>
          <a:xfrm>
            <a:off x="9982200" y="2476500"/>
            <a:ext cx="1409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surfaces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61D721-05B3-4239-9BB8-31B225237560}"/>
              </a:ext>
            </a:extLst>
          </p:cNvPr>
          <p:cNvSpPr>
            <a:spLocks noGrp="1"/>
          </p:cNvSpPr>
          <p:nvPr/>
        </p:nvSpPr>
        <p:spPr>
          <a:xfrm>
            <a:off x="9982200" y="2933700"/>
            <a:ext cx="1409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Chat, Service Desk, Library, Map, and other app screens expose the guidance.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AA0851-E9DF-470A-B589-4709080EB31E}"/>
              </a:ext>
            </a:extLst>
          </p:cNvPr>
          <p:cNvSpPr>
            <a:spLocks noGrp="1"/>
          </p:cNvSpPr>
          <p:nvPr/>
        </p:nvSpPr>
        <p:spPr>
          <a:xfrm>
            <a:off x="3048000" y="3005138"/>
            <a:ext cx="581025" cy="28575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C9CBDE-8B47-43BB-8BD8-9FE704193947}"/>
              </a:ext>
            </a:extLst>
          </p:cNvPr>
          <p:cNvSpPr>
            <a:spLocks noGrp="1"/>
          </p:cNvSpPr>
          <p:nvPr/>
        </p:nvSpPr>
        <p:spPr>
          <a:xfrm>
            <a:off x="3629025" y="2971800"/>
            <a:ext cx="85725" cy="952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35271A-7E3B-45FF-9902-3DE07F11C354}"/>
              </a:ext>
            </a:extLst>
          </p:cNvPr>
          <p:cNvSpPr>
            <a:spLocks noGrp="1"/>
          </p:cNvSpPr>
          <p:nvPr/>
        </p:nvSpPr>
        <p:spPr>
          <a:xfrm>
            <a:off x="6096000" y="3005138"/>
            <a:ext cx="581025" cy="28575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938C56-C662-4084-BFFF-6CE2929B2887}"/>
              </a:ext>
            </a:extLst>
          </p:cNvPr>
          <p:cNvSpPr>
            <a:spLocks noGrp="1"/>
          </p:cNvSpPr>
          <p:nvPr/>
        </p:nvSpPr>
        <p:spPr>
          <a:xfrm>
            <a:off x="6677025" y="2971800"/>
            <a:ext cx="85725" cy="952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75E72B-92E3-403E-9421-795993754A1C}"/>
              </a:ext>
            </a:extLst>
          </p:cNvPr>
          <p:cNvSpPr>
            <a:spLocks noGrp="1"/>
          </p:cNvSpPr>
          <p:nvPr/>
        </p:nvSpPr>
        <p:spPr>
          <a:xfrm>
            <a:off x="9144000" y="3005138"/>
            <a:ext cx="581025" cy="28575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CC3FF8-698A-4BFC-B719-4CCCF1680F4C}"/>
              </a:ext>
            </a:extLst>
          </p:cNvPr>
          <p:cNvSpPr>
            <a:spLocks noGrp="1"/>
          </p:cNvSpPr>
          <p:nvPr/>
        </p:nvSpPr>
        <p:spPr>
          <a:xfrm>
            <a:off x="9725025" y="2971800"/>
            <a:ext cx="85725" cy="952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56B3B1-8233-4F46-BB25-1B61EE6FE131}"/>
              </a:ext>
            </a:extLst>
          </p:cNvPr>
          <p:cNvSpPr>
            <a:spLocks noGrp="1"/>
          </p:cNvSpPr>
          <p:nvPr/>
        </p:nvSpPr>
        <p:spPr>
          <a:xfrm>
            <a:off x="1485900" y="4362450"/>
            <a:ext cx="9220200" cy="1104900"/>
          </a:xfrm>
          <a:prstGeom prst="rect">
            <a:avLst/>
          </a:prstGeom>
          <a:solidFill>
            <a:srgbClr val="FFF3C7"/>
          </a:solidFill>
          <a:ln w="9525">
            <a:solidFill>
              <a:srgbClr val="E3C4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16C491-2033-472D-BB6C-A0ACB45C14B2}"/>
              </a:ext>
            </a:extLst>
          </p:cNvPr>
          <p:cNvSpPr>
            <a:spLocks noGrp="1"/>
          </p:cNvSpPr>
          <p:nvPr/>
        </p:nvSpPr>
        <p:spPr>
          <a:xfrm>
            <a:off x="1752600" y="45720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Optional local AI lane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65D1E1-E1BE-4593-974D-53F20962CF6A}"/>
              </a:ext>
            </a:extLst>
          </p:cNvPr>
          <p:cNvSpPr>
            <a:spLocks noGrp="1"/>
          </p:cNvSpPr>
          <p:nvPr/>
        </p:nvSpPr>
        <p:spPr>
          <a:xfrm>
            <a:off x="1752600" y="4876800"/>
            <a:ext cx="723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1416"/>
                </a:solidFill>
                <a:latin typeface="Aptos"/>
                <a:ea typeface="Aptos"/>
                <a:cs typeface="Aptos"/>
              </a:rPr>
              <a:t>Compatible downloaded model -&gt; supportive/general chat and local summarization only when safe. Official campus procedures still come from saved sources.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A1192F-21E7-4D7F-97D0-516D58DD6ABD}"/>
              </a:ext>
            </a:extLst>
          </p:cNvPr>
          <p:cNvSpPr>
            <a:spLocks noGrp="1"/>
          </p:cNvSpPr>
          <p:nvPr/>
        </p:nvSpPr>
        <p:spPr>
          <a:xfrm>
            <a:off x="9334500" y="4686300"/>
            <a:ext cx="876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40932C-92A1-47DA-BEAC-CC167A3918C9}"/>
              </a:ext>
            </a:extLst>
          </p:cNvPr>
          <p:cNvSpPr>
            <a:spLocks noGrp="1"/>
          </p:cNvSpPr>
          <p:nvPr/>
        </p:nvSpPr>
        <p:spPr>
          <a:xfrm>
            <a:off x="9448800" y="4810125"/>
            <a:ext cx="64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AI is optional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B7AD33-9832-40B6-A758-75EB61A91044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2BE60E-FF0F-45DF-8117-655116FAF3C0}"/>
              </a:ext>
            </a:extLst>
          </p:cNvPr>
          <p:cNvSpPr>
            <a:spLocks noGrp="1"/>
          </p:cNvSpPr>
          <p:nvPr/>
        </p:nvSpPr>
        <p:spPr>
          <a:xfrm>
            <a:off x="11277600" y="648652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3290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A0DB57F-1D2F-4F2E-8634-59FE8EFC79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1D96F415-63E4-4FE8-A8C1-5E731FED4AFF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76200" cy="76200"/>
          </a:xfrm>
          <a:prstGeom prst="ellipse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BC8698C9-5B68-46D0-A264-DE30C8C2B8BB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000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STUDENT JOURNEY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7CC58A-B788-4318-B67E-52B7B53ADD29}"/>
              </a:ext>
            </a:extLst>
          </p:cNvPr>
          <p:cNvSpPr>
            <a:spLocks noGrp="1"/>
          </p:cNvSpPr>
          <p:nvPr/>
        </p:nvSpPr>
        <p:spPr>
          <a:xfrm>
            <a:off x="514350" y="838200"/>
            <a:ext cx="8572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A student can move from question to source-backed next step in one flow.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ACE3F5-CBF7-489A-BB8C-22DD140716E3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2057400" cy="3676650"/>
          </a:xfrm>
          <a:prstGeom prst="rect">
            <a:avLst/>
          </a:prstGeom>
          <a:solidFill>
            <a:srgbClr val="181316"/>
          </a:solidFill>
          <a:ln w="9525">
            <a:solidFill>
              <a:srgbClr val="2E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12610" y="2076450"/>
            <a:ext cx="1584781" cy="3524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5761FE-9B26-44EB-854B-9CA12919645A}"/>
              </a:ext>
            </a:extLst>
          </p:cNvPr>
          <p:cNvSpPr>
            <a:spLocks noGrp="1"/>
          </p:cNvSpPr>
          <p:nvPr/>
        </p:nvSpPr>
        <p:spPr>
          <a:xfrm>
            <a:off x="4953000" y="1771650"/>
            <a:ext cx="2266950" cy="4057650"/>
          </a:xfrm>
          <a:prstGeom prst="rect">
            <a:avLst/>
          </a:prstGeom>
          <a:solidFill>
            <a:srgbClr val="181316"/>
          </a:solidFill>
          <a:ln w="9525">
            <a:solidFill>
              <a:srgbClr val="2E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08592" y="1847850"/>
            <a:ext cx="1755766" cy="39052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2648F28-F506-446D-B642-440A6CA32AFA}"/>
              </a:ext>
            </a:extLst>
          </p:cNvPr>
          <p:cNvSpPr>
            <a:spLocks noGrp="1"/>
          </p:cNvSpPr>
          <p:nvPr/>
        </p:nvSpPr>
        <p:spPr>
          <a:xfrm>
            <a:off x="9124950" y="2000250"/>
            <a:ext cx="2057400" cy="3676650"/>
          </a:xfrm>
          <a:prstGeom prst="rect">
            <a:avLst/>
          </a:prstGeom>
          <a:solidFill>
            <a:srgbClr val="181316"/>
          </a:solidFill>
          <a:ln w="9525">
            <a:solidFill>
              <a:srgbClr val="2E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361093" y="2076450"/>
            <a:ext cx="1585113" cy="35242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30C9D8-84EF-49B5-89D4-35030FE7E98C}"/>
              </a:ext>
            </a:extLst>
          </p:cNvPr>
          <p:cNvSpPr>
            <a:spLocks noGrp="1"/>
          </p:cNvSpPr>
          <p:nvPr/>
        </p:nvSpPr>
        <p:spPr>
          <a:xfrm>
            <a:off x="3143250" y="3681413"/>
            <a:ext cx="1514475" cy="28575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2F8CBF-DBF7-4AE9-B322-27AC74516453}"/>
              </a:ext>
            </a:extLst>
          </p:cNvPr>
          <p:cNvSpPr>
            <a:spLocks noGrp="1"/>
          </p:cNvSpPr>
          <p:nvPr/>
        </p:nvSpPr>
        <p:spPr>
          <a:xfrm>
            <a:off x="4657725" y="3648075"/>
            <a:ext cx="85725" cy="952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5AFFE9-B7D3-4200-9BA2-9FF92A56BB24}"/>
              </a:ext>
            </a:extLst>
          </p:cNvPr>
          <p:cNvSpPr>
            <a:spLocks noGrp="1"/>
          </p:cNvSpPr>
          <p:nvPr/>
        </p:nvSpPr>
        <p:spPr>
          <a:xfrm>
            <a:off x="7429500" y="3681413"/>
            <a:ext cx="1400175" cy="28575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389955-1A4E-4CA2-81A9-78C50C6F2F64}"/>
              </a:ext>
            </a:extLst>
          </p:cNvPr>
          <p:cNvSpPr>
            <a:spLocks noGrp="1"/>
          </p:cNvSpPr>
          <p:nvPr/>
        </p:nvSpPr>
        <p:spPr>
          <a:xfrm>
            <a:off x="8829675" y="3648075"/>
            <a:ext cx="85725" cy="952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422178-03D8-4A8C-860E-F0F03A92F61D}"/>
              </a:ext>
            </a:extLst>
          </p:cNvPr>
          <p:cNvSpPr>
            <a:spLocks noGrp="1"/>
          </p:cNvSpPr>
          <p:nvPr/>
        </p:nvSpPr>
        <p:spPr>
          <a:xfrm>
            <a:off x="876300" y="5810250"/>
            <a:ext cx="2057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1. Student home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FE17D4-C700-4084-8EF6-E8A494BDDC14}"/>
              </a:ext>
            </a:extLst>
          </p:cNvPr>
          <p:cNvSpPr>
            <a:spLocks noGrp="1"/>
          </p:cNvSpPr>
          <p:nvPr/>
        </p:nvSpPr>
        <p:spPr>
          <a:xfrm>
            <a:off x="4953000" y="5962650"/>
            <a:ext cx="226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2. Source-backed chat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469A52-4950-4558-BF38-97207D2ADB79}"/>
              </a:ext>
            </a:extLst>
          </p:cNvPr>
          <p:cNvSpPr>
            <a:spLocks noGrp="1"/>
          </p:cNvSpPr>
          <p:nvPr/>
        </p:nvSpPr>
        <p:spPr>
          <a:xfrm>
            <a:off x="9124950" y="5810250"/>
            <a:ext cx="2057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3. Service desk topics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67790F-0DEF-421A-90D8-C1270B3A94BD}"/>
              </a:ext>
            </a:extLst>
          </p:cNvPr>
          <p:cNvSpPr>
            <a:spLocks noGrp="1"/>
          </p:cNvSpPr>
          <p:nvPr/>
        </p:nvSpPr>
        <p:spPr>
          <a:xfrm>
            <a:off x="3676650" y="6172200"/>
            <a:ext cx="48387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A2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6EF9CD-AC87-4736-A31B-C681D97BB06D}"/>
              </a:ext>
            </a:extLst>
          </p:cNvPr>
          <p:cNvSpPr>
            <a:spLocks noGrp="1"/>
          </p:cNvSpPr>
          <p:nvPr/>
        </p:nvSpPr>
        <p:spPr>
          <a:xfrm>
            <a:off x="3790950" y="6238875"/>
            <a:ext cx="46101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No backend required for campus source search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214542-C037-4BA5-8FDF-CEB4B6F6E662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6E8EE0-01A4-433B-BC0C-5D01B965CD9E}"/>
              </a:ext>
            </a:extLst>
          </p:cNvPr>
          <p:cNvSpPr>
            <a:spLocks noGrp="1"/>
          </p:cNvSpPr>
          <p:nvPr/>
        </p:nvSpPr>
        <p:spPr>
          <a:xfrm>
            <a:off x="11277600" y="648652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3879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B219236-2119-42FD-A702-F284AC4A0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935AFF6A-D526-4A0E-88C1-36AB236E1FAA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76200" cy="76200"/>
          </a:xfrm>
          <a:prstGeom prst="ellipse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8717107F-51E9-4293-B8CC-AF1219608681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000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TRUST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8007A0-37B8-4CBF-B42E-2F293E2C82CF}"/>
              </a:ext>
            </a:extLst>
          </p:cNvPr>
          <p:cNvSpPr>
            <a:spLocks noGrp="1"/>
          </p:cNvSpPr>
          <p:nvPr/>
        </p:nvSpPr>
        <p:spPr>
          <a:xfrm>
            <a:off x="514350" y="838200"/>
            <a:ext cx="781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Citations make Haki auditable instead of a black-box chatbot.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19F807-D4C7-4A36-89C8-12C3C72FDE02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2571750" cy="4095750"/>
          </a:xfrm>
          <a:prstGeom prst="rect">
            <a:avLst/>
          </a:prstGeom>
          <a:solidFill>
            <a:srgbClr val="181316"/>
          </a:solidFill>
          <a:ln w="9525">
            <a:solidFill>
              <a:srgbClr val="2E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94777" y="2019300"/>
            <a:ext cx="1772896" cy="39433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7F3BDA1-14CC-4D10-9F49-0160CB83CE1B}"/>
              </a:ext>
            </a:extLst>
          </p:cNvPr>
          <p:cNvSpPr>
            <a:spLocks noGrp="1"/>
          </p:cNvSpPr>
          <p:nvPr/>
        </p:nvSpPr>
        <p:spPr>
          <a:xfrm>
            <a:off x="895350" y="6134100"/>
            <a:ext cx="2571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Campus answer with source panel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634CA0-1C76-43FB-9E98-4CA725E22A83}"/>
              </a:ext>
            </a:extLst>
          </p:cNvPr>
          <p:cNvSpPr>
            <a:spLocks noGrp="1"/>
          </p:cNvSpPr>
          <p:nvPr/>
        </p:nvSpPr>
        <p:spPr>
          <a:xfrm>
            <a:off x="4495800" y="1981200"/>
            <a:ext cx="3143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F87AE5-A1D1-42C5-A791-FC491DC79A5E}"/>
              </a:ext>
            </a:extLst>
          </p:cNvPr>
          <p:cNvSpPr>
            <a:spLocks noGrp="1"/>
          </p:cNvSpPr>
          <p:nvPr/>
        </p:nvSpPr>
        <p:spPr>
          <a:xfrm>
            <a:off x="4495800" y="1981200"/>
            <a:ext cx="3143250" cy="5715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C78733-D031-48F3-897F-F93D3444B396}"/>
              </a:ext>
            </a:extLst>
          </p:cNvPr>
          <p:cNvSpPr>
            <a:spLocks noGrp="1"/>
          </p:cNvSpPr>
          <p:nvPr/>
        </p:nvSpPr>
        <p:spPr>
          <a:xfrm>
            <a:off x="4648200" y="2152650"/>
            <a:ext cx="2838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sees the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8B6D6A-ECDB-413C-BC53-E169FB746E20}"/>
              </a:ext>
            </a:extLst>
          </p:cNvPr>
          <p:cNvSpPr>
            <a:spLocks noGrp="1"/>
          </p:cNvSpPr>
          <p:nvPr/>
        </p:nvSpPr>
        <p:spPr>
          <a:xfrm>
            <a:off x="4648200" y="2409825"/>
            <a:ext cx="2838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response is phrased for student action, not as raw database text.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027AF5-8B75-4B17-B4FC-A6A018F2154D}"/>
              </a:ext>
            </a:extLst>
          </p:cNvPr>
          <p:cNvSpPr>
            <a:spLocks noGrp="1"/>
          </p:cNvSpPr>
          <p:nvPr/>
        </p:nvSpPr>
        <p:spPr>
          <a:xfrm>
            <a:off x="7905750" y="2971800"/>
            <a:ext cx="3143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3AC40B-AA84-4186-AC7A-F7BBACC3B43D}"/>
              </a:ext>
            </a:extLst>
          </p:cNvPr>
          <p:cNvSpPr>
            <a:spLocks noGrp="1"/>
          </p:cNvSpPr>
          <p:nvPr/>
        </p:nvSpPr>
        <p:spPr>
          <a:xfrm>
            <a:off x="7905750" y="2971800"/>
            <a:ext cx="3143250" cy="571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EF994D-5A7C-4058-ABBF-54A129CFA85B}"/>
              </a:ext>
            </a:extLst>
          </p:cNvPr>
          <p:cNvSpPr>
            <a:spLocks noGrp="1"/>
          </p:cNvSpPr>
          <p:nvPr/>
        </p:nvSpPr>
        <p:spPr>
          <a:xfrm>
            <a:off x="8058150" y="3143250"/>
            <a:ext cx="2838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Admin can inspect evidence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D1D416-895C-4ED6-9FBE-B79767FD28AA}"/>
              </a:ext>
            </a:extLst>
          </p:cNvPr>
          <p:cNvSpPr>
            <a:spLocks noGrp="1"/>
          </p:cNvSpPr>
          <p:nvPr/>
        </p:nvSpPr>
        <p:spPr>
          <a:xfrm>
            <a:off x="8058150" y="3400425"/>
            <a:ext cx="2838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source card names the campus document, office, and citation used by the answer.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22C063-7C23-4AE3-95BB-BB95D7BFBCC0}"/>
              </a:ext>
            </a:extLst>
          </p:cNvPr>
          <p:cNvSpPr>
            <a:spLocks noGrp="1"/>
          </p:cNvSpPr>
          <p:nvPr/>
        </p:nvSpPr>
        <p:spPr>
          <a:xfrm>
            <a:off x="4495800" y="4229100"/>
            <a:ext cx="3143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CA035D-E372-4FE9-A52A-C0B557B1C799}"/>
              </a:ext>
            </a:extLst>
          </p:cNvPr>
          <p:cNvSpPr>
            <a:spLocks noGrp="1"/>
          </p:cNvSpPr>
          <p:nvPr/>
        </p:nvSpPr>
        <p:spPr>
          <a:xfrm>
            <a:off x="4495800" y="4229100"/>
            <a:ext cx="3143250" cy="57150"/>
          </a:xfrm>
          <a:prstGeom prst="rect">
            <a:avLst/>
          </a:prstGeom>
          <a:solidFill>
            <a:srgbClr val="2E7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3A275E-7C31-4971-A9D2-D1D9E02B9123}"/>
              </a:ext>
            </a:extLst>
          </p:cNvPr>
          <p:cNvSpPr>
            <a:spLocks noGrp="1"/>
          </p:cNvSpPr>
          <p:nvPr/>
        </p:nvSpPr>
        <p:spPr>
          <a:xfrm>
            <a:off x="4648200" y="4400550"/>
            <a:ext cx="2838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Missing source is a signal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C5C1C6-E5C0-405D-AA42-1CE09725C9D9}"/>
              </a:ext>
            </a:extLst>
          </p:cNvPr>
          <p:cNvSpPr>
            <a:spLocks noGrp="1"/>
          </p:cNvSpPr>
          <p:nvPr/>
        </p:nvSpPr>
        <p:spPr>
          <a:xfrm>
            <a:off x="4648200" y="4657725"/>
            <a:ext cx="2838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If official content is weak or absent, the right response is review or clarification, not guessing.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08F5F2-FE5B-4238-8158-55CE493C4F96}"/>
              </a:ext>
            </a:extLst>
          </p:cNvPr>
          <p:cNvSpPr>
            <a:spLocks noGrp="1"/>
          </p:cNvSpPr>
          <p:nvPr/>
        </p:nvSpPr>
        <p:spPr>
          <a:xfrm>
            <a:off x="3657600" y="2724150"/>
            <a:ext cx="742950" cy="28575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D5ACE8-1EF4-4741-86F1-2CBD3A304820}"/>
              </a:ext>
            </a:extLst>
          </p:cNvPr>
          <p:cNvSpPr>
            <a:spLocks noGrp="1"/>
          </p:cNvSpPr>
          <p:nvPr/>
        </p:nvSpPr>
        <p:spPr>
          <a:xfrm>
            <a:off x="3657600" y="4743450"/>
            <a:ext cx="742950" cy="28575"/>
          </a:xfrm>
          <a:prstGeom prst="rect">
            <a:avLst/>
          </a:prstGeom>
          <a:solidFill>
            <a:srgbClr val="2E7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458F80-F5B8-4DED-81A3-BEC9989D8823}"/>
              </a:ext>
            </a:extLst>
          </p:cNvPr>
          <p:cNvSpPr>
            <a:spLocks noGrp="1"/>
          </p:cNvSpPr>
          <p:nvPr/>
        </p:nvSpPr>
        <p:spPr>
          <a:xfrm>
            <a:off x="7639050" y="3695700"/>
            <a:ext cx="190500" cy="28575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EC0DD6-34AF-45F7-8E42-D84AE6E5B89D}"/>
              </a:ext>
            </a:extLst>
          </p:cNvPr>
          <p:cNvSpPr>
            <a:spLocks noGrp="1"/>
          </p:cNvSpPr>
          <p:nvPr/>
        </p:nvSpPr>
        <p:spPr>
          <a:xfrm>
            <a:off x="4495800" y="5657850"/>
            <a:ext cx="6572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201416"/>
                </a:solidFill>
                <a:latin typeface="Aptos"/>
                <a:ea typeface="Aptos"/>
                <a:cs typeface="Aptos"/>
              </a:rPr>
              <a:t>Haki is safer when it behaves like a controlled reference system, not a model pretending to know policy.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5163F7-2A00-464B-A128-5DD27BB64D54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5E427F-6156-4CE4-B14C-E7BDEA74D428}"/>
              </a:ext>
            </a:extLst>
          </p:cNvPr>
          <p:cNvSpPr>
            <a:spLocks noGrp="1"/>
          </p:cNvSpPr>
          <p:nvPr/>
        </p:nvSpPr>
        <p:spPr>
          <a:xfrm>
            <a:off x="11277600" y="648652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2424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F42B410-7ABA-42E6-A1F4-13C80D0508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3B3060A7-0ED0-4F63-8F24-28F49CE69EE7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76200" cy="76200"/>
          </a:xfrm>
          <a:prstGeom prst="ellipse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309DA9C5-54FC-451B-BACD-A02E29CE8A30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000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863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PRIVACY AND INFRASTRUCTURE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87E901-7E42-42D3-B3B0-528127BA98C6}"/>
              </a:ext>
            </a:extLst>
          </p:cNvPr>
          <p:cNvSpPr>
            <a:spLocks noGrp="1"/>
          </p:cNvSpPr>
          <p:nvPr/>
        </p:nvSpPr>
        <p:spPr>
          <a:xfrm>
            <a:off x="514350" y="838200"/>
            <a:ext cx="7429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Offline-first design lowers privacy and infrastructure risk.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EA9B04-BEAE-4AED-83D3-A69200533B7F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666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F6E2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E2E8"/>
                </a:solidFill>
                <a:latin typeface="Aptos"/>
                <a:ea typeface="Aptos"/>
                <a:cs typeface="Aptos"/>
              </a:rPr>
              <a:t>The proposal positions Haki as a local device app: no external chat API, no cloud database, and no server dependency for campus source search.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D5BE63-D44D-4EFA-A461-D1A7A1D73A97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6172200" cy="2495550"/>
          </a:xfrm>
          <a:prstGeom prst="rect">
            <a:avLst/>
          </a:prstGeom>
          <a:solidFill>
            <a:srgbClr val="520012"/>
          </a:solidFill>
          <a:ln w="9525">
            <a:solidFill>
              <a:srgbClr val="9F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6AE4A3-B364-40EE-BDB3-0404BB0E8A92}"/>
              </a:ext>
            </a:extLst>
          </p:cNvPr>
          <p:cNvSpPr>
            <a:spLocks noGrp="1"/>
          </p:cNvSpPr>
          <p:nvPr/>
        </p:nvSpPr>
        <p:spPr>
          <a:xfrm>
            <a:off x="1028700" y="29146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Inside the student's phone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AB9F7C-CF40-4B64-B702-42E1BCCF7036}"/>
              </a:ext>
            </a:extLst>
          </p:cNvPr>
          <p:cNvSpPr>
            <a:spLocks noGrp="1"/>
          </p:cNvSpPr>
          <p:nvPr/>
        </p:nvSpPr>
        <p:spPr>
          <a:xfrm>
            <a:off x="1066800" y="3390900"/>
            <a:ext cx="95250" cy="952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AE7C6F-BD3A-4A47-8922-88B6342C4A49}"/>
              </a:ext>
            </a:extLst>
          </p:cNvPr>
          <p:cNvSpPr>
            <a:spLocks noGrp="1"/>
          </p:cNvSpPr>
          <p:nvPr/>
        </p:nvSpPr>
        <p:spPr>
          <a:xfrm>
            <a:off x="1295400" y="335280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Saved campus guide: Approved documents and citations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A3C8AA-0B3E-4CDA-AFAC-37A85C5296BD}"/>
              </a:ext>
            </a:extLst>
          </p:cNvPr>
          <p:cNvSpPr>
            <a:spLocks noGrp="1"/>
          </p:cNvSpPr>
          <p:nvPr/>
        </p:nvSpPr>
        <p:spPr>
          <a:xfrm>
            <a:off x="1066800" y="3790950"/>
            <a:ext cx="95250" cy="952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C61B9E-1C48-414D-88AE-2475EEFB333C}"/>
              </a:ext>
            </a:extLst>
          </p:cNvPr>
          <p:cNvSpPr>
            <a:spLocks noGrp="1"/>
          </p:cNvSpPr>
          <p:nvPr/>
        </p:nvSpPr>
        <p:spPr>
          <a:xfrm>
            <a:off x="1295400" y="37528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SQLite source search: Fast offline retrieval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9AEEE5-19BD-4D00-A423-871003FE6F9D}"/>
              </a:ext>
            </a:extLst>
          </p:cNvPr>
          <p:cNvSpPr>
            <a:spLocks noGrp="1"/>
          </p:cNvSpPr>
          <p:nvPr/>
        </p:nvSpPr>
        <p:spPr>
          <a:xfrm>
            <a:off x="1066800" y="4191000"/>
            <a:ext cx="95250" cy="952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8A0786-46FA-491C-BC1D-6FA31F1FB8D4}"/>
              </a:ext>
            </a:extLst>
          </p:cNvPr>
          <p:cNvSpPr>
            <a:spLocks noGrp="1"/>
          </p:cNvSpPr>
          <p:nvPr/>
        </p:nvSpPr>
        <p:spPr>
          <a:xfrm>
            <a:off x="1295400" y="415290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Optional local model: Downloaded only on compatible devices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DB8FC2-9CE1-48B3-A176-78BF67D2AAF5}"/>
              </a:ext>
            </a:extLst>
          </p:cNvPr>
          <p:cNvSpPr>
            <a:spLocks noGrp="1"/>
          </p:cNvSpPr>
          <p:nvPr/>
        </p:nvSpPr>
        <p:spPr>
          <a:xfrm>
            <a:off x="1066800" y="4591050"/>
            <a:ext cx="95250" cy="952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A6FDDD-EADE-4070-9F85-C39D4DD6A437}"/>
              </a:ext>
            </a:extLst>
          </p:cNvPr>
          <p:cNvSpPr>
            <a:spLocks noGrp="1"/>
          </p:cNvSpPr>
          <p:nvPr/>
        </p:nvSpPr>
        <p:spPr>
          <a:xfrm>
            <a:off x="1295400" y="45529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Profile/history controls: Local settings, not external server state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9C682C-52A2-463F-9893-BE6093CC3C07}"/>
              </a:ext>
            </a:extLst>
          </p:cNvPr>
          <p:cNvSpPr>
            <a:spLocks noGrp="1"/>
          </p:cNvSpPr>
          <p:nvPr/>
        </p:nvSpPr>
        <p:spPr>
          <a:xfrm>
            <a:off x="1028700" y="48196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Official web pages remain the source for real-time announcements.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667019-0A2D-4AD4-967F-EE9BF26CC30C}"/>
              </a:ext>
            </a:extLst>
          </p:cNvPr>
          <p:cNvSpPr>
            <a:spLocks noGrp="1"/>
          </p:cNvSpPr>
          <p:nvPr/>
        </p:nvSpPr>
        <p:spPr>
          <a:xfrm>
            <a:off x="8096250" y="1181100"/>
            <a:ext cx="2362200" cy="4838700"/>
          </a:xfrm>
          <a:prstGeom prst="rect">
            <a:avLst/>
          </a:prstGeom>
          <a:solidFill>
            <a:srgbClr val="181316"/>
          </a:solidFill>
          <a:ln w="9525">
            <a:solidFill>
              <a:srgbClr val="2E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24467" y="1257300"/>
            <a:ext cx="2105767" cy="46863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823CE41-A7CF-450B-8848-70A2FFC864E6}"/>
              </a:ext>
            </a:extLst>
          </p:cNvPr>
          <p:cNvSpPr>
            <a:spLocks noGrp="1"/>
          </p:cNvSpPr>
          <p:nvPr/>
        </p:nvSpPr>
        <p:spPr>
          <a:xfrm>
            <a:off x="8096250" y="6115050"/>
            <a:ext cx="2362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F6E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E2E8"/>
                </a:solidFill>
                <a:latin typeface="Aptos"/>
                <a:ea typeface="Aptos"/>
                <a:cs typeface="Aptos"/>
              </a:rPr>
              <a:t>Device-aware local model screen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9842FF-6DBD-4757-9990-534007ACEBB9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DCE3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0D5628-497D-4A7F-9651-F146397953D3}"/>
              </a:ext>
            </a:extLst>
          </p:cNvPr>
          <p:cNvSpPr>
            <a:spLocks noGrp="1"/>
          </p:cNvSpPr>
          <p:nvPr/>
        </p:nvSpPr>
        <p:spPr>
          <a:xfrm>
            <a:off x="11277600" y="648652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CE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3314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D969066-255E-407C-AFEA-B1B5E10383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8D98DB69-2003-471E-80AD-11AE395D743A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76200" cy="76200"/>
          </a:xfrm>
          <a:prstGeom prst="ellipse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807E463C-8BF6-4690-BE25-2F9BC8CBE0CC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000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ADMIN GOVERNANCE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57AAD4-C519-435E-8265-9CC966D639D8}"/>
              </a:ext>
            </a:extLst>
          </p:cNvPr>
          <p:cNvSpPr>
            <a:spLocks noGrp="1"/>
          </p:cNvSpPr>
          <p:nvPr/>
        </p:nvSpPr>
        <p:spPr>
          <a:xfrm>
            <a:off x="514350" y="838200"/>
            <a:ext cx="8096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TUPT keeps ownership of the content and release decision.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992D4-8E63-4760-BCFB-3F46838075BF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238125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3C0E0C-86AC-47F9-91B4-C6C0D9091972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2381250" cy="762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B698FC-64AF-4A08-8056-29EDA05ED192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2038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29F03C-1737-4341-9281-AE953C363A4D}"/>
              </a:ext>
            </a:extLst>
          </p:cNvPr>
          <p:cNvSpPr>
            <a:spLocks noGrp="1"/>
          </p:cNvSpPr>
          <p:nvPr/>
        </p:nvSpPr>
        <p:spPr>
          <a:xfrm>
            <a:off x="838200" y="2914650"/>
            <a:ext cx="20383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Decides whether Haki is appropriate, what content is allowed, and how distribution should be governed.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96028-4F47-4387-9073-7F3155C8755A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238125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269DE-9F86-4FD8-AD14-BA8E4FA4DE2B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2381250" cy="7620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948620-42F6-46A5-85B8-30B5646B8042}"/>
              </a:ext>
            </a:extLst>
          </p:cNvPr>
          <p:cNvSpPr>
            <a:spLocks noGrp="1"/>
          </p:cNvSpPr>
          <p:nvPr/>
        </p:nvSpPr>
        <p:spPr>
          <a:xfrm>
            <a:off x="3733800" y="2400300"/>
            <a:ext cx="2038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Responsible office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F8659B-F105-48FB-B80D-0140CF1BC639}"/>
              </a:ext>
            </a:extLst>
          </p:cNvPr>
          <p:cNvSpPr>
            <a:spLocks noGrp="1"/>
          </p:cNvSpPr>
          <p:nvPr/>
        </p:nvSpPr>
        <p:spPr>
          <a:xfrm>
            <a:off x="3733800" y="2914650"/>
            <a:ext cx="20383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Coordinates official source review, update cadence, and policy ownership across offices.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1B47F5-82DF-455C-8563-94FB0981303F}"/>
              </a:ext>
            </a:extLst>
          </p:cNvPr>
          <p:cNvSpPr>
            <a:spLocks noGrp="1"/>
          </p:cNvSpPr>
          <p:nvPr/>
        </p:nvSpPr>
        <p:spPr>
          <a:xfrm>
            <a:off x="6457950" y="2171700"/>
            <a:ext cx="238125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50746-A55D-4AC4-A071-3412A204401D}"/>
              </a:ext>
            </a:extLst>
          </p:cNvPr>
          <p:cNvSpPr>
            <a:spLocks noGrp="1"/>
          </p:cNvSpPr>
          <p:nvPr/>
        </p:nvSpPr>
        <p:spPr>
          <a:xfrm>
            <a:off x="6457950" y="2171700"/>
            <a:ext cx="2381250" cy="76200"/>
          </a:xfrm>
          <a:prstGeom prst="rect">
            <a:avLst/>
          </a:prstGeom>
          <a:solidFill>
            <a:srgbClr val="2E7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E7B556-514A-49F1-A074-2F3DD481D765}"/>
              </a:ext>
            </a:extLst>
          </p:cNvPr>
          <p:cNvSpPr>
            <a:spLocks noGrp="1"/>
          </p:cNvSpPr>
          <p:nvPr/>
        </p:nvSpPr>
        <p:spPr>
          <a:xfrm>
            <a:off x="6629400" y="2400300"/>
            <a:ext cx="2038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or staff maintainers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DAC361-69BE-4DEB-AD55-E65DAC42AD23}"/>
              </a:ext>
            </a:extLst>
          </p:cNvPr>
          <p:cNvSpPr>
            <a:spLocks noGrp="1"/>
          </p:cNvSpPr>
          <p:nvPr/>
        </p:nvSpPr>
        <p:spPr>
          <a:xfrm>
            <a:off x="6629400" y="2914650"/>
            <a:ext cx="20383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Prepare source packages, perform updates, and preserve technical continuity under supervision.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C93D7A-CB38-4DFE-8A22-3A88615F409B}"/>
              </a:ext>
            </a:extLst>
          </p:cNvPr>
          <p:cNvSpPr>
            <a:spLocks noGrp="1"/>
          </p:cNvSpPr>
          <p:nvPr/>
        </p:nvSpPr>
        <p:spPr>
          <a:xfrm>
            <a:off x="9353550" y="2171700"/>
            <a:ext cx="21717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96AE31-6611-4179-86D4-5D3B59ACD9BE}"/>
              </a:ext>
            </a:extLst>
          </p:cNvPr>
          <p:cNvSpPr>
            <a:spLocks noGrp="1"/>
          </p:cNvSpPr>
          <p:nvPr/>
        </p:nvSpPr>
        <p:spPr>
          <a:xfrm>
            <a:off x="9353550" y="2171700"/>
            <a:ext cx="2171700" cy="76200"/>
          </a:xfrm>
          <a:prstGeom prst="rect">
            <a:avLst/>
          </a:prstGeom>
          <a:solidFill>
            <a:srgbClr val="2E5E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79E811-5F48-49C8-8691-E2BBD23ECFF2}"/>
              </a:ext>
            </a:extLst>
          </p:cNvPr>
          <p:cNvSpPr>
            <a:spLocks noGrp="1"/>
          </p:cNvSpPr>
          <p:nvPr/>
        </p:nvSpPr>
        <p:spPr>
          <a:xfrm>
            <a:off x="9525000" y="2400300"/>
            <a:ext cx="1828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Haki app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95234D-7F0A-4434-B44A-9D7DBB085983}"/>
              </a:ext>
            </a:extLst>
          </p:cNvPr>
          <p:cNvSpPr>
            <a:spLocks noGrp="1"/>
          </p:cNvSpPr>
          <p:nvPr/>
        </p:nvSpPr>
        <p:spPr>
          <a:xfrm>
            <a:off x="9525000" y="2914650"/>
            <a:ext cx="18288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Publishes only the approved local guide to students through chat, search, map, and library screens.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692188-06CB-4181-80C2-FC8BAD563A94}"/>
              </a:ext>
            </a:extLst>
          </p:cNvPr>
          <p:cNvSpPr>
            <a:spLocks noGrp="1"/>
          </p:cNvSpPr>
          <p:nvPr/>
        </p:nvSpPr>
        <p:spPr>
          <a:xfrm>
            <a:off x="3048000" y="3519488"/>
            <a:ext cx="428625" cy="28575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050257-128A-493F-B635-8A2FB5720FB0}"/>
              </a:ext>
            </a:extLst>
          </p:cNvPr>
          <p:cNvSpPr>
            <a:spLocks noGrp="1"/>
          </p:cNvSpPr>
          <p:nvPr/>
        </p:nvSpPr>
        <p:spPr>
          <a:xfrm>
            <a:off x="3476625" y="3486150"/>
            <a:ext cx="85725" cy="952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5AA38D-0709-40F0-AD85-67D4E0ACFC73}"/>
              </a:ext>
            </a:extLst>
          </p:cNvPr>
          <p:cNvSpPr>
            <a:spLocks noGrp="1"/>
          </p:cNvSpPr>
          <p:nvPr/>
        </p:nvSpPr>
        <p:spPr>
          <a:xfrm>
            <a:off x="5943600" y="3519488"/>
            <a:ext cx="428625" cy="28575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5F32FE-369F-4CD1-B4F8-5169048508F6}"/>
              </a:ext>
            </a:extLst>
          </p:cNvPr>
          <p:cNvSpPr>
            <a:spLocks noGrp="1"/>
          </p:cNvSpPr>
          <p:nvPr/>
        </p:nvSpPr>
        <p:spPr>
          <a:xfrm>
            <a:off x="6372225" y="3486150"/>
            <a:ext cx="85725" cy="952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AF05EE-FE46-49D8-AADE-0E7B3B892872}"/>
              </a:ext>
            </a:extLst>
          </p:cNvPr>
          <p:cNvSpPr>
            <a:spLocks noGrp="1"/>
          </p:cNvSpPr>
          <p:nvPr/>
        </p:nvSpPr>
        <p:spPr>
          <a:xfrm>
            <a:off x="8839200" y="3519488"/>
            <a:ext cx="428625" cy="28575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86A948-E3CD-49BB-B419-010C0ADC6391}"/>
              </a:ext>
            </a:extLst>
          </p:cNvPr>
          <p:cNvSpPr>
            <a:spLocks noGrp="1"/>
          </p:cNvSpPr>
          <p:nvPr/>
        </p:nvSpPr>
        <p:spPr>
          <a:xfrm>
            <a:off x="9267825" y="3486150"/>
            <a:ext cx="85725" cy="952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F48B99-431F-4608-8FA4-331A1B7DC542}"/>
              </a:ext>
            </a:extLst>
          </p:cNvPr>
          <p:cNvSpPr>
            <a:spLocks noGrp="1"/>
          </p:cNvSpPr>
          <p:nvPr/>
        </p:nvSpPr>
        <p:spPr>
          <a:xfrm>
            <a:off x="1485900" y="5334000"/>
            <a:ext cx="9220200" cy="552450"/>
          </a:xfrm>
          <a:prstGeom prst="rect">
            <a:avLst/>
          </a:prstGeom>
          <a:solidFill>
            <a:srgbClr val="7A0019"/>
          </a:solidFill>
          <a:ln w="9525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165217-D858-46A0-8202-4A70C0E42D40}"/>
              </a:ext>
            </a:extLst>
          </p:cNvPr>
          <p:cNvSpPr>
            <a:spLocks noGrp="1"/>
          </p:cNvSpPr>
          <p:nvPr/>
        </p:nvSpPr>
        <p:spPr>
          <a:xfrm>
            <a:off x="1771650" y="5505450"/>
            <a:ext cx="864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Developer role: build, hand over, guide first maintainers, and request attribution only if Haki is deployed or promoted.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4A8FDD-A64E-468E-843B-0020BFC1C06E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58BBDE-2149-42F4-B8B7-6B66A904CA27}"/>
              </a:ext>
            </a:extLst>
          </p:cNvPr>
          <p:cNvSpPr>
            <a:spLocks noGrp="1"/>
          </p:cNvSpPr>
          <p:nvPr/>
        </p:nvSpPr>
        <p:spPr>
          <a:xfrm>
            <a:off x="11277600" y="648652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2203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8E8D21-9F59-4E5F-91EF-299CEDC4AA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E8926E93-2E2A-4FA9-BAB6-CF5C5628E356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76200" cy="76200"/>
          </a:xfrm>
          <a:prstGeom prst="ellipse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352D99F2-4578-4A1C-967F-0321AE01F8E4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000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COMMUNITY BENEFIT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38F202-80EF-4CA5-BFA4-67E7EC2B587E}"/>
              </a:ext>
            </a:extLst>
          </p:cNvPr>
          <p:cNvSpPr>
            <a:spLocks noGrp="1"/>
          </p:cNvSpPr>
          <p:nvPr/>
        </p:nvSpPr>
        <p:spPr>
          <a:xfrm>
            <a:off x="514350" y="83820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One student app can improve service quality across the community.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AEE80A-85B9-4DF4-B7FA-EF70D1CD3081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10648950" cy="457200"/>
          </a:xfrm>
          <a:prstGeom prst="rect">
            <a:avLst/>
          </a:prstGeom>
          <a:solidFill>
            <a:srgbClr val="7A0019"/>
          </a:solidFill>
          <a:ln w="9525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9C86EB-1A7E-4502-A039-265E5BA419C5}"/>
              </a:ext>
            </a:extLst>
          </p:cNvPr>
          <p:cNvSpPr>
            <a:spLocks noGrp="1"/>
          </p:cNvSpPr>
          <p:nvPr/>
        </p:nvSpPr>
        <p:spPr>
          <a:xfrm>
            <a:off x="952500" y="21145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Stakeholder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BB2085-B487-433D-AB3F-FB3E62EE1449}"/>
              </a:ext>
            </a:extLst>
          </p:cNvPr>
          <p:cNvSpPr>
            <a:spLocks noGrp="1"/>
          </p:cNvSpPr>
          <p:nvPr/>
        </p:nvSpPr>
        <p:spPr>
          <a:xfrm>
            <a:off x="3067050" y="211455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Current friction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486BCB-3A22-4938-945A-B175D5401B74}"/>
              </a:ext>
            </a:extLst>
          </p:cNvPr>
          <p:cNvSpPr>
            <a:spLocks noGrp="1"/>
          </p:cNvSpPr>
          <p:nvPr/>
        </p:nvSpPr>
        <p:spPr>
          <a:xfrm>
            <a:off x="7105650" y="211455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What Haki improves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884F85-1CCC-43DA-8F6C-ED6CEB73D25A}"/>
              </a:ext>
            </a:extLst>
          </p:cNvPr>
          <p:cNvSpPr>
            <a:spLocks noGrp="1"/>
          </p:cNvSpPr>
          <p:nvPr/>
        </p:nvSpPr>
        <p:spPr>
          <a:xfrm>
            <a:off x="723900" y="2590800"/>
            <a:ext cx="106489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FD9B09-44BE-44E8-A7DA-F0AD148815B2}"/>
              </a:ext>
            </a:extLst>
          </p:cNvPr>
          <p:cNvSpPr>
            <a:spLocks noGrp="1"/>
          </p:cNvSpPr>
          <p:nvPr/>
        </p:nvSpPr>
        <p:spPr>
          <a:xfrm>
            <a:off x="723900" y="2590800"/>
            <a:ext cx="66675" cy="6858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536E7C-09EA-41DB-A514-4BFF210292CF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59409-79B6-4A16-9514-9B69804D967D}"/>
              </a:ext>
            </a:extLst>
          </p:cNvPr>
          <p:cNvSpPr>
            <a:spLocks noGrp="1"/>
          </p:cNvSpPr>
          <p:nvPr/>
        </p:nvSpPr>
        <p:spPr>
          <a:xfrm>
            <a:off x="3067050" y="2743200"/>
            <a:ext cx="3562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Unsure which office to approach, what to prepare, or where to go.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C07997-0143-4C92-B54E-4894B90F010C}"/>
              </a:ext>
            </a:extLst>
          </p:cNvPr>
          <p:cNvSpPr>
            <a:spLocks noGrp="1"/>
          </p:cNvSpPr>
          <p:nvPr/>
        </p:nvSpPr>
        <p:spPr>
          <a:xfrm>
            <a:off x="7105650" y="2743200"/>
            <a:ext cx="3733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Faster self-service guidance with source references and map support.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9A0B1B-5097-458C-AB7C-599166800A30}"/>
              </a:ext>
            </a:extLst>
          </p:cNvPr>
          <p:cNvSpPr>
            <a:spLocks noGrp="1"/>
          </p:cNvSpPr>
          <p:nvPr/>
        </p:nvSpPr>
        <p:spPr>
          <a:xfrm>
            <a:off x="723900" y="3409950"/>
            <a:ext cx="106489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FEC3AE-60B5-4714-9F2D-7DDCB4FDDFDF}"/>
              </a:ext>
            </a:extLst>
          </p:cNvPr>
          <p:cNvSpPr>
            <a:spLocks noGrp="1"/>
          </p:cNvSpPr>
          <p:nvPr/>
        </p:nvSpPr>
        <p:spPr>
          <a:xfrm>
            <a:off x="723900" y="3409950"/>
            <a:ext cx="66675" cy="68580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5C3160-A667-49A2-B7BD-EEDCF7144D0E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D6A2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6A21E"/>
                </a:solidFill>
                <a:latin typeface="Aptos"/>
                <a:ea typeface="Aptos"/>
                <a:cs typeface="Aptos"/>
              </a:rPr>
              <a:t>Offices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223675-B3AE-41F2-A000-3A57502BC924}"/>
              </a:ext>
            </a:extLst>
          </p:cNvPr>
          <p:cNvSpPr>
            <a:spLocks noGrp="1"/>
          </p:cNvSpPr>
          <p:nvPr/>
        </p:nvSpPr>
        <p:spPr>
          <a:xfrm>
            <a:off x="3067050" y="3562350"/>
            <a:ext cx="3562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Routine questions repeat at counters and through informal channels.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827ADF-B2D8-4AC1-98C7-45A24F2471E2}"/>
              </a:ext>
            </a:extLst>
          </p:cNvPr>
          <p:cNvSpPr>
            <a:spLocks noGrp="1"/>
          </p:cNvSpPr>
          <p:nvPr/>
        </p:nvSpPr>
        <p:spPr>
          <a:xfrm>
            <a:off x="7105650" y="3562350"/>
            <a:ext cx="3733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Better-prepared students and fewer basic inquiries for staff.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B128FA-D316-4DF2-8A13-A50EC4C0FAD0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106489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A02BDD-9540-4448-B170-C67320832FB6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66675" cy="685800"/>
          </a:xfrm>
          <a:prstGeom prst="rect">
            <a:avLst/>
          </a:prstGeom>
          <a:solidFill>
            <a:srgbClr val="2E7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43C7D7-39DF-4B9D-83EF-65FCF4CD0CB2}"/>
              </a:ext>
            </a:extLst>
          </p:cNvPr>
          <p:cNvSpPr>
            <a:spLocks noGrp="1"/>
          </p:cNvSpPr>
          <p:nvPr/>
        </p:nvSpPr>
        <p:spPr>
          <a:xfrm>
            <a:off x="952500" y="44005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7D4F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E35818-DFEE-428C-A651-A55E92830EB2}"/>
              </a:ext>
            </a:extLst>
          </p:cNvPr>
          <p:cNvSpPr>
            <a:spLocks noGrp="1"/>
          </p:cNvSpPr>
          <p:nvPr/>
        </p:nvSpPr>
        <p:spPr>
          <a:xfrm>
            <a:off x="3067050" y="4381500"/>
            <a:ext cx="3562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Official guidance can be hard to keep consistent across channels.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E8C803-8608-4695-A034-2808746CAD2C}"/>
              </a:ext>
            </a:extLst>
          </p:cNvPr>
          <p:cNvSpPr>
            <a:spLocks noGrp="1"/>
          </p:cNvSpPr>
          <p:nvPr/>
        </p:nvSpPr>
        <p:spPr>
          <a:xfrm>
            <a:off x="7105650" y="4381500"/>
            <a:ext cx="3733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Central content authority with local, auditable student access.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A3CD38-A4F1-40C6-9A0A-B45A86C3EBC3}"/>
              </a:ext>
            </a:extLst>
          </p:cNvPr>
          <p:cNvSpPr>
            <a:spLocks noGrp="1"/>
          </p:cNvSpPr>
          <p:nvPr/>
        </p:nvSpPr>
        <p:spPr>
          <a:xfrm>
            <a:off x="723900" y="5048250"/>
            <a:ext cx="106489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9EBBE5-A501-475A-A1DC-585B5EB85E80}"/>
              </a:ext>
            </a:extLst>
          </p:cNvPr>
          <p:cNvSpPr>
            <a:spLocks noGrp="1"/>
          </p:cNvSpPr>
          <p:nvPr/>
        </p:nvSpPr>
        <p:spPr>
          <a:xfrm>
            <a:off x="723900" y="5048250"/>
            <a:ext cx="66675" cy="685800"/>
          </a:xfrm>
          <a:prstGeom prst="rect">
            <a:avLst/>
          </a:prstGeom>
          <a:solidFill>
            <a:srgbClr val="2E5E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667638-3C13-4EC4-9169-5AEDE9BDC777}"/>
              </a:ext>
            </a:extLst>
          </p:cNvPr>
          <p:cNvSpPr>
            <a:spLocks noGrp="1"/>
          </p:cNvSpPr>
          <p:nvPr/>
        </p:nvSpPr>
        <p:spPr>
          <a:xfrm>
            <a:off x="952500" y="52197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2E5E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5E7D"/>
                </a:solidFill>
                <a:latin typeface="Aptos"/>
                <a:ea typeface="Aptos"/>
                <a:cs typeface="Aptos"/>
              </a:rPr>
              <a:t>TUPT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26D74B-0F20-41BE-95D5-1A829864E16E}"/>
              </a:ext>
            </a:extLst>
          </p:cNvPr>
          <p:cNvSpPr>
            <a:spLocks noGrp="1"/>
          </p:cNvSpPr>
          <p:nvPr/>
        </p:nvSpPr>
        <p:spPr>
          <a:xfrm>
            <a:off x="3067050" y="5200650"/>
            <a:ext cx="3562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Student-led innovation is often hard to convert into institutional value.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529A75-57CB-459F-A556-735A6EEC92AE}"/>
              </a:ext>
            </a:extLst>
          </p:cNvPr>
          <p:cNvSpPr>
            <a:spLocks noGrp="1"/>
          </p:cNvSpPr>
          <p:nvPr/>
        </p:nvSpPr>
        <p:spPr>
          <a:xfrm>
            <a:off x="7105650" y="5200650"/>
            <a:ext cx="3733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 visible responsible AI-era service project with controlled pilot scope.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5BA5A7-24A2-496E-B7F6-D03344A6EC7B}"/>
              </a:ext>
            </a:extLst>
          </p:cNvPr>
          <p:cNvSpPr>
            <a:spLocks noGrp="1"/>
          </p:cNvSpPr>
          <p:nvPr/>
        </p:nvSpPr>
        <p:spPr>
          <a:xfrm>
            <a:off x="1028700" y="6057900"/>
            <a:ext cx="952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The value is operational first: clearer guidance, less repetition, and a governable path to adoption.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832079-7C3C-4E8F-810F-F2FBD5BDD0D1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1EF051-DC3B-4BCF-99F1-9C7F4E04A0E5}"/>
              </a:ext>
            </a:extLst>
          </p:cNvPr>
          <p:cNvSpPr>
            <a:spLocks noGrp="1"/>
          </p:cNvSpPr>
          <p:nvPr/>
        </p:nvSpPr>
        <p:spPr>
          <a:xfrm>
            <a:off x="11277600" y="648652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8374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DAF12C95-0C64-4F03-AD4D-2768470CD8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9-marker">
            <a:extLst>
              <a:ext uri="{FF2B5EF4-FFF2-40B4-BE49-F238E27FC236}">
                <a16:creationId xmlns:a16="http://schemas.microsoft.com/office/drawing/2014/main" id="{40A28F99-E85E-4385-8177-299FAC890274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76200" cy="76200"/>
          </a:xfrm>
          <a:prstGeom prst="ellipse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9-label">
            <a:extLst>
              <a:ext uri="{FF2B5EF4-FFF2-40B4-BE49-F238E27FC236}">
                <a16:creationId xmlns:a16="http://schemas.microsoft.com/office/drawing/2014/main" id="{AB27584A-0D9B-455E-BB5B-195A1B08B4F0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000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LOW-RISK ADOPTION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C5F88B-9AFB-4EE8-B616-326074241480}"/>
              </a:ext>
            </a:extLst>
          </p:cNvPr>
          <p:cNvSpPr>
            <a:spLocks noGrp="1"/>
          </p:cNvSpPr>
          <p:nvPr/>
        </p:nvSpPr>
        <p:spPr>
          <a:xfrm>
            <a:off x="514350" y="83820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A pilot review turns adoption into a controlled administrative decision.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AE20D9-5229-4E78-B5BE-DD648B2D84EA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8096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ask is not a blind launch. It is permission to evaluate Haki with official content, supervision, and measured student feedback.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C4308A-B837-4D6A-8B3C-28951C30E01A}"/>
              </a:ext>
            </a:extLst>
          </p:cNvPr>
          <p:cNvSpPr>
            <a:spLocks noGrp="1"/>
          </p:cNvSpPr>
          <p:nvPr/>
        </p:nvSpPr>
        <p:spPr>
          <a:xfrm>
            <a:off x="647700" y="2686050"/>
            <a:ext cx="24384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ECF018-B185-4C64-A9F6-5D5D8F0A7746}"/>
              </a:ext>
            </a:extLst>
          </p:cNvPr>
          <p:cNvSpPr>
            <a:spLocks noGrp="1"/>
          </p:cNvSpPr>
          <p:nvPr/>
        </p:nvSpPr>
        <p:spPr>
          <a:xfrm>
            <a:off x="819150" y="2857500"/>
            <a:ext cx="342900" cy="342900"/>
          </a:xfrm>
          <a:prstGeom prst="ellipse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9FAC92-ADB0-4058-9CEE-7BB9B9EFAA03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342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EBB6DF-4334-442A-B4BE-B238E7A683A3}"/>
              </a:ext>
            </a:extLst>
          </p:cNvPr>
          <p:cNvSpPr>
            <a:spLocks noGrp="1"/>
          </p:cNvSpPr>
          <p:nvPr/>
        </p:nvSpPr>
        <p:spPr>
          <a:xfrm>
            <a:off x="1276350" y="2876550"/>
            <a:ext cx="1638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Content 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232530-6472-4268-B2C3-682E3EFDE5DD}"/>
              </a:ext>
            </a:extLst>
          </p:cNvPr>
          <p:cNvSpPr>
            <a:spLocks noGrp="1"/>
          </p:cNvSpPr>
          <p:nvPr/>
        </p:nvSpPr>
        <p:spPr>
          <a:xfrm>
            <a:off x="876300" y="3467100"/>
            <a:ext cx="19812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Administration identifies approved offices, documents, citations, and exclusions.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0AB318-2EDE-42F6-9472-435609B3B548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1981200" cy="1905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213B7-0B76-4A90-A345-32F1BDF52726}"/>
              </a:ext>
            </a:extLst>
          </p:cNvPr>
          <p:cNvSpPr>
            <a:spLocks noGrp="1"/>
          </p:cNvSpPr>
          <p:nvPr/>
        </p:nvSpPr>
        <p:spPr>
          <a:xfrm>
            <a:off x="3486150" y="2686050"/>
            <a:ext cx="24384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E84BDDB-05FA-4FDB-A63D-CF147CD316D6}"/>
              </a:ext>
            </a:extLst>
          </p:cNvPr>
          <p:cNvSpPr>
            <a:spLocks noGrp="1"/>
          </p:cNvSpPr>
          <p:nvPr/>
        </p:nvSpPr>
        <p:spPr>
          <a:xfrm>
            <a:off x="3657600" y="2857500"/>
            <a:ext cx="342900" cy="342900"/>
          </a:xfrm>
          <a:prstGeom prst="ellipse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57C230-0971-4C64-8D16-D5B2E98DE276}"/>
              </a:ext>
            </a:extLst>
          </p:cNvPr>
          <p:cNvSpPr>
            <a:spLocks noGrp="1"/>
          </p:cNvSpPr>
          <p:nvPr/>
        </p:nvSpPr>
        <p:spPr>
          <a:xfrm>
            <a:off x="3657600" y="2943225"/>
            <a:ext cx="342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F08276-0E2A-40A7-8C83-EA4EB241B0CF}"/>
              </a:ext>
            </a:extLst>
          </p:cNvPr>
          <p:cNvSpPr>
            <a:spLocks noGrp="1"/>
          </p:cNvSpPr>
          <p:nvPr/>
        </p:nvSpPr>
        <p:spPr>
          <a:xfrm>
            <a:off x="4114800" y="2876550"/>
            <a:ext cx="1638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Internal pilot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6A8CD8-5ADB-4EE9-B890-9EB1BD6CE429}"/>
              </a:ext>
            </a:extLst>
          </p:cNvPr>
          <p:cNvSpPr>
            <a:spLocks noGrp="1"/>
          </p:cNvSpPr>
          <p:nvPr/>
        </p:nvSpPr>
        <p:spPr>
          <a:xfrm>
            <a:off x="3714750" y="3467100"/>
            <a:ext cx="19812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Reviewing office and maintainers test answers, missing-source behavior, and update process.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09452A-DB91-4B5A-9251-D73525ED188D}"/>
              </a:ext>
            </a:extLst>
          </p:cNvPr>
          <p:cNvSpPr>
            <a:spLocks noGrp="1"/>
          </p:cNvSpPr>
          <p:nvPr/>
        </p:nvSpPr>
        <p:spPr>
          <a:xfrm>
            <a:off x="3714750" y="4191000"/>
            <a:ext cx="1981200" cy="190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536DB-6BC7-441C-98B9-D04C9631B44E}"/>
              </a:ext>
            </a:extLst>
          </p:cNvPr>
          <p:cNvSpPr>
            <a:spLocks noGrp="1"/>
          </p:cNvSpPr>
          <p:nvPr/>
        </p:nvSpPr>
        <p:spPr>
          <a:xfrm>
            <a:off x="6324600" y="2686050"/>
            <a:ext cx="24384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25BFDB-1E50-4D85-9A9E-75B22F656E6B}"/>
              </a:ext>
            </a:extLst>
          </p:cNvPr>
          <p:cNvSpPr>
            <a:spLocks noGrp="1"/>
          </p:cNvSpPr>
          <p:nvPr/>
        </p:nvSpPr>
        <p:spPr>
          <a:xfrm>
            <a:off x="6496050" y="2857500"/>
            <a:ext cx="342900" cy="342900"/>
          </a:xfrm>
          <a:prstGeom prst="ellipse">
            <a:avLst/>
          </a:prstGeom>
          <a:solidFill>
            <a:srgbClr val="2E7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5C1BFE-E381-4C53-9D8C-42B60D198A09}"/>
              </a:ext>
            </a:extLst>
          </p:cNvPr>
          <p:cNvSpPr>
            <a:spLocks noGrp="1"/>
          </p:cNvSpPr>
          <p:nvPr/>
        </p:nvSpPr>
        <p:spPr>
          <a:xfrm>
            <a:off x="6496050" y="2943225"/>
            <a:ext cx="342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48411D-51C9-4040-B363-0F88DE49E9FC}"/>
              </a:ext>
            </a:extLst>
          </p:cNvPr>
          <p:cNvSpPr>
            <a:spLocks noGrp="1"/>
          </p:cNvSpPr>
          <p:nvPr/>
        </p:nvSpPr>
        <p:spPr>
          <a:xfrm>
            <a:off x="6953250" y="2876550"/>
            <a:ext cx="1638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pilot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CA90A5-F36F-4D4C-AE88-8AB8290A80F8}"/>
              </a:ext>
            </a:extLst>
          </p:cNvPr>
          <p:cNvSpPr>
            <a:spLocks noGrp="1"/>
          </p:cNvSpPr>
          <p:nvPr/>
        </p:nvSpPr>
        <p:spPr>
          <a:xfrm>
            <a:off x="6553200" y="3467100"/>
            <a:ext cx="19812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Small student group tests common tasks: office concern, map, service desk, and source clarity.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7C37A3-1314-43D7-89F4-77FCFFD61666}"/>
              </a:ext>
            </a:extLst>
          </p:cNvPr>
          <p:cNvSpPr>
            <a:spLocks noGrp="1"/>
          </p:cNvSpPr>
          <p:nvPr/>
        </p:nvSpPr>
        <p:spPr>
          <a:xfrm>
            <a:off x="6553200" y="4191000"/>
            <a:ext cx="1981200" cy="19050"/>
          </a:xfrm>
          <a:prstGeom prst="rect">
            <a:avLst/>
          </a:prstGeom>
          <a:solidFill>
            <a:srgbClr val="2E7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3F2A26-7C32-4471-9BA4-590E2DFF16D3}"/>
              </a:ext>
            </a:extLst>
          </p:cNvPr>
          <p:cNvSpPr>
            <a:spLocks noGrp="1"/>
          </p:cNvSpPr>
          <p:nvPr/>
        </p:nvSpPr>
        <p:spPr>
          <a:xfrm>
            <a:off x="9163050" y="2686050"/>
            <a:ext cx="23622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28EC67A-3814-49AF-B49E-EDFD8D115B78}"/>
              </a:ext>
            </a:extLst>
          </p:cNvPr>
          <p:cNvSpPr>
            <a:spLocks noGrp="1"/>
          </p:cNvSpPr>
          <p:nvPr/>
        </p:nvSpPr>
        <p:spPr>
          <a:xfrm>
            <a:off x="9334500" y="2857500"/>
            <a:ext cx="342900" cy="342900"/>
          </a:xfrm>
          <a:prstGeom prst="ellipse">
            <a:avLst/>
          </a:prstGeom>
          <a:solidFill>
            <a:srgbClr val="2E5E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EBBAF7-FD28-41FC-ABB1-9DFD67C494BE}"/>
              </a:ext>
            </a:extLst>
          </p:cNvPr>
          <p:cNvSpPr>
            <a:spLocks noGrp="1"/>
          </p:cNvSpPr>
          <p:nvPr/>
        </p:nvSpPr>
        <p:spPr>
          <a:xfrm>
            <a:off x="9334500" y="2943225"/>
            <a:ext cx="342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B176B5-2BFB-46B7-91ED-3DB1AE383263}"/>
              </a:ext>
            </a:extLst>
          </p:cNvPr>
          <p:cNvSpPr>
            <a:spLocks noGrp="1"/>
          </p:cNvSpPr>
          <p:nvPr/>
        </p:nvSpPr>
        <p:spPr>
          <a:xfrm>
            <a:off x="9791700" y="2876550"/>
            <a:ext cx="1562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Deployment decision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9C1906-B443-4C00-9916-147B973D4DC5}"/>
              </a:ext>
            </a:extLst>
          </p:cNvPr>
          <p:cNvSpPr>
            <a:spLocks noGrp="1"/>
          </p:cNvSpPr>
          <p:nvPr/>
        </p:nvSpPr>
        <p:spPr>
          <a:xfrm>
            <a:off x="9391650" y="3467100"/>
            <a:ext cx="1905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Admin decides whether to publish, how to govern distribution, and who maintains it.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0A680F-352D-4E06-BAA7-8C0169B763E7}"/>
              </a:ext>
            </a:extLst>
          </p:cNvPr>
          <p:cNvSpPr>
            <a:spLocks noGrp="1"/>
          </p:cNvSpPr>
          <p:nvPr/>
        </p:nvSpPr>
        <p:spPr>
          <a:xfrm>
            <a:off x="9391650" y="4191000"/>
            <a:ext cx="1905000" cy="19050"/>
          </a:xfrm>
          <a:prstGeom prst="rect">
            <a:avLst/>
          </a:prstGeom>
          <a:solidFill>
            <a:srgbClr val="2E5E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55A8454-0AA7-489D-BD54-8F39B4D36951}"/>
              </a:ext>
            </a:extLst>
          </p:cNvPr>
          <p:cNvSpPr>
            <a:spLocks noGrp="1"/>
          </p:cNvSpPr>
          <p:nvPr/>
        </p:nvSpPr>
        <p:spPr>
          <a:xfrm>
            <a:off x="3086100" y="3548063"/>
            <a:ext cx="314325" cy="28575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284D75-05F7-44B9-8605-DFE8DE562248}"/>
              </a:ext>
            </a:extLst>
          </p:cNvPr>
          <p:cNvSpPr>
            <a:spLocks noGrp="1"/>
          </p:cNvSpPr>
          <p:nvPr/>
        </p:nvSpPr>
        <p:spPr>
          <a:xfrm>
            <a:off x="3400425" y="3514725"/>
            <a:ext cx="85725" cy="952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F3D2BE-02D0-4964-83C9-11CA220A73C8}"/>
              </a:ext>
            </a:extLst>
          </p:cNvPr>
          <p:cNvSpPr>
            <a:spLocks noGrp="1"/>
          </p:cNvSpPr>
          <p:nvPr/>
        </p:nvSpPr>
        <p:spPr>
          <a:xfrm>
            <a:off x="5924550" y="3548063"/>
            <a:ext cx="314325" cy="28575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EB9703-2155-484E-8838-A30CBA970E3A}"/>
              </a:ext>
            </a:extLst>
          </p:cNvPr>
          <p:cNvSpPr>
            <a:spLocks noGrp="1"/>
          </p:cNvSpPr>
          <p:nvPr/>
        </p:nvSpPr>
        <p:spPr>
          <a:xfrm>
            <a:off x="6238875" y="3514725"/>
            <a:ext cx="85725" cy="952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72AF542-3114-4A98-8C46-418C539F8B4B}"/>
              </a:ext>
            </a:extLst>
          </p:cNvPr>
          <p:cNvSpPr>
            <a:spLocks noGrp="1"/>
          </p:cNvSpPr>
          <p:nvPr/>
        </p:nvSpPr>
        <p:spPr>
          <a:xfrm>
            <a:off x="8763000" y="3548063"/>
            <a:ext cx="314325" cy="28575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2D6514-8F90-4BBA-AF6E-CAA0E2BF6882}"/>
              </a:ext>
            </a:extLst>
          </p:cNvPr>
          <p:cNvSpPr>
            <a:spLocks noGrp="1"/>
          </p:cNvSpPr>
          <p:nvPr/>
        </p:nvSpPr>
        <p:spPr>
          <a:xfrm>
            <a:off x="9077325" y="3514725"/>
            <a:ext cx="85725" cy="952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507DFC1-C3C8-4499-8798-E95E10BB5EE4}"/>
              </a:ext>
            </a:extLst>
          </p:cNvPr>
          <p:cNvSpPr>
            <a:spLocks noGrp="1"/>
          </p:cNvSpPr>
          <p:nvPr/>
        </p:nvSpPr>
        <p:spPr>
          <a:xfrm>
            <a:off x="1619250" y="5219700"/>
            <a:ext cx="8953500" cy="590550"/>
          </a:xfrm>
          <a:prstGeom prst="rect">
            <a:avLst/>
          </a:prstGeom>
          <a:solidFill>
            <a:srgbClr val="FFF3C7"/>
          </a:solidFill>
          <a:ln w="9525">
            <a:solidFill>
              <a:srgbClr val="E3C4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736D7CF-2AC2-4120-A8C7-6D88EA47D5FC}"/>
              </a:ext>
            </a:extLst>
          </p:cNvPr>
          <p:cNvSpPr>
            <a:spLocks noGrp="1"/>
          </p:cNvSpPr>
          <p:nvPr/>
        </p:nvSpPr>
        <p:spPr>
          <a:xfrm>
            <a:off x="1924050" y="5429250"/>
            <a:ext cx="834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Decision gate after each phase: continue, revise, limit scope, or stop.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1412D2-2508-4297-852A-07B4B8E3E26A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9E7BE6-EBFC-4DA4-B979-353C19440E0F}"/>
              </a:ext>
            </a:extLst>
          </p:cNvPr>
          <p:cNvSpPr>
            <a:spLocks noGrp="1"/>
          </p:cNvSpPr>
          <p:nvPr/>
        </p:nvSpPr>
        <p:spPr>
          <a:xfrm>
            <a:off x="11277600" y="648652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09674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1791F12-1043-464A-8C8A-5319B40869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6E12CBFD-D10F-46EB-A925-51444894B73E}"/>
              </a:ext>
            </a:extLst>
          </p:cNvPr>
          <p:cNvSpPr>
            <a:spLocks noGrp="1"/>
          </p:cNvSpPr>
          <p:nvPr/>
        </p:nvSpPr>
        <p:spPr>
          <a:xfrm>
            <a:off x="552450" y="542925"/>
            <a:ext cx="76200" cy="76200"/>
          </a:xfrm>
          <a:prstGeom prst="ellipse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533CFA40-723C-4ED8-8070-F6BA2FEC4751}"/>
              </a:ext>
            </a:extLst>
          </p:cNvPr>
          <p:cNvSpPr>
            <a:spLocks noGrp="1"/>
          </p:cNvSpPr>
          <p:nvPr/>
        </p:nvSpPr>
        <p:spPr>
          <a:xfrm>
            <a:off x="704850" y="514350"/>
            <a:ext cx="4000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863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REQUESTED ADMINISTRATIVE 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745FCC-277F-4EB5-ACF7-3CFAEEEEA5C1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7524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Approve a supervised pilot review, not a blind launch.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AAA75D-9EB7-4DC3-B61C-4351658A7532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6858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F8E6EC"/>
                </a:solidFill>
                <a:latin typeface="Aptos"/>
                <a:ea typeface="Aptos"/>
                <a:cs typeface="Aptos"/>
              </a:rPr>
              <a:t>The proposal letter carry the formal terms. The presentation close on the next practical decision.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ED4284D-9D04-4CCC-A0C6-C90F25CB90A9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209550" cy="209550"/>
          </a:xfrm>
          <a:prstGeom prst="ellipse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5EAD2A-FF54-4B34-8C08-0008CF2DADF6}"/>
              </a:ext>
            </a:extLst>
          </p:cNvPr>
          <p:cNvSpPr>
            <a:spLocks noGrp="1"/>
          </p:cNvSpPr>
          <p:nvPr/>
        </p:nvSpPr>
        <p:spPr>
          <a:xfrm>
            <a:off x="695325" y="3019425"/>
            <a:ext cx="190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925607-4B00-4745-AB8A-9DFACBFF682E}"/>
              </a:ext>
            </a:extLst>
          </p:cNvPr>
          <p:cNvSpPr>
            <a:spLocks noGrp="1"/>
          </p:cNvSpPr>
          <p:nvPr/>
        </p:nvSpPr>
        <p:spPr>
          <a:xfrm>
            <a:off x="1009650" y="297180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Assign a reviewing office or evaluation owner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A3DC19-0888-401F-82EC-AD0AC86B8FCF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209550" cy="209550"/>
          </a:xfrm>
          <a:prstGeom prst="ellipse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19FD72-2BEE-4924-88D4-DDD2BE1BF1F9}"/>
              </a:ext>
            </a:extLst>
          </p:cNvPr>
          <p:cNvSpPr>
            <a:spLocks noGrp="1"/>
          </p:cNvSpPr>
          <p:nvPr/>
        </p:nvSpPr>
        <p:spPr>
          <a:xfrm>
            <a:off x="695325" y="3552825"/>
            <a:ext cx="190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F363B5-ADDD-4E42-A835-1ABC2DFFCDA2}"/>
              </a:ext>
            </a:extLst>
          </p:cNvPr>
          <p:cNvSpPr>
            <a:spLocks noGrp="1"/>
          </p:cNvSpPr>
          <p:nvPr/>
        </p:nvSpPr>
        <p:spPr>
          <a:xfrm>
            <a:off x="1009650" y="350520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which campus information can be included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B86AAA-EB3B-4FE2-B88C-7DDFEB39416C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209550" cy="209550"/>
          </a:xfrm>
          <a:prstGeom prst="ellipse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F92280-65A7-4C07-90AC-FB36CE1D2994}"/>
              </a:ext>
            </a:extLst>
          </p:cNvPr>
          <p:cNvSpPr>
            <a:spLocks noGrp="1"/>
          </p:cNvSpPr>
          <p:nvPr/>
        </p:nvSpPr>
        <p:spPr>
          <a:xfrm>
            <a:off x="695325" y="4086225"/>
            <a:ext cx="190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7B8320-D0D9-4732-9419-42EDB7D0B8A8}"/>
              </a:ext>
            </a:extLst>
          </p:cNvPr>
          <p:cNvSpPr>
            <a:spLocks noGrp="1"/>
          </p:cNvSpPr>
          <p:nvPr/>
        </p:nvSpPr>
        <p:spPr>
          <a:xfrm>
            <a:off x="1009650" y="403860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a small, supervised student pilot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AC910A2-B0CB-466E-8230-BD700EE23800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209550" cy="209550"/>
          </a:xfrm>
          <a:prstGeom prst="ellipse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85C82F-FB98-4EC5-9EAA-FE4A6403F134}"/>
              </a:ext>
            </a:extLst>
          </p:cNvPr>
          <p:cNvSpPr>
            <a:spLocks noGrp="1"/>
          </p:cNvSpPr>
          <p:nvPr/>
        </p:nvSpPr>
        <p:spPr>
          <a:xfrm>
            <a:off x="695325" y="4619625"/>
            <a:ext cx="190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7BD441-804A-4871-A1C6-563AE719E2A3}"/>
              </a:ext>
            </a:extLst>
          </p:cNvPr>
          <p:cNvSpPr>
            <a:spLocks noGrp="1"/>
          </p:cNvSpPr>
          <p:nvPr/>
        </p:nvSpPr>
        <p:spPr>
          <a:xfrm>
            <a:off x="1009650" y="457200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Decide distribution and maintenance after evidence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A65E273-452E-4D08-AD78-9ED61D608327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209550" cy="209550"/>
          </a:xfrm>
          <a:prstGeom prst="ellipse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865203-525B-4CE6-8E36-B95673B5CB35}"/>
              </a:ext>
            </a:extLst>
          </p:cNvPr>
          <p:cNvSpPr>
            <a:spLocks noGrp="1"/>
          </p:cNvSpPr>
          <p:nvPr/>
        </p:nvSpPr>
        <p:spPr>
          <a:xfrm>
            <a:off x="695325" y="5153025"/>
            <a:ext cx="190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6B9A93-EA60-4887-B677-B10686F5FA59}"/>
              </a:ext>
            </a:extLst>
          </p:cNvPr>
          <p:cNvSpPr>
            <a:spLocks noGrp="1"/>
          </p:cNvSpPr>
          <p:nvPr/>
        </p:nvSpPr>
        <p:spPr>
          <a:xfrm>
            <a:off x="1009650" y="510540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 acceptable developer attribution if deployed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6DEF21-53FD-414E-B7F5-4D507EEBE23E}"/>
              </a:ext>
            </a:extLst>
          </p:cNvPr>
          <p:cNvSpPr>
            <a:spLocks noGrp="1"/>
          </p:cNvSpPr>
          <p:nvPr/>
        </p:nvSpPr>
        <p:spPr>
          <a:xfrm>
            <a:off x="8839200" y="1066800"/>
            <a:ext cx="2133600" cy="4762500"/>
          </a:xfrm>
          <a:prstGeom prst="rect">
            <a:avLst/>
          </a:prstGeom>
          <a:solidFill>
            <a:srgbClr val="181316"/>
          </a:solidFill>
          <a:ln w="9525">
            <a:solidFill>
              <a:srgbClr val="2E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15400" y="1245772"/>
            <a:ext cx="1981200" cy="440455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15AFBE7-2475-4DFC-909B-52E9B60DB014}"/>
              </a:ext>
            </a:extLst>
          </p:cNvPr>
          <p:cNvSpPr>
            <a:spLocks noGrp="1"/>
          </p:cNvSpPr>
          <p:nvPr/>
        </p:nvSpPr>
        <p:spPr>
          <a:xfrm>
            <a:off x="8839200" y="5924550"/>
            <a:ext cx="2133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6EC"/>
                </a:solidFill>
                <a:latin typeface="Aptos"/>
                <a:ea typeface="Aptos"/>
                <a:cs typeface="Aptos"/>
              </a:rPr>
              <a:t>Haki remains a TUPT-controlled service candidate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CF2FB1-4AEB-42EF-A5CD-97408CA0CE3A}"/>
              </a:ext>
            </a:extLst>
          </p:cNvPr>
          <p:cNvSpPr>
            <a:spLocks noGrp="1"/>
          </p:cNvSpPr>
          <p:nvPr/>
        </p:nvSpPr>
        <p:spPr>
          <a:xfrm>
            <a:off x="552450" y="5905500"/>
            <a:ext cx="6953250" cy="19050"/>
          </a:xfrm>
          <a:prstGeom prst="rect">
            <a:avLst/>
          </a:prstGeom>
          <a:solidFill>
            <a:srgbClr val="D6A2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98F843-7E89-4A39-BEE4-E0BE9FA0A9F8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lang="en-US" sz="1200" b="1" dirty="0">
                <a:solidFill>
                  <a:srgbClr val="FFF3C7"/>
                </a:solidFill>
                <a:latin typeface="Aptos"/>
                <a:ea typeface="Aptos"/>
                <a:cs typeface="Aptos"/>
              </a:rPr>
              <a:t>Built </a:t>
            </a:r>
            <a:r>
              <a:rPr sz="1200" b="1" dirty="0">
                <a:solidFill>
                  <a:srgbClr val="FFF3C7"/>
                </a:solidFill>
                <a:latin typeface="Aptos"/>
                <a:ea typeface="Aptos"/>
                <a:cs typeface="Aptos"/>
              </a:rPr>
              <a:t>Haki for the TUPT community, but the Administration should decide how it is reviewed, governed, and released.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4B090A-8E60-43AB-9CF5-943B7506F5D1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DCE3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3C8E93-B1B3-4E90-B863-6339ADDE047C}"/>
              </a:ext>
            </a:extLst>
          </p:cNvPr>
          <p:cNvSpPr>
            <a:spLocks noGrp="1"/>
          </p:cNvSpPr>
          <p:nvPr/>
        </p:nvSpPr>
        <p:spPr>
          <a:xfrm>
            <a:off x="11277600" y="648652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CE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9632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4CB09E6-EFC0-4F07-8E61-B861D97EE1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DD22B2-7A06-4659-88DE-46F1CAD8AD17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5829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E94038-607A-4DBF-B6ED-46382C4D77D1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76200" cy="5829300"/>
          </a:xfrm>
          <a:prstGeom prst="rect">
            <a:avLst/>
          </a:prstGeom>
          <a:solidFill>
            <a:srgbClr val="8A00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DCE769-A1CB-43BA-A9FB-868B71FA12D4}"/>
              </a:ext>
            </a:extLst>
          </p:cNvPr>
          <p:cNvSpPr>
            <a:spLocks noGrp="1"/>
          </p:cNvSpPr>
          <p:nvPr/>
        </p:nvSpPr>
        <p:spPr>
          <a:xfrm>
            <a:off x="838200" y="876300"/>
            <a:ext cx="66675" cy="66675"/>
          </a:xfrm>
          <a:prstGeom prst="ellipse">
            <a:avLst/>
          </a:prstGeom>
          <a:solidFill>
            <a:srgbClr val="D6A5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CDD94F-2206-41AF-8D80-AD92721EB930}"/>
              </a:ext>
            </a:extLst>
          </p:cNvPr>
          <p:cNvSpPr>
            <a:spLocks noGrp="1"/>
          </p:cNvSpPr>
          <p:nvPr/>
        </p:nvSpPr>
        <p:spPr>
          <a:xfrm>
            <a:off x="990600" y="8001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E9EDE1-897B-4D93-A777-240754254744}"/>
              </a:ext>
            </a:extLst>
          </p:cNvPr>
          <p:cNvSpPr>
            <a:spLocks noGrp="1"/>
          </p:cNvSpPr>
          <p:nvPr/>
        </p:nvSpPr>
        <p:spPr>
          <a:xfrm>
            <a:off x="838200" y="6153150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3892C7-191B-4767-A613-79CBEF8F9A5A}"/>
              </a:ext>
            </a:extLst>
          </p:cNvPr>
          <p:cNvSpPr>
            <a:spLocks noGrp="1"/>
          </p:cNvSpPr>
          <p:nvPr/>
        </p:nvSpPr>
        <p:spPr>
          <a:xfrm>
            <a:off x="11277600" y="615315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2EF0F3-B82C-4BA2-8ACA-E46DE45DA2C4}"/>
              </a:ext>
            </a:extLst>
          </p:cNvPr>
          <p:cNvSpPr>
            <a:spLocks noGrp="1"/>
          </p:cNvSpPr>
          <p:nvPr/>
        </p:nvSpPr>
        <p:spPr>
          <a:xfrm>
            <a:off x="6896100" y="895350"/>
            <a:ext cx="3333750" cy="3333750"/>
          </a:xfrm>
          <a:prstGeom prst="ellipse">
            <a:avLst/>
          </a:prstGeom>
          <a:solidFill>
            <a:srgbClr val="FFF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FA9C66-7119-4280-9C91-BEE0EB044737}"/>
              </a:ext>
            </a:extLst>
          </p:cNvPr>
          <p:cNvSpPr>
            <a:spLocks noGrp="1"/>
          </p:cNvSpPr>
          <p:nvPr/>
        </p:nvSpPr>
        <p:spPr>
          <a:xfrm>
            <a:off x="7429500" y="5086350"/>
            <a:ext cx="3429000" cy="323850"/>
          </a:xfrm>
          <a:prstGeom prst="ellipse">
            <a:avLst/>
          </a:prstGeom>
          <a:solidFill>
            <a:srgbClr val="E8D6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14298" y="438150"/>
            <a:ext cx="4497403" cy="56197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4969675-58F4-4285-8AAD-DF9C7B583D4A}"/>
              </a:ext>
            </a:extLst>
          </p:cNvPr>
          <p:cNvSpPr>
            <a:spLocks noGrp="1"/>
          </p:cNvSpPr>
          <p:nvPr/>
        </p:nvSpPr>
        <p:spPr>
          <a:xfrm>
            <a:off x="838200" y="1504950"/>
            <a:ext cx="533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3300" b="1">
                <a:solidFill>
                  <a:srgbClr val="8A001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8A001C"/>
                </a:solidFill>
                <a:latin typeface="Aptos Display"/>
                <a:ea typeface="Aptos Display"/>
                <a:cs typeface="Aptos Display"/>
              </a:rPr>
              <a:t>Haki App Exploration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3309C2-0655-4C39-AC9D-53DE85CC89D6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5334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8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A student walkthrough from question to campus action.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C38DE2-392F-4E14-87C7-430B5869C06F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5334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next slides mimic how a </a:t>
            </a:r>
            <a:r>
              <a:rPr sz="1275" b="0" dirty="0" err="1">
                <a:solidFill>
                  <a:srgbClr val="6D6262"/>
                </a:solidFill>
                <a:latin typeface="Aptos"/>
                <a:ea typeface="Aptos"/>
                <a:cs typeface="Aptos"/>
              </a:rPr>
              <a:t>TUP</a:t>
            </a:r>
            <a:r>
              <a:rPr lang="en-US" sz="1275" b="0" dirty="0" err="1">
                <a:solidFill>
                  <a:srgbClr val="6D6262"/>
                </a:solidFill>
                <a:latin typeface="Aptos"/>
                <a:ea typeface="Aptos"/>
                <a:cs typeface="Aptos"/>
              </a:rPr>
              <a:t>T</a:t>
            </a:r>
            <a:r>
              <a:rPr sz="1275" b="0" dirty="0" err="1">
                <a:solidFill>
                  <a:srgbClr val="6D6262"/>
                </a:solidFill>
                <a:latin typeface="Aptos"/>
                <a:ea typeface="Aptos"/>
                <a:cs typeface="Aptos"/>
              </a:rPr>
              <a:t>ian</a:t>
            </a:r>
            <a:r>
              <a:rPr sz="1275" b="0" dirty="0">
                <a:solidFill>
                  <a:srgbClr val="6D6262"/>
                </a:solidFill>
                <a:latin typeface="Aptos"/>
                <a:ea typeface="Aptos"/>
                <a:cs typeface="Aptos"/>
              </a:rPr>
              <a:t> could use Haki during a normal campus task: ask, verify, locate, prepare, then use student-life tools when needed.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2F6183-92FA-4E94-ABA6-BF167D7668A1}"/>
              </a:ext>
            </a:extLst>
          </p:cNvPr>
          <p:cNvSpPr>
            <a:spLocks noGrp="1"/>
          </p:cNvSpPr>
          <p:nvPr/>
        </p:nvSpPr>
        <p:spPr>
          <a:xfrm>
            <a:off x="838200" y="4324350"/>
            <a:ext cx="10287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120DFB-8014-44D3-8A35-B183AD91C45D}"/>
              </a:ext>
            </a:extLst>
          </p:cNvPr>
          <p:cNvSpPr>
            <a:spLocks noGrp="1"/>
          </p:cNvSpPr>
          <p:nvPr/>
        </p:nvSpPr>
        <p:spPr>
          <a:xfrm>
            <a:off x="914400" y="4400550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ctr">
              <a:defRPr sz="975" b="1">
                <a:solidFill>
                  <a:srgbClr val="2E7D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DB2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A9B097-9F15-442D-9513-DD2F080F9D80}"/>
              </a:ext>
            </a:extLst>
          </p:cNvPr>
          <p:cNvSpPr>
            <a:spLocks noGrp="1"/>
          </p:cNvSpPr>
          <p:nvPr/>
        </p:nvSpPr>
        <p:spPr>
          <a:xfrm>
            <a:off x="2038350" y="4324350"/>
            <a:ext cx="10287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1B0089-4B50-4552-A66D-1985A6A64117}"/>
              </a:ext>
            </a:extLst>
          </p:cNvPr>
          <p:cNvSpPr>
            <a:spLocks noGrp="1"/>
          </p:cNvSpPr>
          <p:nvPr/>
        </p:nvSpPr>
        <p:spPr>
          <a:xfrm>
            <a:off x="2114550" y="4400550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ctr">
              <a:defRPr sz="975" b="1">
                <a:solidFill>
                  <a:srgbClr val="14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A3D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99EA66-A941-4BFC-A8AE-9B84D06B53F2}"/>
              </a:ext>
            </a:extLst>
          </p:cNvPr>
          <p:cNvSpPr>
            <a:spLocks noGrp="1"/>
          </p:cNvSpPr>
          <p:nvPr/>
        </p:nvSpPr>
        <p:spPr>
          <a:xfrm>
            <a:off x="3238500" y="4324350"/>
            <a:ext cx="10287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820984-7340-433B-B145-58F62B1BBF68}"/>
              </a:ext>
            </a:extLst>
          </p:cNvPr>
          <p:cNvSpPr>
            <a:spLocks noGrp="1"/>
          </p:cNvSpPr>
          <p:nvPr/>
        </p:nvSpPr>
        <p:spPr>
          <a:xfrm>
            <a:off x="3314700" y="4400550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ctr">
              <a:defRPr sz="975" b="1">
                <a:solidFill>
                  <a:srgbClr val="C45A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5A1B"/>
                </a:solidFill>
                <a:latin typeface="Aptos"/>
                <a:ea typeface="Aptos"/>
                <a:cs typeface="Aptos"/>
              </a:rPr>
              <a:t>Locate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503C17-E34A-4E9C-BC4C-F30245FF44DD}"/>
              </a:ext>
            </a:extLst>
          </p:cNvPr>
          <p:cNvSpPr>
            <a:spLocks noGrp="1"/>
          </p:cNvSpPr>
          <p:nvPr/>
        </p:nvSpPr>
        <p:spPr>
          <a:xfrm>
            <a:off x="4438650" y="4324350"/>
            <a:ext cx="10287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6135A2-DED9-458C-A39A-46E7FB4F0901}"/>
              </a:ext>
            </a:extLst>
          </p:cNvPr>
          <p:cNvSpPr>
            <a:spLocks noGrp="1"/>
          </p:cNvSpPr>
          <p:nvPr/>
        </p:nvSpPr>
        <p:spPr>
          <a:xfrm>
            <a:off x="4514850" y="4400550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ctr">
              <a:defRPr sz="975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</p:spTree>
    <p:extLst>
      <p:ext uri="{BB962C8B-B14F-4D97-AF65-F5344CB8AC3E}">
        <p14:creationId xmlns:p14="http://schemas.microsoft.com/office/powerpoint/2010/main" val="1662755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53DFDB3-95A4-42F1-9E0B-487B68C34D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2C5162-2A79-451F-A505-02559E4DCBF7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5829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0925CB-7A11-4D4A-AD11-3CDE29457B19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76200" cy="5829300"/>
          </a:xfrm>
          <a:prstGeom prst="rect">
            <a:avLst/>
          </a:prstGeom>
          <a:solidFill>
            <a:srgbClr val="8A00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B5B667E-42E5-4E14-9825-DE7F64410854}"/>
              </a:ext>
            </a:extLst>
          </p:cNvPr>
          <p:cNvSpPr>
            <a:spLocks noGrp="1"/>
          </p:cNvSpPr>
          <p:nvPr/>
        </p:nvSpPr>
        <p:spPr>
          <a:xfrm>
            <a:off x="838200" y="876300"/>
            <a:ext cx="66675" cy="66675"/>
          </a:xfrm>
          <a:prstGeom prst="ellipse">
            <a:avLst/>
          </a:prstGeom>
          <a:solidFill>
            <a:srgbClr val="D6A5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EFE4B1-C771-4C99-A336-6E3098D50A49}"/>
              </a:ext>
            </a:extLst>
          </p:cNvPr>
          <p:cNvSpPr>
            <a:spLocks noGrp="1"/>
          </p:cNvSpPr>
          <p:nvPr/>
        </p:nvSpPr>
        <p:spPr>
          <a:xfrm>
            <a:off x="990600" y="8001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7CB678-9E23-451B-850A-0339AA8ABB06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A student starts from the Haki home screen.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3667AA-C568-4AE7-8976-B7701F1B40A3}"/>
              </a:ext>
            </a:extLst>
          </p:cNvPr>
          <p:cNvSpPr>
            <a:spLocks noGrp="1"/>
          </p:cNvSpPr>
          <p:nvPr/>
        </p:nvSpPr>
        <p:spPr>
          <a:xfrm>
            <a:off x="838200" y="6153150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F36EE9-9574-4F46-97B9-581A4EDAF93F}"/>
              </a:ext>
            </a:extLst>
          </p:cNvPr>
          <p:cNvSpPr>
            <a:spLocks noGrp="1"/>
          </p:cNvSpPr>
          <p:nvPr/>
        </p:nvSpPr>
        <p:spPr>
          <a:xfrm>
            <a:off x="11277600" y="615315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8827C4-D669-416A-9E90-D948CD63D98F}"/>
              </a:ext>
            </a:extLst>
          </p:cNvPr>
          <p:cNvSpPr>
            <a:spLocks noGrp="1"/>
          </p:cNvSpPr>
          <p:nvPr/>
        </p:nvSpPr>
        <p:spPr>
          <a:xfrm>
            <a:off x="1181100" y="1771650"/>
            <a:ext cx="2000250" cy="4267200"/>
          </a:xfrm>
          <a:prstGeom prst="rect">
            <a:avLst/>
          </a:prstGeom>
          <a:solidFill>
            <a:srgbClr val="211C1D"/>
          </a:solidFill>
          <a:ln w="9525">
            <a:solidFill>
              <a:srgbClr val="211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419ADD-7FC0-46B5-960B-2B0676C97299}"/>
              </a:ext>
            </a:extLst>
          </p:cNvPr>
          <p:cNvSpPr>
            <a:spLocks noGrp="1"/>
          </p:cNvSpPr>
          <p:nvPr/>
        </p:nvSpPr>
        <p:spPr>
          <a:xfrm>
            <a:off x="1238250" y="1828800"/>
            <a:ext cx="1885950" cy="41529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7300" y="1850617"/>
            <a:ext cx="1847850" cy="410926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45DB8F0-8735-483B-A18A-EEAD9D942B69}"/>
              </a:ext>
            </a:extLst>
          </p:cNvPr>
          <p:cNvSpPr>
            <a:spLocks noGrp="1"/>
          </p:cNvSpPr>
          <p:nvPr/>
        </p:nvSpPr>
        <p:spPr>
          <a:xfrm>
            <a:off x="3790950" y="1828800"/>
            <a:ext cx="14288" cy="4133850"/>
          </a:xfrm>
          <a:prstGeom prst="rect">
            <a:avLst/>
          </a:prstGeom>
          <a:solidFill>
            <a:srgbClr val="E4D8C8"/>
          </a:solidFill>
          <a:ln w="0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6021F0-5A90-4B1D-A3D9-DFAAB980B4A0}"/>
              </a:ext>
            </a:extLst>
          </p:cNvPr>
          <p:cNvSpPr>
            <a:spLocks noGrp="1"/>
          </p:cNvSpPr>
          <p:nvPr/>
        </p:nvSpPr>
        <p:spPr>
          <a:xfrm>
            <a:off x="4133850" y="19431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STUDENT 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7CBDFA-C753-4628-A1DF-8998EEB2BCFA}"/>
              </a:ext>
            </a:extLst>
          </p:cNvPr>
          <p:cNvSpPr>
            <a:spLocks noGrp="1"/>
          </p:cNvSpPr>
          <p:nvPr/>
        </p:nvSpPr>
        <p:spPr>
          <a:xfrm>
            <a:off x="4133850" y="2266950"/>
            <a:ext cx="63246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5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The home screen gives students a starting point without hiding the app context.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ED345F-C394-4A2B-AC28-C5EDA73190A5}"/>
              </a:ext>
            </a:extLst>
          </p:cNvPr>
          <p:cNvSpPr>
            <a:spLocks noGrp="1"/>
          </p:cNvSpPr>
          <p:nvPr/>
        </p:nvSpPr>
        <p:spPr>
          <a:xfrm>
            <a:off x="4133850" y="3143250"/>
            <a:ext cx="63246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5BF773-7476-4AF4-A014-4CCF7B3E2FBB}"/>
              </a:ext>
            </a:extLst>
          </p:cNvPr>
          <p:cNvSpPr>
            <a:spLocks noGrp="1"/>
          </p:cNvSpPr>
          <p:nvPr/>
        </p:nvSpPr>
        <p:spPr>
          <a:xfrm>
            <a:off x="4133850" y="3143250"/>
            <a:ext cx="47625" cy="742950"/>
          </a:xfrm>
          <a:prstGeom prst="rect">
            <a:avLst/>
          </a:prstGeom>
          <a:solidFill>
            <a:srgbClr val="8A00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324350" y="3362325"/>
            <a:ext cx="247650" cy="2476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52C71E0-1D5C-43AF-BA71-F07D7A730FD2}"/>
              </a:ext>
            </a:extLst>
          </p:cNvPr>
          <p:cNvSpPr>
            <a:spLocks noGrp="1"/>
          </p:cNvSpPr>
          <p:nvPr/>
        </p:nvSpPr>
        <p:spPr>
          <a:xfrm>
            <a:off x="4724400" y="3248025"/>
            <a:ext cx="539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Direct path to Chat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1D6E74-43D9-4F1A-9FE7-18202A3280A3}"/>
              </a:ext>
            </a:extLst>
          </p:cNvPr>
          <p:cNvSpPr>
            <a:spLocks noGrp="1"/>
          </p:cNvSpPr>
          <p:nvPr/>
        </p:nvSpPr>
        <p:spPr>
          <a:xfrm>
            <a:off x="4724400" y="3505200"/>
            <a:ext cx="539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first action points students toward asking Haki about routine campus concerns.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D2E525-1367-4BE6-BF7A-CB60517C1B95}"/>
              </a:ext>
            </a:extLst>
          </p:cNvPr>
          <p:cNvSpPr>
            <a:spLocks noGrp="1"/>
          </p:cNvSpPr>
          <p:nvPr/>
        </p:nvSpPr>
        <p:spPr>
          <a:xfrm>
            <a:off x="4133850" y="3981450"/>
            <a:ext cx="63246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3F3672-9231-443F-931F-A6491787754D}"/>
              </a:ext>
            </a:extLst>
          </p:cNvPr>
          <p:cNvSpPr>
            <a:spLocks noGrp="1"/>
          </p:cNvSpPr>
          <p:nvPr/>
        </p:nvSpPr>
        <p:spPr>
          <a:xfrm>
            <a:off x="4133850" y="3981450"/>
            <a:ext cx="47625" cy="742950"/>
          </a:xfrm>
          <a:prstGeom prst="rect">
            <a:avLst/>
          </a:prstGeom>
          <a:solidFill>
            <a:srgbClr val="2E7D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324350" y="4200525"/>
            <a:ext cx="247650" cy="2476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2048D4E-4676-47C2-BF4D-5FB0A82B2CAD}"/>
              </a:ext>
            </a:extLst>
          </p:cNvPr>
          <p:cNvSpPr>
            <a:spLocks noGrp="1"/>
          </p:cNvSpPr>
          <p:nvPr/>
        </p:nvSpPr>
        <p:spPr>
          <a:xfrm>
            <a:off x="4724400" y="4086225"/>
            <a:ext cx="539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Suggested prompts stay visible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FDA77A-0ECA-4665-A77F-57B9FC8E5E83}"/>
              </a:ext>
            </a:extLst>
          </p:cNvPr>
          <p:cNvSpPr>
            <a:spLocks noGrp="1"/>
          </p:cNvSpPr>
          <p:nvPr/>
        </p:nvSpPr>
        <p:spPr>
          <a:xfrm>
            <a:off x="4724400" y="4343400"/>
            <a:ext cx="539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Common questions help new students ask in the right direction.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6B063A-E043-426C-9DD8-92666BB778D1}"/>
              </a:ext>
            </a:extLst>
          </p:cNvPr>
          <p:cNvSpPr>
            <a:spLocks noGrp="1"/>
          </p:cNvSpPr>
          <p:nvPr/>
        </p:nvSpPr>
        <p:spPr>
          <a:xfrm>
            <a:off x="4133850" y="4819650"/>
            <a:ext cx="63246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B5F994-F9C1-4A0A-8AF5-3A3441C88E2A}"/>
              </a:ext>
            </a:extLst>
          </p:cNvPr>
          <p:cNvSpPr>
            <a:spLocks noGrp="1"/>
          </p:cNvSpPr>
          <p:nvPr/>
        </p:nvSpPr>
        <p:spPr>
          <a:xfrm>
            <a:off x="4133850" y="4819650"/>
            <a:ext cx="47625" cy="742950"/>
          </a:xfrm>
          <a:prstGeom prst="rect">
            <a:avLst/>
          </a:prstGeom>
          <a:solidFill>
            <a:srgbClr val="D6A5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Graphic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324350" y="5038725"/>
            <a:ext cx="247650" cy="24765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8019878-5548-454C-B118-280F46B079D4}"/>
              </a:ext>
            </a:extLst>
          </p:cNvPr>
          <p:cNvSpPr>
            <a:spLocks noGrp="1"/>
          </p:cNvSpPr>
          <p:nvPr/>
        </p:nvSpPr>
        <p:spPr>
          <a:xfrm>
            <a:off x="4724400" y="4924425"/>
            <a:ext cx="539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Navigation remains available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7F6D0E-F0D0-4D5C-8DD3-FD4A440B1AC9}"/>
              </a:ext>
            </a:extLst>
          </p:cNvPr>
          <p:cNvSpPr>
            <a:spLocks noGrp="1"/>
          </p:cNvSpPr>
          <p:nvPr/>
        </p:nvSpPr>
        <p:spPr>
          <a:xfrm>
            <a:off x="4724400" y="5181600"/>
            <a:ext cx="539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full screenshot shows the bottom tabs and home context together.</a:t>
            </a:r>
          </a:p>
        </p:txBody>
      </p:sp>
    </p:spTree>
    <p:extLst>
      <p:ext uri="{BB962C8B-B14F-4D97-AF65-F5344CB8AC3E}">
        <p14:creationId xmlns:p14="http://schemas.microsoft.com/office/powerpoint/2010/main" val="294684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54C457A-80B9-4147-9A1F-5A20E4F782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858BF2-45E1-42CF-A06A-4B4AD2963176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5829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BEE378-23F8-4C16-B054-4E581CEA27C1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76200" cy="5829300"/>
          </a:xfrm>
          <a:prstGeom prst="rect">
            <a:avLst/>
          </a:prstGeom>
          <a:solidFill>
            <a:srgbClr val="8A00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304A2D-949F-4D83-BB4A-0CE62F1CA1A4}"/>
              </a:ext>
            </a:extLst>
          </p:cNvPr>
          <p:cNvSpPr>
            <a:spLocks noGrp="1"/>
          </p:cNvSpPr>
          <p:nvPr/>
        </p:nvSpPr>
        <p:spPr>
          <a:xfrm>
            <a:off x="838200" y="876300"/>
            <a:ext cx="66675" cy="66675"/>
          </a:xfrm>
          <a:prstGeom prst="ellipse">
            <a:avLst/>
          </a:prstGeom>
          <a:solidFill>
            <a:srgbClr val="D6A5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F7B1F4-8B52-426F-A3E8-70CBFFFA05FB}"/>
              </a:ext>
            </a:extLst>
          </p:cNvPr>
          <p:cNvSpPr>
            <a:spLocks noGrp="1"/>
          </p:cNvSpPr>
          <p:nvPr/>
        </p:nvSpPr>
        <p:spPr>
          <a:xfrm>
            <a:off x="990600" y="8001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FF25A7-C201-4A22-AEEB-4E35EF9983CF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asks Haki for help.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23D33D-932E-4435-8A96-71300F64DB18}"/>
              </a:ext>
            </a:extLst>
          </p:cNvPr>
          <p:cNvSpPr>
            <a:spLocks noGrp="1"/>
          </p:cNvSpPr>
          <p:nvPr/>
        </p:nvSpPr>
        <p:spPr>
          <a:xfrm>
            <a:off x="838200" y="6153150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D9787-2B22-4AAA-A7A9-96C446B224B7}"/>
              </a:ext>
            </a:extLst>
          </p:cNvPr>
          <p:cNvSpPr>
            <a:spLocks noGrp="1"/>
          </p:cNvSpPr>
          <p:nvPr/>
        </p:nvSpPr>
        <p:spPr>
          <a:xfrm>
            <a:off x="11277600" y="615315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9550CE-FE33-4F63-A91E-4F9B96179B80}"/>
              </a:ext>
            </a:extLst>
          </p:cNvPr>
          <p:cNvSpPr>
            <a:spLocks noGrp="1"/>
          </p:cNvSpPr>
          <p:nvPr/>
        </p:nvSpPr>
        <p:spPr>
          <a:xfrm>
            <a:off x="1181100" y="1771650"/>
            <a:ext cx="2000250" cy="4267200"/>
          </a:xfrm>
          <a:prstGeom prst="rect">
            <a:avLst/>
          </a:prstGeom>
          <a:solidFill>
            <a:srgbClr val="211C1D"/>
          </a:solidFill>
          <a:ln w="9525">
            <a:solidFill>
              <a:srgbClr val="211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35672C-9300-46C6-A6B6-C8BCCE09D832}"/>
              </a:ext>
            </a:extLst>
          </p:cNvPr>
          <p:cNvSpPr>
            <a:spLocks noGrp="1"/>
          </p:cNvSpPr>
          <p:nvPr/>
        </p:nvSpPr>
        <p:spPr>
          <a:xfrm>
            <a:off x="1238250" y="1828800"/>
            <a:ext cx="1885950" cy="41529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7300" y="1850696"/>
            <a:ext cx="1847850" cy="410910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715E3EF-7D99-4643-A515-2A0C4843A0CB}"/>
              </a:ext>
            </a:extLst>
          </p:cNvPr>
          <p:cNvSpPr>
            <a:spLocks noGrp="1"/>
          </p:cNvSpPr>
          <p:nvPr/>
        </p:nvSpPr>
        <p:spPr>
          <a:xfrm>
            <a:off x="3790950" y="1828800"/>
            <a:ext cx="14288" cy="4133850"/>
          </a:xfrm>
          <a:prstGeom prst="rect">
            <a:avLst/>
          </a:prstGeom>
          <a:solidFill>
            <a:srgbClr val="E4D8C8"/>
          </a:solidFill>
          <a:ln w="0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05B466-E584-48BA-9B18-DB673CADD4F6}"/>
              </a:ext>
            </a:extLst>
          </p:cNvPr>
          <p:cNvSpPr>
            <a:spLocks noGrp="1"/>
          </p:cNvSpPr>
          <p:nvPr/>
        </p:nvSpPr>
        <p:spPr>
          <a:xfrm>
            <a:off x="4133850" y="19431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STUDENT 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BF820B-07CE-4EAB-902C-69D1C13EE689}"/>
              </a:ext>
            </a:extLst>
          </p:cNvPr>
          <p:cNvSpPr>
            <a:spLocks noGrp="1"/>
          </p:cNvSpPr>
          <p:nvPr/>
        </p:nvSpPr>
        <p:spPr>
          <a:xfrm>
            <a:off x="4133850" y="2266950"/>
            <a:ext cx="63246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5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The chat screen keeps the answer, warning, source card, and input area in view.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67C032-A657-4DED-8DB5-E76584470533}"/>
              </a:ext>
            </a:extLst>
          </p:cNvPr>
          <p:cNvSpPr>
            <a:spLocks noGrp="1"/>
          </p:cNvSpPr>
          <p:nvPr/>
        </p:nvSpPr>
        <p:spPr>
          <a:xfrm>
            <a:off x="4133850" y="3143250"/>
            <a:ext cx="63246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A679F5-88EB-4BF8-8F43-4D34A7038194}"/>
              </a:ext>
            </a:extLst>
          </p:cNvPr>
          <p:cNvSpPr>
            <a:spLocks noGrp="1"/>
          </p:cNvSpPr>
          <p:nvPr/>
        </p:nvSpPr>
        <p:spPr>
          <a:xfrm>
            <a:off x="4133850" y="3143250"/>
            <a:ext cx="47625" cy="742950"/>
          </a:xfrm>
          <a:prstGeom prst="rect">
            <a:avLst/>
          </a:prstGeom>
          <a:solidFill>
            <a:srgbClr val="147A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324350" y="3362325"/>
            <a:ext cx="247650" cy="2476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8BA36C4-B1A3-4B01-B1E8-8947A9BD70F6}"/>
              </a:ext>
            </a:extLst>
          </p:cNvPr>
          <p:cNvSpPr>
            <a:spLocks noGrp="1"/>
          </p:cNvSpPr>
          <p:nvPr/>
        </p:nvSpPr>
        <p:spPr>
          <a:xfrm>
            <a:off x="4724400" y="3248025"/>
            <a:ext cx="539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Saved sources first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E250D0-2D45-434F-B4C4-98237799B63A}"/>
              </a:ext>
            </a:extLst>
          </p:cNvPr>
          <p:cNvSpPr>
            <a:spLocks noGrp="1"/>
          </p:cNvSpPr>
          <p:nvPr/>
        </p:nvSpPr>
        <p:spPr>
          <a:xfrm>
            <a:off x="4724400" y="3505200"/>
            <a:ext cx="539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warning explains that official content should still be verified for important details.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980EAF-AFE5-4BBF-9A4E-29731448B7D0}"/>
              </a:ext>
            </a:extLst>
          </p:cNvPr>
          <p:cNvSpPr>
            <a:spLocks noGrp="1"/>
          </p:cNvSpPr>
          <p:nvPr/>
        </p:nvSpPr>
        <p:spPr>
          <a:xfrm>
            <a:off x="4133850" y="3981450"/>
            <a:ext cx="63246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60DB8F-4B01-4051-8DB2-1155F409D087}"/>
              </a:ext>
            </a:extLst>
          </p:cNvPr>
          <p:cNvSpPr>
            <a:spLocks noGrp="1"/>
          </p:cNvSpPr>
          <p:nvPr/>
        </p:nvSpPr>
        <p:spPr>
          <a:xfrm>
            <a:off x="4133850" y="3981450"/>
            <a:ext cx="47625" cy="742950"/>
          </a:xfrm>
          <a:prstGeom prst="rect">
            <a:avLst/>
          </a:prstGeom>
          <a:solidFill>
            <a:srgbClr val="2E7D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324350" y="4200525"/>
            <a:ext cx="247650" cy="2476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0630FE0-B48E-49B8-9905-D7113DD05989}"/>
              </a:ext>
            </a:extLst>
          </p:cNvPr>
          <p:cNvSpPr>
            <a:spLocks noGrp="1"/>
          </p:cNvSpPr>
          <p:nvPr/>
        </p:nvSpPr>
        <p:spPr>
          <a:xfrm>
            <a:off x="4724400" y="4086225"/>
            <a:ext cx="539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Answer is actionable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EE988C-7C83-420F-9870-5411B7E328F3}"/>
              </a:ext>
            </a:extLst>
          </p:cNvPr>
          <p:cNvSpPr>
            <a:spLocks noGrp="1"/>
          </p:cNvSpPr>
          <p:nvPr/>
        </p:nvSpPr>
        <p:spPr>
          <a:xfrm>
            <a:off x="4724400" y="4343400"/>
            <a:ext cx="539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response is structured as steps a student can follow.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821A95-FA44-4CCE-8C10-A19F2075CB92}"/>
              </a:ext>
            </a:extLst>
          </p:cNvPr>
          <p:cNvSpPr>
            <a:spLocks noGrp="1"/>
          </p:cNvSpPr>
          <p:nvPr/>
        </p:nvSpPr>
        <p:spPr>
          <a:xfrm>
            <a:off x="4133850" y="4819650"/>
            <a:ext cx="63246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CF11F-A0E1-4234-A94E-F6A63F338AE6}"/>
              </a:ext>
            </a:extLst>
          </p:cNvPr>
          <p:cNvSpPr>
            <a:spLocks noGrp="1"/>
          </p:cNvSpPr>
          <p:nvPr/>
        </p:nvSpPr>
        <p:spPr>
          <a:xfrm>
            <a:off x="4133850" y="4819650"/>
            <a:ext cx="47625" cy="742950"/>
          </a:xfrm>
          <a:prstGeom prst="rect">
            <a:avLst/>
          </a:prstGeom>
          <a:solidFill>
            <a:srgbClr val="8A00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Graphic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324350" y="5038725"/>
            <a:ext cx="247650" cy="24765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B8243E3-B024-436B-AB77-6FCB39C6B543}"/>
              </a:ext>
            </a:extLst>
          </p:cNvPr>
          <p:cNvSpPr>
            <a:spLocks noGrp="1"/>
          </p:cNvSpPr>
          <p:nvPr/>
        </p:nvSpPr>
        <p:spPr>
          <a:xfrm>
            <a:off x="4724400" y="4924425"/>
            <a:ext cx="539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Citation is visible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AE8E01-DA02-41EA-9EF7-5D1FE1A97F7A}"/>
              </a:ext>
            </a:extLst>
          </p:cNvPr>
          <p:cNvSpPr>
            <a:spLocks noGrp="1"/>
          </p:cNvSpPr>
          <p:nvPr/>
        </p:nvSpPr>
        <p:spPr>
          <a:xfrm>
            <a:off x="4724400" y="5181600"/>
            <a:ext cx="539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source card stays on screen so Admin can see what supported the answer.</a:t>
            </a:r>
          </a:p>
        </p:txBody>
      </p:sp>
    </p:spTree>
    <p:extLst>
      <p:ext uri="{BB962C8B-B14F-4D97-AF65-F5344CB8AC3E}">
        <p14:creationId xmlns:p14="http://schemas.microsoft.com/office/powerpoint/2010/main" val="704902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5996FE8-443C-47D8-99C7-B450F7B8AB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883639-143D-408A-99F9-C1615C6D96DF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5829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8B43D1-D678-49BE-9A03-E13569D1F12F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76200" cy="5829300"/>
          </a:xfrm>
          <a:prstGeom prst="rect">
            <a:avLst/>
          </a:prstGeom>
          <a:solidFill>
            <a:srgbClr val="8A00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853C70-C4DB-4047-8316-1494EFD6730D}"/>
              </a:ext>
            </a:extLst>
          </p:cNvPr>
          <p:cNvSpPr>
            <a:spLocks noGrp="1"/>
          </p:cNvSpPr>
          <p:nvPr/>
        </p:nvSpPr>
        <p:spPr>
          <a:xfrm>
            <a:off x="838200" y="876300"/>
            <a:ext cx="66675" cy="66675"/>
          </a:xfrm>
          <a:prstGeom prst="ellipse">
            <a:avLst/>
          </a:prstGeom>
          <a:solidFill>
            <a:srgbClr val="D6A5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F3B9A3-7F42-42F1-91D9-08D46D48B462}"/>
              </a:ext>
            </a:extLst>
          </p:cNvPr>
          <p:cNvSpPr>
            <a:spLocks noGrp="1"/>
          </p:cNvSpPr>
          <p:nvPr/>
        </p:nvSpPr>
        <p:spPr>
          <a:xfrm>
            <a:off x="990600" y="8001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6895A4-9BF5-4E49-BC78-9B33F16DAA42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checks where to go.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95C86-26D0-4F40-B895-B287F2D95C78}"/>
              </a:ext>
            </a:extLst>
          </p:cNvPr>
          <p:cNvSpPr>
            <a:spLocks noGrp="1"/>
          </p:cNvSpPr>
          <p:nvPr/>
        </p:nvSpPr>
        <p:spPr>
          <a:xfrm>
            <a:off x="838200" y="6153150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0507E0-BF25-4760-A793-DE46F8712F22}"/>
              </a:ext>
            </a:extLst>
          </p:cNvPr>
          <p:cNvSpPr>
            <a:spLocks noGrp="1"/>
          </p:cNvSpPr>
          <p:nvPr/>
        </p:nvSpPr>
        <p:spPr>
          <a:xfrm>
            <a:off x="11277600" y="615315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26EDF8-CECC-47A5-BEAD-5A43C760D2B5}"/>
              </a:ext>
            </a:extLst>
          </p:cNvPr>
          <p:cNvSpPr>
            <a:spLocks noGrp="1"/>
          </p:cNvSpPr>
          <p:nvPr/>
        </p:nvSpPr>
        <p:spPr>
          <a:xfrm>
            <a:off x="1181100" y="1771650"/>
            <a:ext cx="2000250" cy="4267200"/>
          </a:xfrm>
          <a:prstGeom prst="rect">
            <a:avLst/>
          </a:prstGeom>
          <a:solidFill>
            <a:srgbClr val="211C1D"/>
          </a:solidFill>
          <a:ln w="9525">
            <a:solidFill>
              <a:srgbClr val="211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E77127-9A45-476F-AB4B-15EF76A657DA}"/>
              </a:ext>
            </a:extLst>
          </p:cNvPr>
          <p:cNvSpPr>
            <a:spLocks noGrp="1"/>
          </p:cNvSpPr>
          <p:nvPr/>
        </p:nvSpPr>
        <p:spPr>
          <a:xfrm>
            <a:off x="1238250" y="1828800"/>
            <a:ext cx="1885950" cy="41529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7300" y="1849960"/>
            <a:ext cx="1847850" cy="411057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76B6844-F487-4B87-99D2-CF57624B03A2}"/>
              </a:ext>
            </a:extLst>
          </p:cNvPr>
          <p:cNvSpPr>
            <a:spLocks noGrp="1"/>
          </p:cNvSpPr>
          <p:nvPr/>
        </p:nvSpPr>
        <p:spPr>
          <a:xfrm>
            <a:off x="3790950" y="1828800"/>
            <a:ext cx="14288" cy="4133850"/>
          </a:xfrm>
          <a:prstGeom prst="rect">
            <a:avLst/>
          </a:prstGeom>
          <a:solidFill>
            <a:srgbClr val="E4D8C8"/>
          </a:solidFill>
          <a:ln w="0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DCDCED-67EA-4AB6-9639-81567D1EF2D8}"/>
              </a:ext>
            </a:extLst>
          </p:cNvPr>
          <p:cNvSpPr>
            <a:spLocks noGrp="1"/>
          </p:cNvSpPr>
          <p:nvPr/>
        </p:nvSpPr>
        <p:spPr>
          <a:xfrm>
            <a:off x="4133850" y="2343150"/>
            <a:ext cx="6324600" cy="2705100"/>
          </a:xfrm>
          <a:prstGeom prst="rect">
            <a:avLst/>
          </a:prstGeom>
          <a:solidFill>
            <a:srgbClr val="281B23"/>
          </a:solidFill>
          <a:ln w="28575">
            <a:solidFill>
              <a:srgbClr val="D6A5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75713-FEA8-4FA2-BAC4-370BEBAB33C8}"/>
              </a:ext>
            </a:extLst>
          </p:cNvPr>
          <p:cNvSpPr>
            <a:spLocks noGrp="1"/>
          </p:cNvSpPr>
          <p:nvPr/>
        </p:nvSpPr>
        <p:spPr>
          <a:xfrm>
            <a:off x="4457700" y="26289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900" b="1">
                <a:solidFill>
                  <a:srgbClr val="D6A5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528"/>
                </a:solidFill>
                <a:latin typeface="Aptos"/>
                <a:ea typeface="Aptos"/>
                <a:cs typeface="Aptos"/>
              </a:rPr>
              <a:t>MAP CONTEXT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27EAD-AE2B-4B04-B71E-6B3FFA4AA8E6}"/>
              </a:ext>
            </a:extLst>
          </p:cNvPr>
          <p:cNvSpPr>
            <a:spLocks noGrp="1"/>
          </p:cNvSpPr>
          <p:nvPr/>
        </p:nvSpPr>
        <p:spPr>
          <a:xfrm>
            <a:off x="4457700" y="3028950"/>
            <a:ext cx="4495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map becomes the next step after getting guidance.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8C3EC4-285A-4210-83EE-09FD0BB0A308}"/>
              </a:ext>
            </a:extLst>
          </p:cNvPr>
          <p:cNvSpPr>
            <a:spLocks noGrp="1"/>
          </p:cNvSpPr>
          <p:nvPr/>
        </p:nvSpPr>
        <p:spPr>
          <a:xfrm>
            <a:off x="4457700" y="3829050"/>
            <a:ext cx="4476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275" b="0">
                <a:solidFill>
                  <a:srgbClr val="F7E8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E8D0"/>
                </a:solidFill>
                <a:latin typeface="Aptos"/>
                <a:ea typeface="Aptos"/>
                <a:cs typeface="Aptos"/>
              </a:rPr>
              <a:t>Students can search destinations, tap buildings, and move from location context into related screens such as Service Desk or Food.</a:t>
            </a:r>
          </a:p>
        </p:txBody>
      </p:sp>
      <p:pic>
        <p:nvPicPr>
          <p:cNvPr id="17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505950" y="3028950"/>
            <a:ext cx="5524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600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7DA9825E-950B-49B9-8986-8AB07B7DB4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47ACD2-FB6F-46F9-8732-234886D03FF1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5829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21CAB8-7C7E-4044-B6D5-F04A9DD0EA67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76200" cy="5829300"/>
          </a:xfrm>
          <a:prstGeom prst="rect">
            <a:avLst/>
          </a:prstGeom>
          <a:solidFill>
            <a:srgbClr val="8A00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EDF189-5CCE-4875-8709-ACC41306AB9D}"/>
              </a:ext>
            </a:extLst>
          </p:cNvPr>
          <p:cNvSpPr>
            <a:spLocks noGrp="1"/>
          </p:cNvSpPr>
          <p:nvPr/>
        </p:nvSpPr>
        <p:spPr>
          <a:xfrm>
            <a:off x="838200" y="876300"/>
            <a:ext cx="66675" cy="66675"/>
          </a:xfrm>
          <a:prstGeom prst="ellipse">
            <a:avLst/>
          </a:prstGeom>
          <a:solidFill>
            <a:srgbClr val="D6A5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8FC9AE-43E4-4B4A-8EDB-72A691CA80A7}"/>
              </a:ext>
            </a:extLst>
          </p:cNvPr>
          <p:cNvSpPr>
            <a:spLocks noGrp="1"/>
          </p:cNvSpPr>
          <p:nvPr/>
        </p:nvSpPr>
        <p:spPr>
          <a:xfrm>
            <a:off x="990600" y="8001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2F2E0A-335C-4937-AFFB-B94E0EEBC046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opens Service Desk when they need steps.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B44C78-856A-44CC-B33B-FE12599F7DED}"/>
              </a:ext>
            </a:extLst>
          </p:cNvPr>
          <p:cNvSpPr>
            <a:spLocks noGrp="1"/>
          </p:cNvSpPr>
          <p:nvPr/>
        </p:nvSpPr>
        <p:spPr>
          <a:xfrm>
            <a:off x="838200" y="6153150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2E0057-5E98-4421-BC70-43185A35F6E4}"/>
              </a:ext>
            </a:extLst>
          </p:cNvPr>
          <p:cNvSpPr>
            <a:spLocks noGrp="1"/>
          </p:cNvSpPr>
          <p:nvPr/>
        </p:nvSpPr>
        <p:spPr>
          <a:xfrm>
            <a:off x="11277600" y="615315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211053-6079-414F-A927-0D4A4CF4EE4F}"/>
              </a:ext>
            </a:extLst>
          </p:cNvPr>
          <p:cNvSpPr>
            <a:spLocks noGrp="1"/>
          </p:cNvSpPr>
          <p:nvPr/>
        </p:nvSpPr>
        <p:spPr>
          <a:xfrm>
            <a:off x="1181100" y="1771650"/>
            <a:ext cx="2000250" cy="4267200"/>
          </a:xfrm>
          <a:prstGeom prst="rect">
            <a:avLst/>
          </a:prstGeom>
          <a:solidFill>
            <a:srgbClr val="211C1D"/>
          </a:solidFill>
          <a:ln w="9525">
            <a:solidFill>
              <a:srgbClr val="211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599D89-EB45-424F-AFE3-0F0BC6DEEED5}"/>
              </a:ext>
            </a:extLst>
          </p:cNvPr>
          <p:cNvSpPr>
            <a:spLocks noGrp="1"/>
          </p:cNvSpPr>
          <p:nvPr/>
        </p:nvSpPr>
        <p:spPr>
          <a:xfrm>
            <a:off x="1238250" y="1828800"/>
            <a:ext cx="1885950" cy="41529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7300" y="1851048"/>
            <a:ext cx="1847850" cy="41084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FAFB2E0-2C7E-47EE-8ECF-360757A593F6}"/>
              </a:ext>
            </a:extLst>
          </p:cNvPr>
          <p:cNvSpPr>
            <a:spLocks noGrp="1"/>
          </p:cNvSpPr>
          <p:nvPr/>
        </p:nvSpPr>
        <p:spPr>
          <a:xfrm>
            <a:off x="3790950" y="1828800"/>
            <a:ext cx="14288" cy="4133850"/>
          </a:xfrm>
          <a:prstGeom prst="rect">
            <a:avLst/>
          </a:prstGeom>
          <a:solidFill>
            <a:srgbClr val="E4D8C8"/>
          </a:solidFill>
          <a:ln w="0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3A0275-B2D9-4B09-8138-7FFEFDAF954C}"/>
              </a:ext>
            </a:extLst>
          </p:cNvPr>
          <p:cNvSpPr>
            <a:spLocks noGrp="1"/>
          </p:cNvSpPr>
          <p:nvPr/>
        </p:nvSpPr>
        <p:spPr>
          <a:xfrm>
            <a:off x="4133850" y="19431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STUDENT 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AA3997-4FCE-4D11-90DB-01F727C0918A}"/>
              </a:ext>
            </a:extLst>
          </p:cNvPr>
          <p:cNvSpPr>
            <a:spLocks noGrp="1"/>
          </p:cNvSpPr>
          <p:nvPr/>
        </p:nvSpPr>
        <p:spPr>
          <a:xfrm>
            <a:off x="4133850" y="2266950"/>
            <a:ext cx="63246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5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Service Desk turns campus concerns into browsable office and procedure paths.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D704A0-5DBD-44FC-B4F1-53E7EAA3AF92}"/>
              </a:ext>
            </a:extLst>
          </p:cNvPr>
          <p:cNvSpPr>
            <a:spLocks noGrp="1"/>
          </p:cNvSpPr>
          <p:nvPr/>
        </p:nvSpPr>
        <p:spPr>
          <a:xfrm>
            <a:off x="4133850" y="3143250"/>
            <a:ext cx="63246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803A4-1882-42B6-BEFB-E53608D2590B}"/>
              </a:ext>
            </a:extLst>
          </p:cNvPr>
          <p:cNvSpPr>
            <a:spLocks noGrp="1"/>
          </p:cNvSpPr>
          <p:nvPr/>
        </p:nvSpPr>
        <p:spPr>
          <a:xfrm>
            <a:off x="4133850" y="3143250"/>
            <a:ext cx="47625" cy="742950"/>
          </a:xfrm>
          <a:prstGeom prst="rect">
            <a:avLst/>
          </a:prstGeom>
          <a:solidFill>
            <a:srgbClr val="2E7D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324350" y="3362325"/>
            <a:ext cx="247650" cy="2476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E72C0D7-5E3F-4613-BA88-6150916EF078}"/>
              </a:ext>
            </a:extLst>
          </p:cNvPr>
          <p:cNvSpPr>
            <a:spLocks noGrp="1"/>
          </p:cNvSpPr>
          <p:nvPr/>
        </p:nvSpPr>
        <p:spPr>
          <a:xfrm>
            <a:off x="4724400" y="3248025"/>
            <a:ext cx="539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Search by task or office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B1632C-4F92-4845-B503-98F6B11020E5}"/>
              </a:ext>
            </a:extLst>
          </p:cNvPr>
          <p:cNvSpPr>
            <a:spLocks noGrp="1"/>
          </p:cNvSpPr>
          <p:nvPr/>
        </p:nvSpPr>
        <p:spPr>
          <a:xfrm>
            <a:off x="4724400" y="3505200"/>
            <a:ext cx="539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Students can search for a task, office, or document instead of guessing a category.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BE2D2C-AB65-47F5-A8AB-489421E39F5B}"/>
              </a:ext>
            </a:extLst>
          </p:cNvPr>
          <p:cNvSpPr>
            <a:spLocks noGrp="1"/>
          </p:cNvSpPr>
          <p:nvPr/>
        </p:nvSpPr>
        <p:spPr>
          <a:xfrm>
            <a:off x="4133850" y="3981450"/>
            <a:ext cx="63246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B0445F-9A41-4918-B117-16BD240DD623}"/>
              </a:ext>
            </a:extLst>
          </p:cNvPr>
          <p:cNvSpPr>
            <a:spLocks noGrp="1"/>
          </p:cNvSpPr>
          <p:nvPr/>
        </p:nvSpPr>
        <p:spPr>
          <a:xfrm>
            <a:off x="4133850" y="3981450"/>
            <a:ext cx="47625" cy="742950"/>
          </a:xfrm>
          <a:prstGeom prst="rect">
            <a:avLst/>
          </a:prstGeom>
          <a:solidFill>
            <a:srgbClr val="147A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324350" y="4200525"/>
            <a:ext cx="247650" cy="2476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69EAAA8-2B5E-465F-9DD5-C3E2E4569198}"/>
              </a:ext>
            </a:extLst>
          </p:cNvPr>
          <p:cNvSpPr>
            <a:spLocks noGrp="1"/>
          </p:cNvSpPr>
          <p:nvPr/>
        </p:nvSpPr>
        <p:spPr>
          <a:xfrm>
            <a:off x="4724400" y="4086225"/>
            <a:ext cx="539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Counters group concerns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71E5CD-FD31-471E-9F05-814AF2AFB4B5}"/>
              </a:ext>
            </a:extLst>
          </p:cNvPr>
          <p:cNvSpPr>
            <a:spLocks noGrp="1"/>
          </p:cNvSpPr>
          <p:nvPr/>
        </p:nvSpPr>
        <p:spPr>
          <a:xfrm>
            <a:off x="4724400" y="4343400"/>
            <a:ext cx="539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Student Services, Safety, Welfare, Guidelines, Locations, and Offices become visible paths.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C0FACE-4C93-4F1A-91C9-E6DA7A349411}"/>
              </a:ext>
            </a:extLst>
          </p:cNvPr>
          <p:cNvSpPr>
            <a:spLocks noGrp="1"/>
          </p:cNvSpPr>
          <p:nvPr/>
        </p:nvSpPr>
        <p:spPr>
          <a:xfrm>
            <a:off x="4133850" y="4819650"/>
            <a:ext cx="63246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9479B3-9DFE-4CAB-8933-BBD8AB993CC7}"/>
              </a:ext>
            </a:extLst>
          </p:cNvPr>
          <p:cNvSpPr>
            <a:spLocks noGrp="1"/>
          </p:cNvSpPr>
          <p:nvPr/>
        </p:nvSpPr>
        <p:spPr>
          <a:xfrm>
            <a:off x="4133850" y="4819650"/>
            <a:ext cx="47625" cy="742950"/>
          </a:xfrm>
          <a:prstGeom prst="rect">
            <a:avLst/>
          </a:prstGeom>
          <a:solidFill>
            <a:srgbClr val="8A00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Graphic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324350" y="5038725"/>
            <a:ext cx="247650" cy="24765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B74188C-A2FD-4FF2-A52C-002FA61909CD}"/>
              </a:ext>
            </a:extLst>
          </p:cNvPr>
          <p:cNvSpPr>
            <a:spLocks noGrp="1"/>
          </p:cNvSpPr>
          <p:nvPr/>
        </p:nvSpPr>
        <p:spPr>
          <a:xfrm>
            <a:off x="4724400" y="4924425"/>
            <a:ext cx="539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Procedure tickets are previewed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59DE18-C3D7-4153-B4C3-94C74629E545}"/>
              </a:ext>
            </a:extLst>
          </p:cNvPr>
          <p:cNvSpPr>
            <a:spLocks noGrp="1"/>
          </p:cNvSpPr>
          <p:nvPr/>
        </p:nvSpPr>
        <p:spPr>
          <a:xfrm>
            <a:off x="4724400" y="5181600"/>
            <a:ext cx="539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Tickets show topic, office context, update date, and number of steps.</a:t>
            </a:r>
          </a:p>
        </p:txBody>
      </p:sp>
    </p:spTree>
    <p:extLst>
      <p:ext uri="{BB962C8B-B14F-4D97-AF65-F5344CB8AC3E}">
        <p14:creationId xmlns:p14="http://schemas.microsoft.com/office/powerpoint/2010/main" val="379978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05D473E-8078-43FD-9EDC-FFBAD4E1F0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720B37-F550-4F42-8E70-FBC8D01843E8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5829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F3259A-C267-4083-978B-EB7DC999DC6C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76200" cy="5829300"/>
          </a:xfrm>
          <a:prstGeom prst="rect">
            <a:avLst/>
          </a:prstGeom>
          <a:solidFill>
            <a:srgbClr val="8A00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3A7245-436B-46B5-A01F-7DEF419EC6BE}"/>
              </a:ext>
            </a:extLst>
          </p:cNvPr>
          <p:cNvSpPr>
            <a:spLocks noGrp="1"/>
          </p:cNvSpPr>
          <p:nvPr/>
        </p:nvSpPr>
        <p:spPr>
          <a:xfrm>
            <a:off x="838200" y="876300"/>
            <a:ext cx="66675" cy="66675"/>
          </a:xfrm>
          <a:prstGeom prst="ellipse">
            <a:avLst/>
          </a:prstGeom>
          <a:solidFill>
            <a:srgbClr val="D6A5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46B510-7C3B-4FB3-8C1C-B4DAFAF1BDD3}"/>
              </a:ext>
            </a:extLst>
          </p:cNvPr>
          <p:cNvSpPr>
            <a:spLocks noGrp="1"/>
          </p:cNvSpPr>
          <p:nvPr/>
        </p:nvSpPr>
        <p:spPr>
          <a:xfrm>
            <a:off x="990600" y="8001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68D7B0-064B-4A3F-9A25-78C65DEBE636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follows a procedure ticket.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B60F2A-31D7-43B1-BB64-FD43BA91B3F6}"/>
              </a:ext>
            </a:extLst>
          </p:cNvPr>
          <p:cNvSpPr>
            <a:spLocks noGrp="1"/>
          </p:cNvSpPr>
          <p:nvPr/>
        </p:nvSpPr>
        <p:spPr>
          <a:xfrm>
            <a:off x="838200" y="6153150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FB908C-B21D-467A-9C9E-B62224E21C71}"/>
              </a:ext>
            </a:extLst>
          </p:cNvPr>
          <p:cNvSpPr>
            <a:spLocks noGrp="1"/>
          </p:cNvSpPr>
          <p:nvPr/>
        </p:nvSpPr>
        <p:spPr>
          <a:xfrm>
            <a:off x="11277600" y="615315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9440FC-2076-429C-848C-981B761C68F4}"/>
              </a:ext>
            </a:extLst>
          </p:cNvPr>
          <p:cNvSpPr>
            <a:spLocks noGrp="1"/>
          </p:cNvSpPr>
          <p:nvPr/>
        </p:nvSpPr>
        <p:spPr>
          <a:xfrm>
            <a:off x="1181100" y="1771650"/>
            <a:ext cx="2000250" cy="4267200"/>
          </a:xfrm>
          <a:prstGeom prst="rect">
            <a:avLst/>
          </a:prstGeom>
          <a:solidFill>
            <a:srgbClr val="211C1D"/>
          </a:solidFill>
          <a:ln w="9525">
            <a:solidFill>
              <a:srgbClr val="211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244952-9EB2-4F23-8A1F-788DEC3980E4}"/>
              </a:ext>
            </a:extLst>
          </p:cNvPr>
          <p:cNvSpPr>
            <a:spLocks noGrp="1"/>
          </p:cNvSpPr>
          <p:nvPr/>
        </p:nvSpPr>
        <p:spPr>
          <a:xfrm>
            <a:off x="1238250" y="1828800"/>
            <a:ext cx="1885950" cy="41529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7300" y="1851048"/>
            <a:ext cx="1847850" cy="41084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805518F-0574-4CE8-A638-677462419D01}"/>
              </a:ext>
            </a:extLst>
          </p:cNvPr>
          <p:cNvSpPr>
            <a:spLocks noGrp="1"/>
          </p:cNvSpPr>
          <p:nvPr/>
        </p:nvSpPr>
        <p:spPr>
          <a:xfrm>
            <a:off x="3790950" y="1828800"/>
            <a:ext cx="14288" cy="4133850"/>
          </a:xfrm>
          <a:prstGeom prst="rect">
            <a:avLst/>
          </a:prstGeom>
          <a:solidFill>
            <a:srgbClr val="E4D8C8"/>
          </a:solidFill>
          <a:ln w="0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090D11-E8BF-4D54-9BB8-96335EE0ECBB}"/>
              </a:ext>
            </a:extLst>
          </p:cNvPr>
          <p:cNvSpPr>
            <a:spLocks noGrp="1"/>
          </p:cNvSpPr>
          <p:nvPr/>
        </p:nvSpPr>
        <p:spPr>
          <a:xfrm>
            <a:off x="4133850" y="19431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STUDENT 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F4A945-25D9-435F-A97E-A3CF9FFAC741}"/>
              </a:ext>
            </a:extLst>
          </p:cNvPr>
          <p:cNvSpPr>
            <a:spLocks noGrp="1"/>
          </p:cNvSpPr>
          <p:nvPr/>
        </p:nvSpPr>
        <p:spPr>
          <a:xfrm>
            <a:off x="4133850" y="2266950"/>
            <a:ext cx="63246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5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The ticket detail view keeps requirements and step sequence visible in one place.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07D978-0A35-426C-A5FF-5573369F09AF}"/>
              </a:ext>
            </a:extLst>
          </p:cNvPr>
          <p:cNvSpPr>
            <a:spLocks noGrp="1"/>
          </p:cNvSpPr>
          <p:nvPr/>
        </p:nvSpPr>
        <p:spPr>
          <a:xfrm>
            <a:off x="4133850" y="3143250"/>
            <a:ext cx="63246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676DEE-5E23-431F-A707-F5F565B9DC02}"/>
              </a:ext>
            </a:extLst>
          </p:cNvPr>
          <p:cNvSpPr>
            <a:spLocks noGrp="1"/>
          </p:cNvSpPr>
          <p:nvPr/>
        </p:nvSpPr>
        <p:spPr>
          <a:xfrm>
            <a:off x="4133850" y="3143250"/>
            <a:ext cx="47625" cy="742950"/>
          </a:xfrm>
          <a:prstGeom prst="rect">
            <a:avLst/>
          </a:prstGeom>
          <a:solidFill>
            <a:srgbClr val="8A00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324350" y="3362325"/>
            <a:ext cx="247650" cy="2476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9675DA3-D7D1-42E0-884C-9BCBCA0F8C33}"/>
              </a:ext>
            </a:extLst>
          </p:cNvPr>
          <p:cNvSpPr>
            <a:spLocks noGrp="1"/>
          </p:cNvSpPr>
          <p:nvPr/>
        </p:nvSpPr>
        <p:spPr>
          <a:xfrm>
            <a:off x="4724400" y="3248025"/>
            <a:ext cx="539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Step-by-step guide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8BAE0D-C9EF-4CDF-8216-66843274AE3C}"/>
              </a:ext>
            </a:extLst>
          </p:cNvPr>
          <p:cNvSpPr>
            <a:spLocks noGrp="1"/>
          </p:cNvSpPr>
          <p:nvPr/>
        </p:nvSpPr>
        <p:spPr>
          <a:xfrm>
            <a:off x="4724400" y="3505200"/>
            <a:ext cx="539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Procedure content is broken into ordered actions before the office visit.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BCB2B7-9AFE-43B8-96FA-C719C555F6CA}"/>
              </a:ext>
            </a:extLst>
          </p:cNvPr>
          <p:cNvSpPr>
            <a:spLocks noGrp="1"/>
          </p:cNvSpPr>
          <p:nvPr/>
        </p:nvSpPr>
        <p:spPr>
          <a:xfrm>
            <a:off x="4133850" y="3981450"/>
            <a:ext cx="63246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D9771F-7741-4122-BD15-098F003D0E34}"/>
              </a:ext>
            </a:extLst>
          </p:cNvPr>
          <p:cNvSpPr>
            <a:spLocks noGrp="1"/>
          </p:cNvSpPr>
          <p:nvPr/>
        </p:nvSpPr>
        <p:spPr>
          <a:xfrm>
            <a:off x="4133850" y="3981450"/>
            <a:ext cx="47625" cy="742950"/>
          </a:xfrm>
          <a:prstGeom prst="rect">
            <a:avLst/>
          </a:prstGeom>
          <a:solidFill>
            <a:srgbClr val="C45A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324350" y="4200525"/>
            <a:ext cx="247650" cy="2476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2683E1C-70CB-4161-B113-909B1A07C9D4}"/>
              </a:ext>
            </a:extLst>
          </p:cNvPr>
          <p:cNvSpPr>
            <a:spLocks noGrp="1"/>
          </p:cNvSpPr>
          <p:nvPr/>
        </p:nvSpPr>
        <p:spPr>
          <a:xfrm>
            <a:off x="4724400" y="4086225"/>
            <a:ext cx="539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Office context is shown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55F9C4-6133-4F48-8D68-88CA0C2D71C1}"/>
              </a:ext>
            </a:extLst>
          </p:cNvPr>
          <p:cNvSpPr>
            <a:spLocks noGrp="1"/>
          </p:cNvSpPr>
          <p:nvPr/>
        </p:nvSpPr>
        <p:spPr>
          <a:xfrm>
            <a:off x="4724400" y="4343400"/>
            <a:ext cx="539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page names the office or offices involved in the concern.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056D75-01F4-4EAA-ACA7-56432F53BE6B}"/>
              </a:ext>
            </a:extLst>
          </p:cNvPr>
          <p:cNvSpPr>
            <a:spLocks noGrp="1"/>
          </p:cNvSpPr>
          <p:nvPr/>
        </p:nvSpPr>
        <p:spPr>
          <a:xfrm>
            <a:off x="4133850" y="4819650"/>
            <a:ext cx="63246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F6627F-B23D-4146-8F0D-2623447DAA70}"/>
              </a:ext>
            </a:extLst>
          </p:cNvPr>
          <p:cNvSpPr>
            <a:spLocks noGrp="1"/>
          </p:cNvSpPr>
          <p:nvPr/>
        </p:nvSpPr>
        <p:spPr>
          <a:xfrm>
            <a:off x="4133850" y="4819650"/>
            <a:ext cx="47625" cy="742950"/>
          </a:xfrm>
          <a:prstGeom prst="rect">
            <a:avLst/>
          </a:prstGeom>
          <a:solidFill>
            <a:srgbClr val="147A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Graphic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324350" y="5038725"/>
            <a:ext cx="247650" cy="24765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2742073-A7C2-413C-A160-707F4730BA39}"/>
              </a:ext>
            </a:extLst>
          </p:cNvPr>
          <p:cNvSpPr>
            <a:spLocks noGrp="1"/>
          </p:cNvSpPr>
          <p:nvPr/>
        </p:nvSpPr>
        <p:spPr>
          <a:xfrm>
            <a:off x="4724400" y="4924425"/>
            <a:ext cx="539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1163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Freshness is easier to review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A15C5F-8EE3-4590-98F9-8CF11479E78B}"/>
              </a:ext>
            </a:extLst>
          </p:cNvPr>
          <p:cNvSpPr>
            <a:spLocks noGrp="1"/>
          </p:cNvSpPr>
          <p:nvPr/>
        </p:nvSpPr>
        <p:spPr>
          <a:xfrm>
            <a:off x="4724400" y="5181600"/>
            <a:ext cx="539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8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update date helps Admin and maintainers reason about content freshness.</a:t>
            </a:r>
          </a:p>
        </p:txBody>
      </p:sp>
    </p:spTree>
    <p:extLst>
      <p:ext uri="{BB962C8B-B14F-4D97-AF65-F5344CB8AC3E}">
        <p14:creationId xmlns:p14="http://schemas.microsoft.com/office/powerpoint/2010/main" val="1643948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1B2C201-4FEA-41E7-93A0-F1910176C6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AE724B-CEE3-4F99-8877-B4985234139F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5829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4417A6-A6DF-41A9-AD1F-CA13BA02848A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76200" cy="5829300"/>
          </a:xfrm>
          <a:prstGeom prst="rect">
            <a:avLst/>
          </a:prstGeom>
          <a:solidFill>
            <a:srgbClr val="8A00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07C793A-9A0B-40D9-BD34-506C02199A76}"/>
              </a:ext>
            </a:extLst>
          </p:cNvPr>
          <p:cNvSpPr>
            <a:spLocks noGrp="1"/>
          </p:cNvSpPr>
          <p:nvPr/>
        </p:nvSpPr>
        <p:spPr>
          <a:xfrm>
            <a:off x="838200" y="876300"/>
            <a:ext cx="66675" cy="66675"/>
          </a:xfrm>
          <a:prstGeom prst="ellipse">
            <a:avLst/>
          </a:prstGeom>
          <a:solidFill>
            <a:srgbClr val="D6A5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EE811C-6404-4CB3-B622-47C050E7D92D}"/>
              </a:ext>
            </a:extLst>
          </p:cNvPr>
          <p:cNvSpPr>
            <a:spLocks noGrp="1"/>
          </p:cNvSpPr>
          <p:nvPr/>
        </p:nvSpPr>
        <p:spPr>
          <a:xfrm>
            <a:off x="990600" y="8001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7A5F49-101F-4D99-A55E-A6A23AF39161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can continue into campus-life tools.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F038F0-B6B8-4819-A1A8-25665B3E4AAB}"/>
              </a:ext>
            </a:extLst>
          </p:cNvPr>
          <p:cNvSpPr>
            <a:spLocks noGrp="1"/>
          </p:cNvSpPr>
          <p:nvPr/>
        </p:nvSpPr>
        <p:spPr>
          <a:xfrm>
            <a:off x="838200" y="6153150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569C57-7D51-4B6B-92D3-15A25917905C}"/>
              </a:ext>
            </a:extLst>
          </p:cNvPr>
          <p:cNvSpPr>
            <a:spLocks noGrp="1"/>
          </p:cNvSpPr>
          <p:nvPr/>
        </p:nvSpPr>
        <p:spPr>
          <a:xfrm>
            <a:off x="11277600" y="615315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DF368E-ABEE-4492-9A5E-465DAEC86ADB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1952625" cy="4152900"/>
          </a:xfrm>
          <a:prstGeom prst="rect">
            <a:avLst/>
          </a:prstGeom>
          <a:solidFill>
            <a:srgbClr val="211C1D"/>
          </a:solidFill>
          <a:ln w="9525">
            <a:solidFill>
              <a:srgbClr val="211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754183-0AE8-4219-9662-CAA8224F7427}"/>
              </a:ext>
            </a:extLst>
          </p:cNvPr>
          <p:cNvSpPr>
            <a:spLocks noGrp="1"/>
          </p:cNvSpPr>
          <p:nvPr/>
        </p:nvSpPr>
        <p:spPr>
          <a:xfrm>
            <a:off x="1123950" y="1905000"/>
            <a:ext cx="1838325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4618" y="1924050"/>
            <a:ext cx="1796988" cy="4000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78BBC67-E1E2-4ECE-B0FD-D697BB5488B7}"/>
              </a:ext>
            </a:extLst>
          </p:cNvPr>
          <p:cNvSpPr>
            <a:spLocks noGrp="1"/>
          </p:cNvSpPr>
          <p:nvPr/>
        </p:nvSpPr>
        <p:spPr>
          <a:xfrm>
            <a:off x="1143000" y="5981700"/>
            <a:ext cx="18002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ctr">
              <a:defRPr sz="1125" b="1">
                <a:solidFill>
                  <a:srgbClr val="D6A5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A528"/>
                </a:solidFill>
                <a:latin typeface="Aptos"/>
                <a:ea typeface="Aptos"/>
                <a:cs typeface="Aptos"/>
              </a:rPr>
              <a:t>Tips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26BB48-A7D4-45EF-ACA1-E209BCB2F88C}"/>
              </a:ext>
            </a:extLst>
          </p:cNvPr>
          <p:cNvSpPr>
            <a:spLocks noGrp="1"/>
          </p:cNvSpPr>
          <p:nvPr/>
        </p:nvSpPr>
        <p:spPr>
          <a:xfrm>
            <a:off x="5114925" y="1847850"/>
            <a:ext cx="1952625" cy="4152900"/>
          </a:xfrm>
          <a:prstGeom prst="rect">
            <a:avLst/>
          </a:prstGeom>
          <a:solidFill>
            <a:srgbClr val="211C1D"/>
          </a:solidFill>
          <a:ln w="9525">
            <a:solidFill>
              <a:srgbClr val="211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7A20F2-5820-40AD-AB1B-4331EB887AD1}"/>
              </a:ext>
            </a:extLst>
          </p:cNvPr>
          <p:cNvSpPr>
            <a:spLocks noGrp="1"/>
          </p:cNvSpPr>
          <p:nvPr/>
        </p:nvSpPr>
        <p:spPr>
          <a:xfrm>
            <a:off x="5172075" y="1905000"/>
            <a:ext cx="1838325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92090" y="1924050"/>
            <a:ext cx="1798295" cy="40005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20C099A-0794-4270-8231-A269FEC92869}"/>
              </a:ext>
            </a:extLst>
          </p:cNvPr>
          <p:cNvSpPr>
            <a:spLocks noGrp="1"/>
          </p:cNvSpPr>
          <p:nvPr/>
        </p:nvSpPr>
        <p:spPr>
          <a:xfrm>
            <a:off x="5191125" y="5981700"/>
            <a:ext cx="18002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ctr">
              <a:defRPr sz="1125" b="1">
                <a:solidFill>
                  <a:srgbClr val="6B5FB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5FB5"/>
                </a:solidFill>
                <a:latin typeface="Aptos"/>
                <a:ea typeface="Aptos"/>
                <a:cs typeface="Aptos"/>
              </a:rPr>
              <a:t>Org Chart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393B24-9D44-401F-847E-481FFD823D2C}"/>
              </a:ext>
            </a:extLst>
          </p:cNvPr>
          <p:cNvSpPr>
            <a:spLocks noGrp="1"/>
          </p:cNvSpPr>
          <p:nvPr/>
        </p:nvSpPr>
        <p:spPr>
          <a:xfrm>
            <a:off x="9163050" y="1847850"/>
            <a:ext cx="1952625" cy="4152900"/>
          </a:xfrm>
          <a:prstGeom prst="rect">
            <a:avLst/>
          </a:prstGeom>
          <a:solidFill>
            <a:srgbClr val="211C1D"/>
          </a:solidFill>
          <a:ln w="9525">
            <a:solidFill>
              <a:srgbClr val="211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A0BA57-731C-44F9-8625-4633872B0B70}"/>
              </a:ext>
            </a:extLst>
          </p:cNvPr>
          <p:cNvSpPr>
            <a:spLocks noGrp="1"/>
          </p:cNvSpPr>
          <p:nvPr/>
        </p:nvSpPr>
        <p:spPr>
          <a:xfrm>
            <a:off x="9220200" y="1905000"/>
            <a:ext cx="1838325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240144" y="1924050"/>
            <a:ext cx="1798437" cy="40005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128CD0C-16F6-4812-B95A-65584B00A876}"/>
              </a:ext>
            </a:extLst>
          </p:cNvPr>
          <p:cNvSpPr>
            <a:spLocks noGrp="1"/>
          </p:cNvSpPr>
          <p:nvPr/>
        </p:nvSpPr>
        <p:spPr>
          <a:xfrm>
            <a:off x="9239250" y="5981700"/>
            <a:ext cx="18002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ctr">
              <a:defRPr sz="1125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</p:spTree>
    <p:extLst>
      <p:ext uri="{BB962C8B-B14F-4D97-AF65-F5344CB8AC3E}">
        <p14:creationId xmlns:p14="http://schemas.microsoft.com/office/powerpoint/2010/main" val="11826816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1508</Words>
  <Application>Microsoft Office PowerPoint</Application>
  <DocSecurity>0</DocSecurity>
  <PresentationFormat>Widescreen</PresentationFormat>
  <Paragraphs>214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Joshua Retrita</cp:lastModifiedBy>
  <cp:revision>1</cp:revision>
  <dcterms:created xsi:type="dcterms:W3CDTF">2026-06-08T02:52:00Z</dcterms:created>
  <dcterms:modified xsi:type="dcterms:W3CDTF">2026-06-10T03:56:11Z</dcterms:modified>
</cp:coreProperties>
</file>